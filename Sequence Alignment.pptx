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48" r:id="rId1"/>
  </p:sldMasterIdLst>
  <p:notesMasterIdLst>
    <p:notesMasterId r:id="rId44"/>
  </p:notesMasterIdLst>
  <p:handoutMasterIdLst>
    <p:handoutMasterId r:id="rId45"/>
  </p:handoutMasterIdLst>
  <p:sldIdLst>
    <p:sldId id="256" r:id="rId2"/>
    <p:sldId id="257" r:id="rId3"/>
    <p:sldId id="305" r:id="rId4"/>
    <p:sldId id="363" r:id="rId5"/>
    <p:sldId id="336" r:id="rId6"/>
    <p:sldId id="364" r:id="rId7"/>
    <p:sldId id="354" r:id="rId8"/>
    <p:sldId id="365" r:id="rId9"/>
    <p:sldId id="355" r:id="rId10"/>
    <p:sldId id="335" r:id="rId11"/>
    <p:sldId id="375" r:id="rId12"/>
    <p:sldId id="376"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31" r:id="rId29"/>
    <p:sldId id="366" r:id="rId30"/>
    <p:sldId id="367" r:id="rId31"/>
    <p:sldId id="368" r:id="rId32"/>
    <p:sldId id="369" r:id="rId33"/>
    <p:sldId id="370" r:id="rId34"/>
    <p:sldId id="373" r:id="rId35"/>
    <p:sldId id="372" r:id="rId36"/>
    <p:sldId id="374" r:id="rId37"/>
    <p:sldId id="392" r:id="rId38"/>
    <p:sldId id="393" r:id="rId39"/>
    <p:sldId id="394" r:id="rId40"/>
    <p:sldId id="395" r:id="rId41"/>
    <p:sldId id="396" r:id="rId42"/>
    <p:sldId id="397" r:id="rId43"/>
  </p:sldIdLst>
  <p:sldSz cx="9144000" cy="6858000" type="screen4x3"/>
  <p:notesSz cx="9144000" cy="6858000"/>
  <p:embeddedFontLst>
    <p:embeddedFont>
      <p:font typeface="Bookman Old Style" panose="02050604050505020204" pitchFamily="18" charset="0"/>
      <p:regular r:id="rId46"/>
      <p:bold r:id="rId47"/>
      <p:italic r:id="rId48"/>
      <p:boldItalic r:id="rId49"/>
    </p:embeddedFont>
    <p:embeddedFont>
      <p:font typeface="Cambria" panose="02040503050406030204" pitchFamily="18" charset="0"/>
      <p:regular r:id="rId50"/>
      <p:bold r:id="rId51"/>
      <p:italic r:id="rId52"/>
      <p:boldItalic r:id="rId53"/>
    </p:embeddedFont>
    <p:embeddedFont>
      <p:font typeface="Cambria Math" panose="02040503050406030204" pitchFamily="18" charset="0"/>
      <p:regular r:id="rId54"/>
    </p:embeddedFont>
    <p:embeddedFont>
      <p:font typeface="Gill Sans" panose="020B0604020202020204" charset="0"/>
      <p:regular r:id="rId55"/>
      <p:bold r:id="rId56"/>
    </p:embeddedFont>
    <p:embeddedFont>
      <p:font typeface="Noto Sans Symbols" panose="020B0604020202020204" charset="0"/>
      <p:regular r:id="rId57"/>
      <p:bold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Bìa" id="{239ED4F1-FE1E-44B1-BE91-DC33C456D893}">
          <p14:sldIdLst>
            <p14:sldId id="256"/>
            <p14:sldId id="257"/>
          </p14:sldIdLst>
        </p14:section>
        <p14:section name="Giới thiệu bài toán" id="{DE395549-2AA2-4D32-BEEC-8BC76B620180}">
          <p14:sldIdLst>
            <p14:sldId id="305"/>
            <p14:sldId id="363"/>
            <p14:sldId id="336"/>
            <p14:sldId id="364"/>
            <p14:sldId id="354"/>
            <p14:sldId id="365"/>
            <p14:sldId id="355"/>
          </p14:sldIdLst>
        </p14:section>
        <p14:section name="Sắp hàng hai trình tự" id="{311EEC78-3BDD-4F8C-AF8E-F1696CC6520F}">
          <p14:sldIdLst>
            <p14:sldId id="335"/>
            <p14:sldId id="375"/>
            <p14:sldId id="376"/>
            <p14:sldId id="377"/>
            <p14:sldId id="378"/>
            <p14:sldId id="379"/>
            <p14:sldId id="380"/>
            <p14:sldId id="381"/>
            <p14:sldId id="382"/>
            <p14:sldId id="383"/>
            <p14:sldId id="384"/>
            <p14:sldId id="385"/>
            <p14:sldId id="386"/>
            <p14:sldId id="387"/>
            <p14:sldId id="388"/>
            <p14:sldId id="389"/>
            <p14:sldId id="390"/>
            <p14:sldId id="391"/>
          </p14:sldIdLst>
        </p14:section>
        <p14:section name="Sắp hàng đa trình tự" id="{DE019968-2623-4E4E-A9C6-B0D78D73C522}">
          <p14:sldIdLst>
            <p14:sldId id="331"/>
            <p14:sldId id="366"/>
            <p14:sldId id="367"/>
            <p14:sldId id="368"/>
            <p14:sldId id="369"/>
            <p14:sldId id="370"/>
            <p14:sldId id="373"/>
            <p14:sldId id="372"/>
            <p14:sldId id="374"/>
            <p14:sldId id="392"/>
            <p14:sldId id="393"/>
            <p14:sldId id="394"/>
            <p14:sldId id="395"/>
            <p14:sldId id="396"/>
            <p14:sldId id="397"/>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5" roundtripDataSignature="AMtx7mjnchW9jt+BL3pINn0mejfXPXn+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AD58"/>
    <a:srgbClr val="FEFEFE"/>
    <a:srgbClr val="919AA3"/>
    <a:srgbClr val="D21A25"/>
    <a:srgbClr val="FF9900"/>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7245" autoAdjust="0"/>
  </p:normalViewPr>
  <p:slideViewPr>
    <p:cSldViewPr snapToGrid="0">
      <p:cViewPr>
        <p:scale>
          <a:sx n="150" d="100"/>
          <a:sy n="150" d="100"/>
        </p:scale>
        <p:origin x="1176" y="120"/>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89"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font" Target="fonts/font13.fntdata"/><Relationship Id="rId87"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font" Target="fonts/font6.fntdata"/><Relationship Id="rId85"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7.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8A2F5A-9F1B-30A6-80F4-591D08EAA051}"/>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74AAFEF-0F92-B29C-A70E-9B38CAC8102A}"/>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C5083AF9-D621-4D22-98A6-93B8FF1F7E4E}" type="datetimeFigureOut">
              <a:rPr lang="en-US" smtClean="0"/>
              <a:t>4/21/2026</a:t>
            </a:fld>
            <a:endParaRPr lang="en-US"/>
          </a:p>
        </p:txBody>
      </p:sp>
      <p:sp>
        <p:nvSpPr>
          <p:cNvPr id="4" name="Footer Placeholder 3">
            <a:extLst>
              <a:ext uri="{FF2B5EF4-FFF2-40B4-BE49-F238E27FC236}">
                <a16:creationId xmlns:a16="http://schemas.microsoft.com/office/drawing/2014/main" id="{D4BFC9CD-7A76-FF4C-55C9-F3320699CA31}"/>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7B17BA-4A78-1B00-E7C8-F1AA7868591D}"/>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420507B4-17AC-41E1-9E22-695C1E9AA8BC}" type="slidenum">
              <a:rPr lang="en-US" smtClean="0"/>
              <a:t>‹#›</a:t>
            </a:fld>
            <a:endParaRPr lang="en-US"/>
          </a:p>
        </p:txBody>
      </p:sp>
    </p:spTree>
    <p:extLst>
      <p:ext uri="{BB962C8B-B14F-4D97-AF65-F5344CB8AC3E}">
        <p14:creationId xmlns:p14="http://schemas.microsoft.com/office/powerpoint/2010/main" val="24298632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1: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0</a:t>
            </a:fld>
            <a:endParaRPr/>
          </a:p>
        </p:txBody>
      </p:sp>
      <p:sp>
        <p:nvSpPr>
          <p:cNvPr id="109" name="Google Shape;109;p1:notes"/>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8848204ce3_0_9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8848204ce3_0_9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6" name="Google Shape;116;g38848204ce3_0_96: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9CF897F5-354E-2D4C-6126-A414B7F61194}"/>
            </a:ext>
          </a:extLst>
        </p:cNvPr>
        <p:cNvGrpSpPr/>
        <p:nvPr/>
      </p:nvGrpSpPr>
      <p:grpSpPr>
        <a:xfrm>
          <a:off x="0" y="0"/>
          <a:ext cx="0" cy="0"/>
          <a:chOff x="0" y="0"/>
          <a:chExt cx="0" cy="0"/>
        </a:xfrm>
      </p:grpSpPr>
      <p:sp>
        <p:nvSpPr>
          <p:cNvPr id="122" name="Google Shape;122;p2:notes">
            <a:extLst>
              <a:ext uri="{FF2B5EF4-FFF2-40B4-BE49-F238E27FC236}">
                <a16:creationId xmlns:a16="http://schemas.microsoft.com/office/drawing/2014/main" id="{31055858-C180-66F6-7B54-3DEF64945F86}"/>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a:extLst>
              <a:ext uri="{FF2B5EF4-FFF2-40B4-BE49-F238E27FC236}">
                <a16:creationId xmlns:a16="http://schemas.microsoft.com/office/drawing/2014/main" id="{F16EFA58-E6E2-0EA7-5A4A-1C3BFE0FE9C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58FCA471-04EE-F77D-B8D1-73E4D305A373}"/>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1954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B12B5BB-B61A-5F82-1794-62E8A43CBD14}"/>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9451B8A9-6397-DD07-2FC9-FEF7E6EDC4DD}"/>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F9D4F1A1-BD65-34F3-9C48-1812F1DC309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5FFDCB0C-1A70-598C-61B2-3AC0FDC69984}"/>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F28068CA-3672-9379-1D1E-B6BF346FC7F3}"/>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987465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D4BD476-1802-F722-80D2-52BA9AEE2227}"/>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1910EFBA-3AB9-3DF8-12E4-0B5A607EB98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D8CEECBC-A839-7C10-3638-BD6754CF6BB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EFCE6ED4-F00C-DC5A-010B-ED750258DFB9}"/>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55CACE8A-202C-BA1A-F042-033CD8330EEB}"/>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731623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90846F5-2D9E-F07E-901C-A2842081E956}"/>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571097C5-4072-6914-F231-FEE4351C0E31}"/>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3A818AD4-808F-B873-0CE3-F8D8C72FFE1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F8094049-85CC-1520-7038-546A55A9FF53}"/>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7A1D786F-4880-FE53-16AC-040473FEB4FA}"/>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691264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8E195B3-9DD3-EDFA-BB1A-BE6633F54AE6}"/>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C9B5BACE-D3C3-B3E7-6C44-A8677CD56915}"/>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76A3ED3B-5977-FBDC-43D2-B4C6034DE0C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1F2FCCDB-E1FB-4F7A-E253-C808DE36B8B4}"/>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0BCDC5E2-71DF-A314-AF7A-F05B670B3F0F}"/>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248722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83335E9-27CE-963F-C9E5-8D5EFA9E504B}"/>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4182BEF5-5AF0-C589-376B-3B541B3BF4AA}"/>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631B4375-EEBE-503A-494B-20DBA6706476}"/>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3D03E49B-C876-39AE-9EE0-5184CB8C9F0A}"/>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87C99424-53C0-4BA5-51D0-C7A365C388B5}"/>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0606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9E8F255-9ED2-44E1-5798-2CDB51DFDAB3}"/>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BB7445DC-C017-E075-04C6-1B43315490BC}"/>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F35D8321-FF25-FFE1-AB5E-4AB2B9DCA01E}"/>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13395C1A-C0B8-7E74-593F-A7412FCA436E}"/>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F5F8B280-38B9-6732-6839-21842D62C386}"/>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414978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85D95634-090A-254B-BDC5-A170C55B52B7}"/>
            </a:ext>
          </a:extLst>
        </p:cNvPr>
        <p:cNvGrpSpPr/>
        <p:nvPr/>
      </p:nvGrpSpPr>
      <p:grpSpPr>
        <a:xfrm>
          <a:off x="0" y="0"/>
          <a:ext cx="0" cy="0"/>
          <a:chOff x="0" y="0"/>
          <a:chExt cx="0" cy="0"/>
        </a:xfrm>
      </p:grpSpPr>
      <p:sp>
        <p:nvSpPr>
          <p:cNvPr id="122" name="Google Shape;122;p2:notes">
            <a:extLst>
              <a:ext uri="{FF2B5EF4-FFF2-40B4-BE49-F238E27FC236}">
                <a16:creationId xmlns:a16="http://schemas.microsoft.com/office/drawing/2014/main" id="{E579B98D-683D-5195-F445-A29FC598C4F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a:extLst>
              <a:ext uri="{FF2B5EF4-FFF2-40B4-BE49-F238E27FC236}">
                <a16:creationId xmlns:a16="http://schemas.microsoft.com/office/drawing/2014/main" id="{95E97010-4F1F-119F-E6EF-A3FBAFC7B250}"/>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9931AA56-055E-85F7-4327-B0CD8231DBFB}"/>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94377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B2346DB-BBB9-79E6-A705-220FFD6D03B8}"/>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4620BF0F-2D00-9D72-5DD1-81C471C701FB}"/>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3823E56E-0560-B974-6D37-A05B1039F14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F7BEF596-8257-E63D-F892-A9481B90B767}"/>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C278BF07-3B9C-2C6D-E1FE-F9862E6C0A75}"/>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813642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54CE6C1-D897-6738-A5F9-794DA9F42984}"/>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6448BD72-ED18-2DA6-7237-DE769B1AC5A7}"/>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67B1A073-7262-CA01-0D94-1E8B46CBE596}"/>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F9B88B69-0399-99D0-5A58-C4B58723E7FF}"/>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08D6742D-EFA8-2A80-5439-636C997F63D9}"/>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217450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394F782-2783-F779-D65B-3306183C996E}"/>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4B9EF69F-E5B1-2F38-C096-8DACC2FBC9E8}"/>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03A37E90-048E-1C62-D9A5-B99E7725FD6D}"/>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1D2CAD16-48F8-995A-9540-7BA707C45269}"/>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C9610D4E-D820-C4B7-D95E-338410EB1DB5}"/>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921395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72B10A8-F2D3-8B0E-9176-5BD25BF451C4}"/>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D1877F0F-9D4C-F2F0-E8D8-5BD91787CE5A}"/>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0FFD90FA-DD2D-061D-9C50-AB07613B714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F237C563-D6B5-CED3-778B-DF1657B9E713}"/>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F95E90BC-6CFB-6133-9199-19075711FB02}"/>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441253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BAD19D7-9504-2381-94B7-1C473CA26951}"/>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C56E02D7-D390-EF9E-E903-68832090F3E6}"/>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04BCC22D-7388-99B4-699F-0E6E6E1E382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Nói nhanh về bán cục bộ</a:t>
            </a:r>
            <a:endParaRPr dirty="0"/>
          </a:p>
        </p:txBody>
      </p:sp>
      <p:sp>
        <p:nvSpPr>
          <p:cNvPr id="132" name="Google Shape;132;p3:notes">
            <a:extLst>
              <a:ext uri="{FF2B5EF4-FFF2-40B4-BE49-F238E27FC236}">
                <a16:creationId xmlns:a16="http://schemas.microsoft.com/office/drawing/2014/main" id="{F9B03CF1-E856-279A-E002-42010DCA92C1}"/>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56C1308D-8ACD-7A02-F381-4BCAC02E9797}"/>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4628300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4A468BB-FA7B-1673-7359-10613B2A3981}"/>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8E9CF126-3ABD-FCA0-798A-CF237F889977}"/>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76647A1D-3885-4F6E-27CC-DCA8D2092925}"/>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rtl="0" fontAlgn="base"/>
            <a:r>
              <a:rPr lang="vi-VN" sz="1200" b="0" i="0" u="none" strike="noStrike" cap="none" dirty="0">
                <a:solidFill>
                  <a:schemeClr val="dk1"/>
                </a:solidFill>
                <a:effectLst/>
                <a:latin typeface="Calibri"/>
                <a:ea typeface="Calibri"/>
                <a:cs typeface="Calibri"/>
                <a:sym typeface="Calibri"/>
              </a:rPr>
              <a:t>Bài toán Affine Gap Penalty (gap có độ dài chưa xác định)</a:t>
            </a:r>
          </a:p>
          <a:p>
            <a:pPr rtl="0"/>
            <a:r>
              <a:rPr lang="vi-VN" sz="1200" b="0" i="0" u="none" strike="noStrike" cap="none" dirty="0">
                <a:solidFill>
                  <a:schemeClr val="dk1"/>
                </a:solidFill>
                <a:effectLst/>
                <a:latin typeface="Calibri"/>
                <a:ea typeface="Calibri"/>
                <a:cs typeface="Calibri"/>
                <a:sym typeface="Calibri"/>
              </a:rPr>
              <a:t>Tuy nhiên, trong sinh học tiến hóa, các đột biến thường xảy ra theo từng cụm (một đoạn DNA bị mất đi cùng lúc). Do đó, mô hình Phạt khoảng trống Affine (Affine Gap Penalty) được ưu tiên: phạt nặng khi "mở" một khoảng trống (Gap Opening), nhưng phạt nhẹ hơn khi "kéo dài" khoảng trống đó (Gap Extension).</a:t>
            </a:r>
            <a:endParaRPr lang="vi-VN" b="0" dirty="0">
              <a:effectLst/>
            </a:endParaRPr>
          </a:p>
          <a:p>
            <a:pPr rtl="0" fontAlgn="base"/>
            <a:r>
              <a:rPr lang="vi-VN" sz="1200" b="0" i="0" u="none" strike="noStrike" cap="none" dirty="0">
                <a:solidFill>
                  <a:schemeClr val="dk1"/>
                </a:solidFill>
                <a:effectLst/>
                <a:latin typeface="Calibri"/>
                <a:ea typeface="Calibri"/>
                <a:cs typeface="Calibri"/>
                <a:sym typeface="Calibri"/>
              </a:rPr>
              <a:t>Vấn đề: Để tính điểm với Affine Gap Penalty, thuật toán S.W. hoặc N.W. nguyên bản phải "nhìn lại" toàn bộ các ô trong cùng hàng và cột để tìm điểm bắt đầu của khoảng trống. Điều này đẩy độ phức tạp thời gian từ bậc hai lên bậc ba: $O(M \times N^2)$ hoặc $O(M^2 \times N)$. (Đây chính là đoạn $O(, ())$ bị lỗi trong văn bản gốc).</a:t>
            </a:r>
          </a:p>
          <a:p>
            <a:pPr rtl="0" fontAlgn="base"/>
            <a:r>
              <a:rPr lang="vi-VN" sz="1200" b="0" i="0" u="none" strike="noStrike" cap="none" dirty="0">
                <a:solidFill>
                  <a:schemeClr val="dk1"/>
                </a:solidFill>
                <a:effectLst/>
                <a:latin typeface="Calibri"/>
                <a:ea typeface="Calibri"/>
                <a:cs typeface="Calibri"/>
                <a:sym typeface="Calibri"/>
              </a:rPr>
              <a:t>Đóng góp của Gotoh (1982) &amp; Altschul: Các tác giả này đã tối ưu hóa bài toán bằng cách tách ma trận quy hoạch động duy nhất thành 3 ma trận tương tác với nhau (thường gọi là ma trận $M, I_x, I_y$ hoặc $H, E, F$). Việc này giúp thuật toán "nhớ" được trạng thái khoảng trống trước đó mà không cần quét lại toàn bộ hàng/cột.</a:t>
            </a:r>
          </a:p>
          <a:p>
            <a:pPr rtl="0" fontAlgn="base"/>
            <a:r>
              <a:rPr lang="vi-VN" sz="1200" b="0" i="0" u="none" strike="noStrike" cap="none" dirty="0">
                <a:solidFill>
                  <a:schemeClr val="dk1"/>
                </a:solidFill>
                <a:effectLst/>
                <a:latin typeface="Calibri"/>
                <a:ea typeface="Calibri"/>
                <a:cs typeface="Calibri"/>
                <a:sym typeface="Calibri"/>
              </a:rPr>
              <a:t>Kết quả: Kéo độ phức tạp thời gian của hệ thống Affine Gap Penalty từ bậc ba trở lại bậc hai: $O(M \times N)$, giúp việc chạy các mô hình sinh học thực tế trở nên khả thi.</a:t>
            </a:r>
          </a:p>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a:p>
            <a:pPr rtl="0"/>
            <a:r>
              <a:rPr lang="vi-VN" sz="1200" b="0" i="0" u="none" strike="noStrike" cap="none" dirty="0">
                <a:solidFill>
                  <a:schemeClr val="dk1"/>
                </a:solidFill>
                <a:effectLst/>
                <a:latin typeface="Calibri"/>
                <a:ea typeface="Calibri"/>
                <a:cs typeface="Calibri"/>
                <a:sym typeface="Calibri"/>
              </a:rPr>
              <a:t>Tối ưu hóa Không gian (Space/Memory Complexity)</a:t>
            </a:r>
            <a:endParaRPr lang="vi-VN" b="0" dirty="0">
              <a:effectLst/>
            </a:endParaRPr>
          </a:p>
          <a:p>
            <a:pPr rtl="0" fontAlgn="base"/>
            <a:r>
              <a:rPr lang="vi-VN" sz="1200" b="0" i="0" u="none" strike="noStrike" cap="none" dirty="0">
                <a:solidFill>
                  <a:schemeClr val="dk1"/>
                </a:solidFill>
                <a:effectLst/>
                <a:latin typeface="Calibri"/>
                <a:ea typeface="Calibri"/>
                <a:cs typeface="Calibri"/>
                <a:sym typeface="Calibri"/>
              </a:rPr>
              <a:t>Vấn đề: Để tìm ra được kết quả chuỗi đã so hàng, thuật toán D.P. không chỉ tính điểm mà còn phải lưu lại toàn bộ ma trận kích thước $M \times N$ để thực hiện bước Truy vết (Traceback). Với các bộ gen dài hàng triệu ký tự, việc lưu trữ một ma trận có $10^{12}$ ô vuông trong RAM là điều không thể (gây tràn bộ nhớ - Out of Memory). Độ phức tạp không gian nguyên thủy là $O(M \times N)$.</a:t>
            </a:r>
          </a:p>
          <a:p>
            <a:pPr rtl="0" fontAlgn="base"/>
            <a:r>
              <a:rPr lang="vi-VN" sz="1200" b="0" i="0" u="none" strike="noStrike" cap="none" dirty="0">
                <a:solidFill>
                  <a:schemeClr val="dk1"/>
                </a:solidFill>
                <a:effectLst/>
                <a:latin typeface="Calibri"/>
                <a:ea typeface="Calibri"/>
                <a:cs typeface="Calibri"/>
                <a:sym typeface="Calibri"/>
              </a:rPr>
              <a:t>Đóng góp của Myers &amp; Miller (1988): Họ đã áp dụng Thuật toán Hirschberg (Kỹ thuật Chia để trị - Divide and Conquer) vào bài toán quy hoạch động sinh học. Thay vì lưu toàn bộ ma trận, họ chỉ cần giữ lại 2 hàng (hoặc 2 cột) của ma trận điểm số để tìm ra "điểm cắt ở giữa" (midpoint) của đường đi tối ưu. Sau khi tìm được điểm giữa, bài toán được chia làm 2 bài toán con nhỏ hơn và tiếp tục đệ quy.</a:t>
            </a:r>
          </a:p>
          <a:p>
            <a:pPr rtl="0" fontAlgn="base"/>
            <a:r>
              <a:rPr lang="vi-VN" sz="1200" b="0" i="0" u="none" strike="noStrike" cap="none" dirty="0">
                <a:solidFill>
                  <a:schemeClr val="dk1"/>
                </a:solidFill>
                <a:effectLst/>
                <a:latin typeface="Calibri"/>
                <a:ea typeface="Calibri"/>
                <a:cs typeface="Calibri"/>
                <a:sym typeface="Calibri"/>
              </a:rPr>
              <a:t>Kết quả: Phương pháp này làm giảm triệt để độ phức tạp không gian từ bậc hai $O(M \times N)$ xuống mức tuyến tính $O(N)$ (chính là đoạn $O()$ bị lỗi chữ trong trích dẫn của bạn). Tuy thời gian chạy tăng lên khoảng gấp đôi so với ban đầu (vẫn nằm trong ngưỡng $O(M \times N)$), nhưng nó giải quyết hoàn toàn rào cản về phần cứng, cho phép so sánh toàn bộ các nhiễm sắc thể khổng lồ với nhau.</a:t>
            </a:r>
          </a:p>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a:p>
            <a:r>
              <a:rPr lang="vi-VN" dirty="0"/>
              <a:t>Trước khi có NGS, tiêu chuẩn vàng là giải trình tự </a:t>
            </a:r>
            <a:r>
              <a:rPr lang="vi-VN" b="1" dirty="0"/>
              <a:t>Sanger</a:t>
            </a:r>
            <a:r>
              <a:rPr lang="vi-VN" dirty="0"/>
              <a:t> (Thế hệ 1). Quá trình này rất chính xác nhưng chậm và mang tính chất "tuần tự".</a:t>
            </a:r>
          </a:p>
          <a:p>
            <a:r>
              <a:rPr lang="vi-VN" b="1" dirty="0"/>
              <a:t>Độ dài chuỗi (Read length):</a:t>
            </a:r>
            <a:r>
              <a:rPr lang="vi-VN" dirty="0"/>
              <a:t> Dài, thường từ 500 đến 1000 base pair (bp).</a:t>
            </a:r>
          </a:p>
          <a:p>
            <a:r>
              <a:rPr lang="vi-VN" b="1" dirty="0"/>
              <a:t>Sản lượng (Throughput):</a:t>
            </a:r>
            <a:r>
              <a:rPr lang="vi-VN" dirty="0"/>
              <a:t> Rất thấp. Một lần chạy chỉ tạo ra vài trăm hoặc vài nghìn chuỗi.</a:t>
            </a:r>
          </a:p>
          <a:p>
            <a:r>
              <a:rPr lang="vi-VN" b="1" dirty="0"/>
              <a:t>Thuật toán phù hợp:</a:t>
            </a:r>
            <a:r>
              <a:rPr lang="vi-VN" dirty="0"/>
              <a:t> Với số lượng chuỗi ít, ta hoàn toàn có thể dùng các thuật toán quy hoạch động (như Smith-Waterman) để tìm kết quả gióng hàng chính xác nhất (optimal alignment) bất chấp tốc độ tính toán chậm.</a:t>
            </a:r>
          </a:p>
          <a:p>
            <a:r>
              <a:rPr lang="vi-VN" b="1" dirty="0"/>
              <a:t>Next-generation Sequencing (NGS)</a:t>
            </a:r>
            <a:r>
              <a:rPr lang="vi-VN" dirty="0"/>
              <a:t> (Thế hệ 2, tiêu biểu là Illumina) phá vỡ mô hình này bằng cách giải trình tự </a:t>
            </a:r>
            <a:r>
              <a:rPr lang="vi-VN" b="1" dirty="0"/>
              <a:t>song song hàng loạt (massively parallel)</a:t>
            </a:r>
            <a:r>
              <a:rPr lang="vi-VN" dirty="0"/>
              <a:t>.</a:t>
            </a:r>
          </a:p>
          <a:p>
            <a:r>
              <a:rPr lang="vi-VN" b="1" dirty="0"/>
              <a:t>Độ dài chuỗi (Read length):</a:t>
            </a:r>
            <a:r>
              <a:rPr lang="vi-VN" dirty="0"/>
              <a:t> Ngắn, chỉ khoảng 50 đến 300 bp.</a:t>
            </a:r>
          </a:p>
          <a:p>
            <a:r>
              <a:rPr lang="vi-VN" b="1" dirty="0"/>
              <a:t>Sản lượng (Throughput):</a:t>
            </a:r>
            <a:r>
              <a:rPr lang="vi-VN" dirty="0"/>
              <a:t> Khổng lồ. Một máy NGS có thể xả ra hàng trăm triệu đến hàng tỷ "đoạn cắt ngắn" (short reads) trong một lần chạy.</a:t>
            </a:r>
          </a:p>
          <a:p>
            <a:r>
              <a:rPr lang="vi-VN" b="1" dirty="0"/>
              <a:t>Đặc điểm nhiễu:</a:t>
            </a:r>
            <a:r>
              <a:rPr lang="vi-VN" dirty="0"/>
              <a:t> Tỷ lệ lỗi (đặc biệt là thay thế - substitution) cao hơn Sanger, và dữ liệu bao phủ bộ gen dưới dạng vô số các đoạn ngắn chồng chéo lên nhau một cách ngẫu nhiên</a:t>
            </a:r>
          </a:p>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2E61BE3A-A687-E72C-1DC9-0016C57FD74F}"/>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D80DB72A-31A5-3B26-CD19-7634982EF5C1}"/>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863965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2727F5B-226D-6082-B764-650202D939E0}"/>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94278F60-4DAD-7F2B-D126-8F148249458D}"/>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1FC8DE1D-C3E7-859D-7E9C-D9E4733F0516}"/>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r>
              <a:rPr lang="vi-VN"/>
              <a:t>Hãy tưởng tượng chúng ta có một cuốn từ điển khổng lồ dài 3 tỷ chữ cái, và nhiệm vụ của chúng ta là ghép hàng trăm triệu mảnh giấy vụn — mỗi mảnh chỉ dài 100 chữ cái — vào đúng vị trí của chúng. Nếu chúng ta áp dụng các thuật toán quy hoạch động truyền thống, tức là tính toán ma trận để đối chiếu từng mảnh giấy với toàn bộ cuốn từ điển, một siêu máy tính cũng sẽ mất hàng nghìn năm để hoàn thành.</a:t>
            </a:r>
          </a:p>
          <a:p>
            <a:r>
              <a:rPr lang="vi-VN"/>
              <a:t>Sự bùng nổ dữ liệu khổng lồ của Next-generation Sequencing đã tạo ra một sự thay đổi về lượng, dẫn đến yêu cầu bức thiết phải thay đổi về chất trong tư duy thiết kế thuật toán. Chúng ta không thể theo đuổi sự hoàn hảo của toán học tối ưu trên toàn bộ không gian tìm kiếm được nữa. Thay vào đó, các nhà khoa học máy tính đã rẽ hướng sang các phương pháp Heuristic (khám phá kinh nghiệm). Và triết lý cốt lõi định hình nên toàn bộ các phần mềm gióng hàng hiện đại chính là chiến lược: </a:t>
            </a:r>
            <a:r>
              <a:rPr lang="vi-VN" b="1"/>
              <a:t>Seed-and-Extend</a:t>
            </a:r>
            <a:endParaRPr lang="vi-VN"/>
          </a:p>
        </p:txBody>
      </p:sp>
      <p:sp>
        <p:nvSpPr>
          <p:cNvPr id="132" name="Google Shape;132;p3:notes">
            <a:extLst>
              <a:ext uri="{FF2B5EF4-FFF2-40B4-BE49-F238E27FC236}">
                <a16:creationId xmlns:a16="http://schemas.microsoft.com/office/drawing/2014/main" id="{32E959FF-C925-7A5C-4CF4-A02698559189}"/>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41E9F80E-19E2-AC6F-69CD-199E9BC349C8}"/>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541877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18703DB-F0F4-1C08-F2C1-A6106B5AB822}"/>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CE94B42F-72DD-6F86-89F5-B691DDA71C7B}"/>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D422867B-B4BC-820F-D5CE-D07FE246C9E4}"/>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rtl="0"/>
            <a:r>
              <a:rPr lang="vi-VN" sz="1200" b="1" i="0" u="none" strike="noStrike" cap="none">
                <a:solidFill>
                  <a:schemeClr val="dk1"/>
                </a:solidFill>
                <a:effectLst/>
                <a:latin typeface="Calibri"/>
                <a:ea typeface="Calibri"/>
                <a:cs typeface="Calibri"/>
                <a:sym typeface="Calibri"/>
              </a:rPr>
              <a:t>Bước 1: Tiền xử lý và Lập chỉ mục (Indexing phase)</a:t>
            </a:r>
            <a:endParaRPr lang="vi-VN" b="0">
              <a:effectLst/>
            </a:endParaRPr>
          </a:p>
          <a:p>
            <a:pPr rtl="0"/>
            <a:r>
              <a:rPr lang="vi-VN" sz="1200" b="0" i="0" u="none" strike="noStrike" cap="none">
                <a:solidFill>
                  <a:schemeClr val="dk1"/>
                </a:solidFill>
                <a:effectLst/>
                <a:latin typeface="Calibri"/>
                <a:ea typeface="Calibri"/>
                <a:cs typeface="Calibri"/>
                <a:sym typeface="Calibri"/>
              </a:rPr>
              <a:t>Thay vì duyệt qua Database mỗi lần có truy vấn mới (rất tốn thời gian), hệ thống sẽ lập chỉ mục Database từ trước.</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Quét qua toàn bộ chuỗi $D$.</a:t>
            </a:r>
          </a:p>
          <a:p>
            <a:pPr rtl="0" fontAlgn="base"/>
            <a:r>
              <a:rPr lang="vi-VN" sz="1200" b="0" i="0" u="none" strike="noStrike" cap="none">
                <a:solidFill>
                  <a:schemeClr val="dk1"/>
                </a:solidFill>
                <a:effectLst/>
                <a:latin typeface="Calibri"/>
                <a:ea typeface="Calibri"/>
                <a:cs typeface="Calibri"/>
                <a:sym typeface="Calibri"/>
              </a:rPr>
              <a:t>Tại mỗi vị trí, trích xuất một $k$-mer.</a:t>
            </a:r>
          </a:p>
          <a:p>
            <a:pPr rtl="0" fontAlgn="base"/>
            <a:r>
              <a:rPr lang="vi-VN" sz="1200" b="0" i="0" u="none" strike="noStrike" cap="none">
                <a:solidFill>
                  <a:schemeClr val="dk1"/>
                </a:solidFill>
                <a:effectLst/>
                <a:latin typeface="Calibri"/>
                <a:ea typeface="Calibri"/>
                <a:cs typeface="Calibri"/>
                <a:sym typeface="Calibri"/>
              </a:rPr>
              <a:t>Băm (Hash) $k$-mer đó thành một khóa (Key) và lưu trữ vị trí của nó vào một Bảng băm (Hash Table) hoặc cấu trúc FM-index.</a:t>
            </a:r>
            <a:br>
              <a:rPr lang="vi-VN" sz="1200" b="0" i="0" u="none" strike="noStrike" cap="none">
                <a:solidFill>
                  <a:schemeClr val="dk1"/>
                </a:solidFill>
                <a:effectLst/>
                <a:latin typeface="Calibri"/>
                <a:ea typeface="Calibri"/>
                <a:cs typeface="Calibri"/>
                <a:sym typeface="Calibri"/>
              </a:rPr>
            </a:br>
            <a:r>
              <a:rPr lang="vi-VN" sz="1200" b="0" i="1" u="none" strike="noStrike" cap="none">
                <a:solidFill>
                  <a:schemeClr val="dk1"/>
                </a:solidFill>
                <a:effectLst/>
                <a:latin typeface="Calibri"/>
                <a:ea typeface="Calibri"/>
                <a:cs typeface="Calibri"/>
                <a:sym typeface="Calibri"/>
              </a:rPr>
              <a:t>Kết quả:</a:t>
            </a:r>
            <a:r>
              <a:rPr lang="vi-VN" sz="1200" b="0" i="0" u="none" strike="noStrike" cap="none">
                <a:solidFill>
                  <a:schemeClr val="dk1"/>
                </a:solidFill>
                <a:effectLst/>
                <a:latin typeface="Calibri"/>
                <a:ea typeface="Calibri"/>
                <a:cs typeface="Calibri"/>
                <a:sym typeface="Calibri"/>
              </a:rPr>
              <a:t> Hệ thống ghi nhớ sẵn vị trí của mọi "từ vựng" trong bộ gen tham chiếu.</a:t>
            </a:r>
          </a:p>
          <a:p>
            <a:pPr rtl="0"/>
            <a:r>
              <a:rPr lang="vi-VN" sz="1200" b="1" i="0" u="none" strike="noStrike" cap="none">
                <a:solidFill>
                  <a:schemeClr val="dk1"/>
                </a:solidFill>
                <a:effectLst/>
                <a:latin typeface="Calibri"/>
                <a:ea typeface="Calibri"/>
                <a:cs typeface="Calibri"/>
                <a:sym typeface="Calibri"/>
              </a:rPr>
              <a:t>Bước 2: Quét truy vấn và Gieo hạt (Scanning &amp; Seeding phase)</a:t>
            </a:r>
            <a:endParaRPr lang="vi-VN" b="0">
              <a:effectLst/>
            </a:endParaRPr>
          </a:p>
          <a:p>
            <a:pPr rtl="0"/>
            <a:r>
              <a:rPr lang="vi-VN" sz="1200" b="0" i="0" u="none" strike="noStrike" cap="none">
                <a:solidFill>
                  <a:schemeClr val="dk1"/>
                </a:solidFill>
                <a:effectLst/>
                <a:latin typeface="Calibri"/>
                <a:ea typeface="Calibri"/>
                <a:cs typeface="Calibri"/>
                <a:sym typeface="Calibri"/>
              </a:rPr>
              <a:t>Khi có một chuỗi truy vấn $Q$ xuất hiện:</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Chia chuỗi $Q$ thành các $k$-mers (giống hệt cách làm với $D$).</a:t>
            </a:r>
          </a:p>
          <a:p>
            <a:pPr rtl="0" fontAlgn="base"/>
            <a:r>
              <a:rPr lang="vi-VN" sz="1200" b="0" i="0" u="none" strike="noStrike" cap="none">
                <a:solidFill>
                  <a:schemeClr val="dk1"/>
                </a:solidFill>
                <a:effectLst/>
                <a:latin typeface="Calibri"/>
                <a:ea typeface="Calibri"/>
                <a:cs typeface="Calibri"/>
                <a:sym typeface="Calibri"/>
              </a:rPr>
              <a:t>Lấy từng $k$-mer của $Q$ làm từ khóa, tra cứu trực tiếp vào Bảng băm đã tạo ở Bước 1.</a:t>
            </a:r>
          </a:p>
          <a:p>
            <a:pPr rtl="0" fontAlgn="base"/>
            <a:r>
              <a:rPr lang="vi-VN" sz="1200" b="0" i="0" u="none" strike="noStrike" cap="none">
                <a:solidFill>
                  <a:schemeClr val="dk1"/>
                </a:solidFill>
                <a:effectLst/>
                <a:latin typeface="Calibri"/>
                <a:ea typeface="Calibri"/>
                <a:cs typeface="Calibri"/>
                <a:sym typeface="Calibri"/>
              </a:rPr>
              <a:t>Nếu tìm thấy (Hit), hệ thống ghi nhận tọa độ $(i, j)$ tạo thành một "Hạt giống". Bước này giải quyết việc tìm kiếm trong không gian khổng lồ chỉ với thời gian tra cứu $O(1)$ cho mỗi $k$-mer.</a:t>
            </a:r>
          </a:p>
          <a:p>
            <a:pPr rtl="0"/>
            <a:r>
              <a:rPr lang="vi-VN" sz="1200" b="1" i="0" u="none" strike="noStrike" cap="none">
                <a:solidFill>
                  <a:schemeClr val="dk1"/>
                </a:solidFill>
                <a:effectLst/>
                <a:latin typeface="Calibri"/>
                <a:ea typeface="Calibri"/>
                <a:cs typeface="Calibri"/>
                <a:sym typeface="Calibri"/>
              </a:rPr>
              <a:t>Bước 3: Lọc và Hợp nhất hạt giống (Filtering &amp; Chaining phase)</a:t>
            </a:r>
            <a:endParaRPr lang="vi-VN" b="0">
              <a:effectLst/>
            </a:endParaRPr>
          </a:p>
          <a:p>
            <a:pPr rtl="0"/>
            <a:r>
              <a:rPr lang="vi-VN" sz="1200" b="0" i="0" u="none" strike="noStrike" cap="none">
                <a:solidFill>
                  <a:schemeClr val="dk1"/>
                </a:solidFill>
                <a:effectLst/>
                <a:latin typeface="Calibri"/>
                <a:ea typeface="Calibri"/>
                <a:cs typeface="Calibri"/>
                <a:sym typeface="Calibri"/>
              </a:rPr>
              <a:t>Đây là bước quyết định để loại bỏ các Dương tính giả (False Positives). Một hạt giống nhỏ lẻ có thể chỉ là ngẫu nhiên, nhưng nhiều hạt giống nằm gần nhau và tuân theo một trật tự tuyến tính thì khả năng cao đó là vùng tương đồng thật.</a:t>
            </a:r>
            <a:endParaRPr lang="vi-VN" b="0">
              <a:effectLst/>
            </a:endParaRPr>
          </a:p>
          <a:p>
            <a:pPr rtl="0" fontAlgn="base"/>
            <a:r>
              <a:rPr lang="vi-VN" sz="1200" b="1" i="0" u="none" strike="noStrike" cap="none">
                <a:solidFill>
                  <a:schemeClr val="dk1"/>
                </a:solidFill>
                <a:effectLst/>
                <a:latin typeface="Calibri"/>
                <a:ea typeface="Calibri"/>
                <a:cs typeface="Calibri"/>
                <a:sym typeface="Calibri"/>
              </a:rPr>
              <a:t>Collinearity Check (Kiểm tra tính đồng tuyến):</a:t>
            </a:r>
            <a:r>
              <a:rPr lang="vi-VN" sz="1200" b="0" i="0" u="none" strike="noStrike" cap="none">
                <a:solidFill>
                  <a:schemeClr val="dk1"/>
                </a:solidFill>
                <a:effectLst/>
                <a:latin typeface="Calibri"/>
                <a:ea typeface="Calibri"/>
                <a:cs typeface="Calibri"/>
                <a:sym typeface="Calibri"/>
              </a:rPr>
              <a:t> Thuật toán tính toán khoảng cách giữa các hạt giống. Nếu hạt giống A ở $Q$ đi trước hạt giống B, thì vị trí tương ứng của chúng trong $D$ cũng phải duy trì thứ tự đó và cách nhau một khoảng tương đương.</a:t>
            </a:r>
          </a:p>
          <a:p>
            <a:pPr rtl="0" fontAlgn="base"/>
            <a:r>
              <a:rPr lang="vi-VN" sz="1200" b="1" i="0" u="none" strike="noStrike" cap="none">
                <a:solidFill>
                  <a:schemeClr val="dk1"/>
                </a:solidFill>
                <a:effectLst/>
                <a:latin typeface="Calibri"/>
                <a:ea typeface="Calibri"/>
                <a:cs typeface="Calibri"/>
                <a:sym typeface="Calibri"/>
              </a:rPr>
              <a:t>Chaining (Hợp nhất):</a:t>
            </a:r>
            <a:r>
              <a:rPr lang="vi-VN" sz="1200" b="0" i="0" u="none" strike="noStrike" cap="none">
                <a:solidFill>
                  <a:schemeClr val="dk1"/>
                </a:solidFill>
                <a:effectLst/>
                <a:latin typeface="Calibri"/>
                <a:ea typeface="Calibri"/>
                <a:cs typeface="Calibri"/>
                <a:sym typeface="Calibri"/>
              </a:rPr>
              <a:t> Nối các hạt giống lẻ tẻ thỏa mãn điều kiện đồng tuyến thành một cụm (cluster) lớn hơn.</a:t>
            </a:r>
          </a:p>
          <a:p>
            <a:pPr rtl="0" fontAlgn="base"/>
            <a:r>
              <a:rPr lang="vi-VN" sz="1200" b="0" i="0" u="none" strike="noStrike" cap="none">
                <a:solidFill>
                  <a:schemeClr val="dk1"/>
                </a:solidFill>
                <a:effectLst/>
                <a:latin typeface="Calibri"/>
                <a:ea typeface="Calibri"/>
                <a:cs typeface="Calibri"/>
                <a:sym typeface="Calibri"/>
              </a:rPr>
              <a:t>Nếu cụm này đạt đủ "trọng lượng" (tổng số điểm cao hơn một ngưỡng Threshold), vùng đó sẽ vượt qua bộ lọc Seeding và được chuyển sang bước cuối cùng: </a:t>
            </a:r>
            <a:r>
              <a:rPr lang="vi-VN" sz="1200" b="1" i="0" u="none" strike="noStrike" cap="none">
                <a:solidFill>
                  <a:schemeClr val="dk1"/>
                </a:solidFill>
                <a:effectLst/>
                <a:latin typeface="Calibri"/>
                <a:ea typeface="Calibri"/>
                <a:cs typeface="Calibri"/>
                <a:sym typeface="Calibri"/>
              </a:rPr>
              <a:t>Chạy thuật toán Quy hoạch động (như Smith-Waterman)</a:t>
            </a:r>
            <a:r>
              <a:rPr lang="vi-VN" sz="1200" b="0" i="0" u="none" strike="noStrike" cap="none">
                <a:solidFill>
                  <a:schemeClr val="dk1"/>
                </a:solidFill>
                <a:effectLst/>
                <a:latin typeface="Calibri"/>
                <a:ea typeface="Calibri"/>
                <a:cs typeface="Calibri"/>
                <a:sym typeface="Calibri"/>
              </a:rPr>
              <a:t> để so hàng chi tiết, chèn khoảng trống (gap) và ra kết quả cuối cùng.</a:t>
            </a:r>
          </a:p>
          <a:p>
            <a:br>
              <a:rPr lang="vi-VN"/>
            </a:br>
            <a:endParaRPr lang="vi-VN"/>
          </a:p>
        </p:txBody>
      </p:sp>
      <p:sp>
        <p:nvSpPr>
          <p:cNvPr id="132" name="Google Shape;132;p3:notes">
            <a:extLst>
              <a:ext uri="{FF2B5EF4-FFF2-40B4-BE49-F238E27FC236}">
                <a16:creationId xmlns:a16="http://schemas.microsoft.com/office/drawing/2014/main" id="{D4A4770C-9B22-D06C-8D91-ABC7F7C14DC2}"/>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C37E3BAA-E360-3CCD-7DA6-C5D50828768D}"/>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1042046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6820F2D-0B91-5B16-CC6D-04A4BFBA613A}"/>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AB8F08D9-6434-BE0F-052E-B5EB23ED8FB5}"/>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0C88BE9E-2A91-279D-50FD-92F595335CF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r>
              <a:rPr lang="vi-VN" sz="1200" b="1" i="0" u="none" strike="noStrike" cap="none">
                <a:solidFill>
                  <a:schemeClr val="dk1"/>
                </a:solidFill>
                <a:effectLst/>
                <a:latin typeface="Calibri"/>
                <a:ea typeface="Calibri"/>
                <a:cs typeface="Calibri"/>
                <a:sym typeface="Calibri"/>
              </a:rPr>
              <a:t>$S$ (Score):</a:t>
            </a:r>
            <a:r>
              <a:rPr lang="vi-VN" sz="1200" b="0" i="0" u="none" strike="noStrike" cap="none">
                <a:solidFill>
                  <a:schemeClr val="dk1"/>
                </a:solidFill>
                <a:effectLst/>
                <a:latin typeface="Calibri"/>
                <a:ea typeface="Calibri"/>
                <a:cs typeface="Calibri"/>
                <a:sym typeface="Calibri"/>
              </a:rPr>
              <a:t> Điểm số gióng hàng thô (raw score) tính từ ma trận điểm (ví dụ: BLOSUM62) cộng trừ các điểm phạt khe hở (gap penalty). Điểm $S$ nằm trên số mũ âm ($- \lambda S$), nghĩa là điểm càng cao, $E$-value càng giảm theo cấp số nhân (càng đáng tin).</a:t>
            </a:r>
          </a:p>
          <a:p>
            <a:r>
              <a:rPr lang="vi-VN" sz="1200" b="1" i="0" u="none" strike="noStrike" cap="none">
                <a:solidFill>
                  <a:schemeClr val="dk1"/>
                </a:solidFill>
                <a:effectLst/>
                <a:latin typeface="Calibri"/>
                <a:ea typeface="Calibri"/>
                <a:cs typeface="Calibri"/>
                <a:sym typeface="Calibri"/>
              </a:rPr>
              <a:t>$m$ (Query length):</a:t>
            </a:r>
            <a:r>
              <a:rPr lang="vi-VN" sz="1200" b="0" i="0" u="none" strike="noStrike" cap="none">
                <a:solidFill>
                  <a:schemeClr val="dk1"/>
                </a:solidFill>
                <a:effectLst/>
                <a:latin typeface="Calibri"/>
                <a:ea typeface="Calibri"/>
                <a:cs typeface="Calibri"/>
                <a:sym typeface="Calibri"/>
              </a:rPr>
              <a:t> Chiều dài của trình tự bạn mang đi hỏi. Trình tự càng dài, không gian tìm kiếm càng lớn, xác suất gặp đoạn trùng ngẫu nhiên càng cao.</a:t>
            </a:r>
          </a:p>
          <a:p>
            <a:r>
              <a:rPr lang="vi-VN" sz="1200" b="1" i="0" u="none" strike="noStrike" cap="none">
                <a:solidFill>
                  <a:schemeClr val="dk1"/>
                </a:solidFill>
                <a:effectLst/>
                <a:latin typeface="Calibri"/>
                <a:ea typeface="Calibri"/>
                <a:cs typeface="Calibri"/>
                <a:sym typeface="Calibri"/>
              </a:rPr>
              <a:t>$n$ (Database size):</a:t>
            </a:r>
            <a:r>
              <a:rPr lang="vi-VN" sz="1200" b="0" i="0" u="none" strike="noStrike" cap="none">
                <a:solidFill>
                  <a:schemeClr val="dk1"/>
                </a:solidFill>
                <a:effectLst/>
                <a:latin typeface="Calibri"/>
                <a:ea typeface="Calibri"/>
                <a:cs typeface="Calibri"/>
                <a:sym typeface="Calibri"/>
              </a:rPr>
              <a:t> Tổng số lượng ký tự (nucleotide hoặc axit amin) trong toàn bộ cơ sở dữ liệu.</a:t>
            </a:r>
          </a:p>
          <a:p>
            <a:r>
              <a:rPr lang="vi-VN" sz="1200" b="1" i="0" u="none" strike="noStrike" cap="none">
                <a:solidFill>
                  <a:schemeClr val="dk1"/>
                </a:solidFill>
                <a:effectLst/>
                <a:latin typeface="Calibri"/>
                <a:ea typeface="Calibri"/>
                <a:cs typeface="Calibri"/>
                <a:sym typeface="Calibri"/>
              </a:rPr>
              <a:t>$K$ và $\lambda$:</a:t>
            </a:r>
            <a:r>
              <a:rPr lang="vi-VN" sz="1200" b="0" i="0" u="none" strike="noStrike" cap="none">
                <a:solidFill>
                  <a:schemeClr val="dk1"/>
                </a:solidFill>
                <a:effectLst/>
                <a:latin typeface="Calibri"/>
                <a:ea typeface="Calibri"/>
                <a:cs typeface="Calibri"/>
                <a:sym typeface="Calibri"/>
              </a:rPr>
              <a:t> Các hằng số thống kê phụ thuộc vào hệ thống chấm điểm và thành phần nền của trình tự.</a:t>
            </a:r>
          </a:p>
          <a:p>
            <a:pPr rtl="0"/>
            <a:endParaRPr lang="vi-VN"/>
          </a:p>
        </p:txBody>
      </p:sp>
      <p:sp>
        <p:nvSpPr>
          <p:cNvPr id="132" name="Google Shape;132;p3:notes">
            <a:extLst>
              <a:ext uri="{FF2B5EF4-FFF2-40B4-BE49-F238E27FC236}">
                <a16:creationId xmlns:a16="http://schemas.microsoft.com/office/drawing/2014/main" id="{DABD4C96-6612-2E33-1D0C-317E7F5EAF13}"/>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210CBCAA-28C7-A214-D65B-C91D6FD00481}"/>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042317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F679F9F-2FD1-B033-221A-D20CD4EA606F}"/>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35664157-5CC9-9858-54F1-10863A4910D1}"/>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2648A24A-5A86-DF7E-917C-B2C43BE4A5BE}"/>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rtl="0"/>
            <a:endParaRPr lang="vi-VN"/>
          </a:p>
        </p:txBody>
      </p:sp>
      <p:sp>
        <p:nvSpPr>
          <p:cNvPr id="132" name="Google Shape;132;p3:notes">
            <a:extLst>
              <a:ext uri="{FF2B5EF4-FFF2-40B4-BE49-F238E27FC236}">
                <a16:creationId xmlns:a16="http://schemas.microsoft.com/office/drawing/2014/main" id="{5FEA8FCA-C710-6F9D-6008-93C588DED2CF}"/>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9045F3DC-FE3D-0481-19CE-6B9D9C5DEA4C}"/>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2260343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0431314-5CAD-B6F9-FD09-7AE01F8163D0}"/>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456F2BD2-4C21-9591-7DA7-8500238F4E0A}"/>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E5CABAC9-8B6E-2793-E501-1F1D6A292E9E}"/>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rtl="0" fontAlgn="base"/>
            <a:r>
              <a:rPr lang="en-US" sz="1200" b="0" i="0" u="none" strike="noStrike" cap="none">
                <a:solidFill>
                  <a:schemeClr val="dk1"/>
                </a:solidFill>
                <a:effectLst/>
                <a:latin typeface="Calibri"/>
                <a:ea typeface="Calibri"/>
                <a:cs typeface="Calibri"/>
                <a:sym typeface="Calibri"/>
              </a:rPr>
              <a:t>PatternHunter: spaced seeds - non-consecutive matching sequences of characters </a:t>
            </a:r>
          </a:p>
          <a:p>
            <a:pPr lvl="1" rtl="0" fontAlgn="base"/>
            <a:r>
              <a:rPr lang="en-US" sz="1200" b="0" i="0" u="none" strike="noStrike" cap="none">
                <a:solidFill>
                  <a:schemeClr val="dk1"/>
                </a:solidFill>
                <a:effectLst/>
                <a:latin typeface="Calibri"/>
                <a:ea typeface="Calibri"/>
                <a:cs typeface="Calibri"/>
                <a:sym typeface="Calibri"/>
              </a:rPr>
              <a:t>fixed-length words over the alphabet {0, 1}</a:t>
            </a:r>
          </a:p>
          <a:p>
            <a:pPr lvl="2" rtl="0" fontAlgn="base"/>
            <a:r>
              <a:rPr lang="en-US" sz="1200" b="0" i="0" u="none" strike="noStrike" cap="none">
                <a:solidFill>
                  <a:schemeClr val="dk1"/>
                </a:solidFill>
                <a:effectLst/>
                <a:latin typeface="Calibri"/>
                <a:ea typeface="Calibri"/>
                <a:cs typeface="Calibri"/>
                <a:sym typeface="Calibri"/>
              </a:rPr>
              <a:t>1: required to match</a:t>
            </a:r>
          </a:p>
          <a:p>
            <a:pPr lvl="2" rtl="0" fontAlgn="base"/>
            <a:r>
              <a:rPr lang="en-US" sz="1200" b="0" i="0" u="none" strike="noStrike" cap="none">
                <a:solidFill>
                  <a:schemeClr val="dk1"/>
                </a:solidFill>
                <a:effectLst/>
                <a:latin typeface="Calibri"/>
                <a:ea typeface="Calibri"/>
                <a:cs typeface="Calibri"/>
                <a:sym typeface="Calibri"/>
              </a:rPr>
              <a:t>0: ignored </a:t>
            </a:r>
          </a:p>
          <a:p>
            <a:pPr lvl="1" rtl="0" fontAlgn="base"/>
            <a:r>
              <a:rPr lang="en-US" sz="1200" b="0" i="0" u="none" strike="noStrike" cap="none">
                <a:solidFill>
                  <a:schemeClr val="dk1"/>
                </a:solidFill>
                <a:effectLst/>
                <a:latin typeface="Calibri"/>
                <a:ea typeface="Calibri"/>
                <a:cs typeface="Calibri"/>
                <a:sym typeface="Calibri"/>
              </a:rPr>
              <a:t>if appropriately designed =&gt; higher chance to hit a true approximate match while producing fewer random hits. Reasons:</a:t>
            </a:r>
          </a:p>
          <a:p>
            <a:pPr lvl="2" rtl="0" fontAlgn="base"/>
            <a:r>
              <a:rPr lang="en-US" sz="1200" b="0" i="0" u="none" strike="noStrike" cap="none">
                <a:solidFill>
                  <a:schemeClr val="dk1"/>
                </a:solidFill>
                <a:effectLst/>
                <a:latin typeface="Calibri"/>
                <a:ea typeface="Calibri"/>
                <a:cs typeface="Calibri"/>
                <a:sym typeface="Calibri"/>
              </a:rPr>
              <a:t>Spanning a larger interval on the read with the same number of positions required to match</a:t>
            </a:r>
          </a:p>
          <a:p>
            <a:pPr lvl="2" rtl="0" fontAlgn="base"/>
            <a:r>
              <a:rPr lang="en-US" sz="1200" b="0" i="0" u="none" strike="noStrike" cap="none">
                <a:solidFill>
                  <a:schemeClr val="dk1"/>
                </a:solidFill>
                <a:effectLst/>
                <a:latin typeface="Calibri"/>
                <a:ea typeface="Calibri"/>
                <a:cs typeface="Calibri"/>
                <a:sym typeface="Calibri"/>
              </a:rPr>
              <a:t>increased independence of a spaced seed templated and its shifted copies </a:t>
            </a:r>
          </a:p>
          <a:p>
            <a:pPr lvl="1" rtl="0" fontAlgn="base"/>
            <a:r>
              <a:rPr lang="en-US" sz="1200" b="0" i="0" u="none" strike="noStrike" cap="none">
                <a:solidFill>
                  <a:schemeClr val="dk1"/>
                </a:solidFill>
                <a:effectLst/>
                <a:latin typeface="Calibri"/>
                <a:ea typeface="Calibri"/>
                <a:cs typeface="Calibri"/>
                <a:sym typeface="Calibri"/>
              </a:rPr>
              <a:t>do not account for insertions and deletions</a:t>
            </a:r>
          </a:p>
          <a:p>
            <a:pPr lvl="1" rtl="0" fontAlgn="base"/>
            <a:r>
              <a:rPr lang="en-US" sz="1200" b="0" i="0" u="none" strike="noStrike" cap="none">
                <a:solidFill>
                  <a:schemeClr val="dk1"/>
                </a:solidFill>
                <a:effectLst/>
                <a:latin typeface="Calibri"/>
                <a:ea typeface="Calibri"/>
                <a:cs typeface="Calibri"/>
                <a:sym typeface="Calibri"/>
              </a:rPr>
              <a:t>higher number of pos to match = increasing selectivity &gt;&lt; lower sensitivity</a:t>
            </a:r>
          </a:p>
        </p:txBody>
      </p:sp>
      <p:sp>
        <p:nvSpPr>
          <p:cNvPr id="132" name="Google Shape;132;p3:notes">
            <a:extLst>
              <a:ext uri="{FF2B5EF4-FFF2-40B4-BE49-F238E27FC236}">
                <a16:creationId xmlns:a16="http://schemas.microsoft.com/office/drawing/2014/main" id="{B603A71F-4D66-6F89-C8FE-0ED2DE727EE1}"/>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58E1B868-E8F6-CBFE-4A9A-6B63659AE2B0}"/>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4953694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A2EC416-88D9-9134-5D83-6AB1E53F514F}"/>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A643093F-8BBD-A268-DCF8-6283F06439C3}"/>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FA8E48DE-005C-866F-D4C3-76E11ABE161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r>
              <a:rPr lang="vi-VN"/>
              <a:t>Vấn đề của PatternHunter hay bất kỳ thuật toán nào dựa trên hạt giống không nằm ở bản thân hạt giống, mà nằm ở </a:t>
            </a:r>
            <a:r>
              <a:rPr lang="vi-VN" b="1"/>
              <a:t>Cấu trúc dữ liệu</a:t>
            </a:r>
            <a:r>
              <a:rPr lang="vi-VN"/>
              <a:t> nâng đỡ nó: Bảng băm (Hash Tables). Để thuật toán chạy nhanh, bạn phải băm toàn bộ hệ gen mục tiêu ra và nhét vào RAM. Hãy làm một phép tính nhanh: Bộ gen người có kích thước khoảng 3 tỷ ký tự. Để tạo một bảng băm chỉ mục cho nó, hệ thống của bạn sẽ 'ngốn' sương sương từ 20 đến 50 Gigabytes RAM.</a:t>
            </a:r>
          </a:p>
          <a:p>
            <a:r>
              <a:rPr lang="vi-VN"/>
              <a:t>Vào đầu những năm 2000, điều này là chấp nhận được. Nhưng cục diện hoàn toàn thay đổi khi kỷ nguyên </a:t>
            </a:r>
            <a:r>
              <a:rPr lang="vi-VN" b="1"/>
              <a:t>Giải trình tự thế hệ mới (NGS)</a:t>
            </a:r>
            <a:r>
              <a:rPr lang="vi-VN"/>
              <a:t> bùng nổ.</a:t>
            </a:r>
          </a:p>
          <a:p>
            <a:r>
              <a:rPr lang="vi-VN"/>
              <a:t>Hãy tưởng tượng, thay vì so sánh một vài trình tự dài, giờ đây cỗ máy Illumina ném vào mặt chúng ta hàng tỷ đoạn gen cực ngắn. Việc duy trì một bảng băm khổng lồ và thực hiện hàng tỷ phép quy hoạch động để mở rộng hạt giống khiến mọi hệ thống máy chủ sụp đổ. Chúng ta đụng phải một 'bức tường vật lý' về bộ nhớ</a:t>
            </a:r>
          </a:p>
          <a:p>
            <a:pPr rtl="0"/>
            <a:endParaRPr lang="vi-VN"/>
          </a:p>
        </p:txBody>
      </p:sp>
      <p:sp>
        <p:nvSpPr>
          <p:cNvPr id="132" name="Google Shape;132;p3:notes">
            <a:extLst>
              <a:ext uri="{FF2B5EF4-FFF2-40B4-BE49-F238E27FC236}">
                <a16:creationId xmlns:a16="http://schemas.microsoft.com/office/drawing/2014/main" id="{4D96841B-02B7-11F7-4095-C24DC52EFA2B}"/>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8484EEF5-987D-544F-AD3E-AF5F238E1CF9}"/>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105771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25DBF22-2887-6744-D109-FA747D4A9F6E}"/>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FDDD6BBC-23A0-778F-69C3-7D35D7DB1926}"/>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73FE88B3-21A3-7077-4FBB-8C7E00D8866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rtl="0"/>
            <a:r>
              <a:rPr lang="vi-VN" sz="1100" b="0" i="0" u="none" strike="noStrike" cap="none">
                <a:solidFill>
                  <a:schemeClr val="dk1"/>
                </a:solidFill>
                <a:effectLst/>
                <a:latin typeface="Calibri"/>
                <a:ea typeface="Calibri"/>
                <a:cs typeface="Calibri"/>
                <a:sym typeface="Calibri"/>
              </a:rPr>
              <a:t>Bước 1: Sketching </a:t>
            </a:r>
            <a:endParaRPr lang="vi-VN" sz="1100" b="0">
              <a:effectLst/>
            </a:endParaRPr>
          </a:p>
          <a:p>
            <a:pPr rtl="0"/>
            <a:r>
              <a:rPr lang="vi-VN" sz="1100" b="0" i="0" u="none" strike="noStrike" cap="none">
                <a:solidFill>
                  <a:schemeClr val="dk1"/>
                </a:solidFill>
                <a:effectLst/>
                <a:latin typeface="Calibri"/>
                <a:ea typeface="Calibri"/>
                <a:cs typeface="Calibri"/>
                <a:sym typeface="Calibri"/>
              </a:rPr>
              <a:t>Thay vì đọc toàn bộ bộ gen, Minimap2 rút gọn bộ gen tham chiếu (Reference) và chuỗi truy vấn (Query) thành các </a:t>
            </a:r>
            <a:r>
              <a:rPr lang="vi-VN" sz="1100" b="1" i="0" u="none" strike="noStrike" cap="none">
                <a:solidFill>
                  <a:schemeClr val="dk1"/>
                </a:solidFill>
                <a:effectLst/>
                <a:latin typeface="Calibri"/>
                <a:ea typeface="Calibri"/>
                <a:cs typeface="Calibri"/>
                <a:sym typeface="Calibri"/>
              </a:rPr>
              <a:t>"bản phác thảo" (Sketches)</a:t>
            </a:r>
            <a:r>
              <a:rPr lang="vi-VN" sz="1100" b="0" i="0" u="none" strike="noStrike" cap="none">
                <a:solidFill>
                  <a:schemeClr val="dk1"/>
                </a:solidFill>
                <a:effectLst/>
                <a:latin typeface="Calibri"/>
                <a:ea typeface="Calibri"/>
                <a:cs typeface="Calibri"/>
                <a:sym typeface="Calibri"/>
              </a:rPr>
              <a:t>.</a:t>
            </a:r>
            <a:endParaRPr lang="vi-VN" sz="1100" b="0">
              <a:effectLst/>
            </a:endParaRPr>
          </a:p>
          <a:p>
            <a:pPr rtl="0" fontAlgn="base"/>
            <a:r>
              <a:rPr lang="vi-VN" sz="1100" b="0" i="0" u="none" strike="noStrike" cap="none">
                <a:solidFill>
                  <a:schemeClr val="dk1"/>
                </a:solidFill>
                <a:effectLst/>
                <a:latin typeface="Calibri"/>
                <a:ea typeface="Calibri"/>
                <a:cs typeface="Calibri"/>
                <a:sym typeface="Calibri"/>
              </a:rPr>
              <a:t>Nó trượt một cửa sổ kích thước $w$ trên chuỗi. Tại mỗi cửa sổ, nó quy đổi tất cả các $k$-mers thành số nguyên, chạy qua hàm băm, và chỉ giữ lại số nguyên nhỏ nhất (Minimizer).</a:t>
            </a:r>
          </a:p>
          <a:p>
            <a:pPr rtl="0" fontAlgn="base"/>
            <a:r>
              <a:rPr lang="vi-VN" sz="1100" b="1" i="0" u="none" strike="noStrike" cap="none">
                <a:solidFill>
                  <a:schemeClr val="dk1"/>
                </a:solidFill>
                <a:effectLst/>
                <a:latin typeface="Calibri"/>
                <a:ea typeface="Calibri"/>
                <a:cs typeface="Calibri"/>
                <a:sym typeface="Calibri"/>
              </a:rPr>
              <a:t>Tác dụng của hàm băm lúc này:</a:t>
            </a:r>
            <a:r>
              <a:rPr lang="vi-VN" sz="1100" b="0" i="0" u="none" strike="noStrike" cap="none">
                <a:solidFill>
                  <a:schemeClr val="dk1"/>
                </a:solidFill>
                <a:effectLst/>
                <a:latin typeface="Calibri"/>
                <a:ea typeface="Calibri"/>
                <a:cs typeface="Calibri"/>
                <a:sym typeface="Calibri"/>
              </a:rPr>
              <a:t> Nhờ tính chất phân phối đều giả ngẫu nhiên (như phân tích AAA vs GTC ở trên), các minimizers được phân bố rải rác một cách cực kỳ đồng đều đặn dọc theo bộ gen. Nó không bị dồn cục tại các vùng lặp (low-complexity regions), giúp Hash Table cân bằng, ngăn chặn tình trạng truy xuất $O(N)$ tồi tệ nhất tại các bucket bị phình to.</a:t>
            </a:r>
          </a:p>
          <a:p>
            <a:pPr rtl="0"/>
            <a:r>
              <a:rPr lang="vi-VN" sz="1100" b="0" i="0" u="none" strike="noStrike" cap="none">
                <a:solidFill>
                  <a:schemeClr val="dk1"/>
                </a:solidFill>
                <a:effectLst/>
                <a:latin typeface="Calibri"/>
                <a:ea typeface="Calibri"/>
                <a:cs typeface="Calibri"/>
                <a:sym typeface="Calibri"/>
              </a:rPr>
              <a:t>Ví dụ, trong công cụ Minimap2 (Li, 2018), chuỗi DNA đầu tiên được chuyển thành hệ cơ số nhị phân (A=00, C=01, G=10, T=11) để tạo thành một số nguyên $x$. Sau đó áp dụng hàm băm Thomas Wang (hoặc tương tự) chứa các phép toán bitwise và XOR:</a:t>
            </a:r>
            <a:endParaRPr lang="vi-VN" sz="1100" b="0">
              <a:effectLst/>
            </a:endParaRPr>
          </a:p>
          <a:p>
            <a:pPr rtl="0"/>
            <a:r>
              <a:rPr lang="vi-VN" sz="1100" b="0" i="0" u="none" strike="noStrike" cap="none">
                <a:solidFill>
                  <a:schemeClr val="dk1"/>
                </a:solidFill>
                <a:effectLst/>
                <a:latin typeface="Calibri"/>
                <a:ea typeface="Calibri"/>
                <a:cs typeface="Calibri"/>
                <a:sym typeface="Calibri"/>
              </a:rPr>
              <a:t>Nhờ hàm băm này, một chuỗi AAA (giá trị nhị phân rất nhỏ) có thể bị băm thành một số nguyên cực lớn, trong khi GTC lại có thể ra số rất nhỏ. Việc gán giá trị "ngẫu nhiên giả" này giúp các minimizers được phân bố đồng đều (uniform distribution) trên toàn bộ chiều dài bộ gen.</a:t>
            </a:r>
            <a:endParaRPr lang="vi-VN" sz="1100" b="0">
              <a:effectLst/>
            </a:endParaRPr>
          </a:p>
          <a:p>
            <a:pPr rtl="0"/>
            <a:r>
              <a:rPr lang="vi-VN" sz="1100" b="0" i="0" u="none" strike="noStrike" cap="none">
                <a:solidFill>
                  <a:schemeClr val="dk1"/>
                </a:solidFill>
                <a:effectLst/>
                <a:latin typeface="Calibri"/>
                <a:ea typeface="Calibri"/>
                <a:cs typeface="Calibri"/>
                <a:sym typeface="Calibri"/>
              </a:rPr>
              <a:t>=&gt; 3 lý do</a:t>
            </a:r>
            <a:endParaRPr lang="vi-VN" sz="1100" b="0">
              <a:effectLst/>
            </a:endParaRPr>
          </a:p>
          <a:p>
            <a:pPr rtl="0" fontAlgn="base"/>
            <a:r>
              <a:rPr lang="vi-VN" sz="1100" b="0" i="0" u="none" strike="noStrike" cap="none">
                <a:solidFill>
                  <a:schemeClr val="dk1"/>
                </a:solidFill>
                <a:effectLst/>
                <a:latin typeface="Calibri"/>
                <a:ea typeface="Calibri"/>
                <a:cs typeface="Calibri"/>
                <a:sym typeface="Calibri"/>
              </a:rPr>
              <a:t>Tránh dồn cục (bucket hash quá to nếu dùng thứ tự từ điển ATGC) ở các vùng lặp lại</a:t>
            </a:r>
          </a:p>
          <a:p>
            <a:pPr rtl="0" fontAlgn="base"/>
            <a:r>
              <a:rPr lang="vi-VN" sz="1100" b="0" i="0" u="none" strike="noStrike" cap="none">
                <a:solidFill>
                  <a:schemeClr val="dk1"/>
                </a:solidFill>
                <a:effectLst/>
                <a:latin typeface="Calibri"/>
                <a:ea typeface="Calibri"/>
                <a:cs typeface="Calibri"/>
                <a:sym typeface="Calibri"/>
              </a:rPr>
              <a:t>Tính khả nghịch (dùng XOR và bit SHIFT &gt;&gt;) =&gt; không cần lưu trữ chuỗi DNA dưới dạng text mà chỉ cần số tương ứng với sketch đã băm</a:t>
            </a:r>
          </a:p>
          <a:p>
            <a:pPr rtl="0" fontAlgn="base"/>
            <a:r>
              <a:rPr lang="vi-VN" sz="1100" b="0" i="0" u="none" strike="noStrike" cap="none">
                <a:solidFill>
                  <a:schemeClr val="dk1"/>
                </a:solidFill>
                <a:effectLst/>
                <a:latin typeface="Calibri"/>
                <a:ea typeface="Calibri"/>
                <a:cs typeface="Calibri"/>
                <a:sym typeface="Calibri"/>
              </a:rPr>
              <a:t>Tối ưu ở tầng vật lý với các toán tử bit shift và xor </a:t>
            </a:r>
          </a:p>
          <a:p>
            <a:pPr rtl="0"/>
            <a:r>
              <a:rPr lang="vi-VN" sz="1100" b="1" i="0" u="none" strike="noStrike" cap="none">
                <a:solidFill>
                  <a:schemeClr val="dk1"/>
                </a:solidFill>
                <a:effectLst/>
                <a:latin typeface="Calibri"/>
                <a:ea typeface="Calibri"/>
                <a:cs typeface="Calibri"/>
                <a:sym typeface="Calibri"/>
              </a:rPr>
              <a:t>Bước 2: Seeding (Tìm điểm khớp</a:t>
            </a:r>
            <a:r>
              <a:rPr lang="vi-VN" sz="1100" b="0" i="0" u="none" strike="noStrike" cap="none">
                <a:solidFill>
                  <a:schemeClr val="dk1"/>
                </a:solidFill>
                <a:effectLst/>
                <a:latin typeface="Calibri"/>
                <a:ea typeface="Calibri"/>
                <a:cs typeface="Calibri"/>
                <a:sym typeface="Calibri"/>
              </a:rPr>
              <a:t>)</a:t>
            </a:r>
            <a:endParaRPr lang="vi-VN" sz="1100" b="0">
              <a:effectLst/>
            </a:endParaRPr>
          </a:p>
          <a:p>
            <a:pPr rtl="0"/>
            <a:r>
              <a:rPr lang="vi-VN" sz="1100" b="0" i="0" u="none" strike="noStrike" cap="none">
                <a:solidFill>
                  <a:schemeClr val="dk1"/>
                </a:solidFill>
                <a:effectLst/>
                <a:latin typeface="Calibri"/>
                <a:ea typeface="Calibri"/>
                <a:cs typeface="Calibri"/>
                <a:sym typeface="Calibri"/>
              </a:rPr>
              <a:t>Chuỗi Query sau khi được "sketch" sẽ lấy các minimizers của mình tra cứu vào Bảng băm của Reference. Mỗi lần tra cứu thành công, ta có một điểm neo (Anchor).</a:t>
            </a:r>
            <a:endParaRPr lang="vi-VN" sz="1100" b="0">
              <a:effectLst/>
            </a:endParaRPr>
          </a:p>
          <a:p>
            <a:pPr rtl="0"/>
            <a:r>
              <a:rPr lang="vi-VN" sz="1100" b="0" i="0" u="none" strike="noStrike" cap="none">
                <a:solidFill>
                  <a:schemeClr val="dk1"/>
                </a:solidFill>
                <a:effectLst/>
                <a:latin typeface="Calibri"/>
                <a:ea typeface="Calibri"/>
                <a:cs typeface="Calibri"/>
                <a:sym typeface="Calibri"/>
              </a:rPr>
              <a:t>Vì dữ liệu Long-read có rất nhiều lỗi (mismatches/indels), một chuỗi dài $10,000$ bp có thể có hàng trăm đột biến. Tuy nhiên, nhờ lấy mẫu bằng cửa sổ $w$, Minimap2 đảm bảo rằng </a:t>
            </a:r>
            <a:r>
              <a:rPr lang="vi-VN" sz="1100" b="1" i="0" u="none" strike="noStrike" cap="none">
                <a:solidFill>
                  <a:schemeClr val="dk1"/>
                </a:solidFill>
                <a:effectLst/>
                <a:latin typeface="Calibri"/>
                <a:ea typeface="Calibri"/>
                <a:cs typeface="Calibri"/>
                <a:sym typeface="Calibri"/>
              </a:rPr>
              <a:t>chỉ cần có một đoạn DNA ngắn nguyên vẹn giữa hai vị trí lỗi</a:t>
            </a:r>
            <a:r>
              <a:rPr lang="vi-VN" sz="1100" b="0" i="0" u="none" strike="noStrike" cap="none">
                <a:solidFill>
                  <a:schemeClr val="dk1"/>
                </a:solidFill>
                <a:effectLst/>
                <a:latin typeface="Calibri"/>
                <a:ea typeface="Calibri"/>
                <a:cs typeface="Calibri"/>
                <a:sym typeface="Calibri"/>
              </a:rPr>
              <a:t>, thuật toán chắc chắn sẽ bám được ít nhất một minimizer chung.</a:t>
            </a:r>
            <a:endParaRPr lang="vi-VN" sz="1100" b="0">
              <a:effectLst/>
            </a:endParaRPr>
          </a:p>
          <a:p>
            <a:pPr rtl="0"/>
            <a:r>
              <a:rPr lang="vi-VN" sz="1100" b="0" i="0" u="none" strike="noStrike" cap="none">
                <a:solidFill>
                  <a:schemeClr val="dk1"/>
                </a:solidFill>
                <a:effectLst/>
                <a:latin typeface="Calibri"/>
                <a:ea typeface="Calibri"/>
                <a:cs typeface="Calibri"/>
                <a:sym typeface="Calibri"/>
              </a:rPr>
              <a:t>Bước 3: Chaining (Quy hoạch động trên trục Minimizer)</a:t>
            </a:r>
            <a:endParaRPr lang="vi-VN" sz="1100" b="0">
              <a:effectLst/>
            </a:endParaRPr>
          </a:p>
          <a:p>
            <a:pPr rtl="0"/>
            <a:r>
              <a:rPr lang="vi-VN" sz="1100" b="0" i="0" u="none" strike="noStrike" cap="none">
                <a:solidFill>
                  <a:schemeClr val="dk1"/>
                </a:solidFill>
                <a:effectLst/>
                <a:latin typeface="Calibri"/>
                <a:ea typeface="Calibri"/>
                <a:cs typeface="Calibri"/>
                <a:sym typeface="Calibri"/>
              </a:rPr>
              <a:t>Đây là bước làm nên tên tuổi của Minimap2. Sau bước 2, hệ thống thu được một tập hợp các điểm neo rải rác. Vấn đề là: một số điểm neo là nhiễu ngẫu nhiên.</a:t>
            </a:r>
            <a:endParaRPr lang="vi-VN" sz="1100" b="0">
              <a:effectLst/>
            </a:endParaRPr>
          </a:p>
          <a:p>
            <a:pPr rtl="0" fontAlgn="base"/>
            <a:r>
              <a:rPr lang="vi-VN" sz="1100" b="0" i="0" u="none" strike="noStrike" cap="none">
                <a:solidFill>
                  <a:schemeClr val="dk1"/>
                </a:solidFill>
                <a:effectLst/>
                <a:latin typeface="Calibri"/>
                <a:ea typeface="Calibri"/>
                <a:cs typeface="Calibri"/>
                <a:sym typeface="Calibri"/>
              </a:rPr>
              <a:t>Minimap2 không chạy Quy hoạch động (như Smith-Waterman) trên từng ký tự DNA (rất chậm).</a:t>
            </a:r>
          </a:p>
          <a:p>
            <a:pPr rtl="0" fontAlgn="base"/>
            <a:r>
              <a:rPr lang="vi-VN" sz="1100" b="0" i="0" u="none" strike="noStrike" cap="none">
                <a:solidFill>
                  <a:schemeClr val="dk1"/>
                </a:solidFill>
                <a:effectLst/>
                <a:latin typeface="Calibri"/>
                <a:ea typeface="Calibri"/>
                <a:cs typeface="Calibri"/>
                <a:sym typeface="Calibri"/>
              </a:rPr>
              <a:t>Thay vào đó, nó </a:t>
            </a:r>
            <a:r>
              <a:rPr lang="vi-VN" sz="1100" b="1" i="0" u="none" strike="noStrike" cap="none">
                <a:solidFill>
                  <a:schemeClr val="dk1"/>
                </a:solidFill>
                <a:effectLst/>
                <a:latin typeface="Calibri"/>
                <a:ea typeface="Calibri"/>
                <a:cs typeface="Calibri"/>
                <a:sym typeface="Calibri"/>
              </a:rPr>
              <a:t>chạy Quy hoạch động trên chính các Minimizers</a:t>
            </a:r>
            <a:r>
              <a:rPr lang="vi-VN" sz="1100" b="0" i="0" u="none" strike="noStrike" cap="none">
                <a:solidFill>
                  <a:schemeClr val="dk1"/>
                </a:solidFill>
                <a:effectLst/>
                <a:latin typeface="Calibri"/>
                <a:ea typeface="Calibri"/>
                <a:cs typeface="Calibri"/>
                <a:sym typeface="Calibri"/>
              </a:rPr>
              <a:t>. Nó tìm một đường đi tối ưu nối các minimizers lại với nhau (Chaining). Hai minimizers được nối nếu chúng xuất hiện theo cùng một thứ tự trên cả Query và Reference (tính đồng tuyến - collinearity) và khoảng cách giữa chúng không quá lớn.</a:t>
            </a:r>
          </a:p>
          <a:p>
            <a:pPr rtl="0" fontAlgn="base"/>
            <a:r>
              <a:rPr lang="vi-VN" sz="1100" b="0" i="0" u="none" strike="noStrike" cap="none">
                <a:solidFill>
                  <a:schemeClr val="dk1"/>
                </a:solidFill>
                <a:effectLst/>
                <a:latin typeface="Calibri"/>
                <a:ea typeface="Calibri"/>
                <a:cs typeface="Calibri"/>
                <a:sym typeface="Calibri"/>
              </a:rPr>
              <a:t>Bước này lọc bỏ &gt;99% dữ liệu rác chỉ trong vài phần nghìn giây</a:t>
            </a:r>
          </a:p>
          <a:p>
            <a:pPr rtl="0"/>
            <a:r>
              <a:rPr lang="vi-VN" sz="1100" b="1" i="0" u="none" strike="noStrike" cap="none">
                <a:solidFill>
                  <a:schemeClr val="dk1"/>
                </a:solidFill>
                <a:effectLst/>
                <a:latin typeface="Calibri"/>
                <a:ea typeface="Calibri"/>
                <a:cs typeface="Calibri"/>
                <a:sym typeface="Calibri"/>
              </a:rPr>
              <a:t>Bước 4: Base-level Alignment (So hàng ký tự chi tiết)</a:t>
            </a:r>
            <a:endParaRPr lang="vi-VN" sz="1100" b="0">
              <a:effectLst/>
            </a:endParaRPr>
          </a:p>
          <a:p>
            <a:pPr rtl="0"/>
            <a:r>
              <a:rPr lang="vi-VN" sz="1100" b="0" i="0" u="none" strike="noStrike" cap="none">
                <a:solidFill>
                  <a:schemeClr val="dk1"/>
                </a:solidFill>
                <a:effectLst/>
                <a:latin typeface="Calibri"/>
                <a:ea typeface="Calibri"/>
                <a:cs typeface="Calibri"/>
                <a:sym typeface="Calibri"/>
              </a:rPr>
              <a:t>Sau khi có một "sợi xích" (Chain) các minimizers chuẩn xác trải dài trên hàng ngàn ký tự, bước cuối cùng là trám các khoảng trống giữa các hạt giống. Lúc này, Minimap2 mới kích hoạt thuật toán Quy hoạch động (S.W) truyền thống, nhưng chỉ chạy trong một dải băng hẹp (banded DP) giữa 2 minimizer cạnh nhau. Hơn nữa, nó tối ưu bằng tập lệnh SIMD (SSE/AVX) trên CPU để chạy song song</a:t>
            </a:r>
            <a:endParaRPr lang="vi-VN" sz="1100" b="0">
              <a:effectLst/>
            </a:endParaRPr>
          </a:p>
          <a:p>
            <a:br>
              <a:rPr lang="vi-VN" sz="1100"/>
            </a:br>
            <a:endParaRPr lang="vi-VN" sz="1100"/>
          </a:p>
        </p:txBody>
      </p:sp>
      <p:sp>
        <p:nvSpPr>
          <p:cNvPr id="132" name="Google Shape;132;p3:notes">
            <a:extLst>
              <a:ext uri="{FF2B5EF4-FFF2-40B4-BE49-F238E27FC236}">
                <a16:creationId xmlns:a16="http://schemas.microsoft.com/office/drawing/2014/main" id="{BA499B02-5590-BB47-4735-23ECCD911EBA}"/>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7E94801D-3456-2E84-8393-AC75999E4665}"/>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031458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8ECB4F9-0EB8-142D-6D3C-ED08CEA668C2}"/>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DC6A9992-0D12-4919-1B29-1C62CD1E3A99}"/>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AE4232D3-B7D5-F030-9A69-AD57C06DA07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rtl="0"/>
            <a:r>
              <a:rPr lang="vi-VN" sz="1200" b="1" i="0" u="none" strike="noStrike" cap="none">
                <a:solidFill>
                  <a:schemeClr val="dk1"/>
                </a:solidFill>
                <a:effectLst/>
                <a:latin typeface="Calibri"/>
                <a:ea typeface="Calibri"/>
                <a:cs typeface="Calibri"/>
                <a:sym typeface="Calibri"/>
              </a:rPr>
              <a:t>Bước 1: Thêm ký tự kết thúc</a:t>
            </a:r>
            <a:endParaRPr lang="vi-VN" b="0">
              <a:effectLst/>
            </a:endParaRPr>
          </a:p>
          <a:p>
            <a:pPr rtl="0"/>
            <a:r>
              <a:rPr lang="vi-VN" sz="1200" b="0" i="0" u="none" strike="noStrike" cap="none">
                <a:solidFill>
                  <a:schemeClr val="dk1"/>
                </a:solidFill>
                <a:effectLst/>
                <a:latin typeface="Calibri"/>
                <a:ea typeface="Calibri"/>
                <a:cs typeface="Calibri"/>
                <a:sym typeface="Calibri"/>
              </a:rPr>
              <a:t>Ta thêm dấu $ vào cuối chuỗi: GACA$. Ký tự $ được quy ước là ký tự nhỏ nhất theo thứ tự từ điển (nhỏ hơn A, C, G, T).</a:t>
            </a:r>
            <a:endParaRPr lang="vi-VN" b="0">
              <a:effectLst/>
            </a:endParaRPr>
          </a:p>
          <a:p>
            <a:pPr rtl="0"/>
            <a:r>
              <a:rPr lang="vi-VN" sz="1200" b="1" i="0" u="none" strike="noStrike" cap="none">
                <a:solidFill>
                  <a:schemeClr val="dk1"/>
                </a:solidFill>
                <a:effectLst/>
                <a:latin typeface="Calibri"/>
                <a:ea typeface="Calibri"/>
                <a:cs typeface="Calibri"/>
                <a:sym typeface="Calibri"/>
              </a:rPr>
              <a:t>Bước 2: Tạo ma trận vòng (Cyclic Rotations)</a:t>
            </a:r>
            <a:endParaRPr lang="vi-VN" b="0">
              <a:effectLst/>
            </a:endParaRPr>
          </a:p>
          <a:p>
            <a:pPr rtl="0"/>
            <a:r>
              <a:rPr lang="vi-VN" sz="1200" b="0" i="0" u="none" strike="noStrike" cap="none">
                <a:solidFill>
                  <a:schemeClr val="dk1"/>
                </a:solidFill>
                <a:effectLst/>
                <a:latin typeface="Calibri"/>
                <a:ea typeface="Calibri"/>
                <a:cs typeface="Calibri"/>
                <a:sym typeface="Calibri"/>
              </a:rPr>
              <a:t>Tạo ra tất cả các hoán vị vòng tròn của chuỗi này (đẩy ký tự cuối lên đầu):</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GACA$</a:t>
            </a:r>
          </a:p>
          <a:p>
            <a:pPr rtl="0" fontAlgn="base"/>
            <a:r>
              <a:rPr lang="vi-VN" sz="1200" b="0" i="0" u="none" strike="noStrike" cap="none">
                <a:solidFill>
                  <a:schemeClr val="dk1"/>
                </a:solidFill>
                <a:effectLst/>
                <a:latin typeface="Calibri"/>
                <a:ea typeface="Calibri"/>
                <a:cs typeface="Calibri"/>
                <a:sym typeface="Calibri"/>
              </a:rPr>
              <a:t>$GACA</a:t>
            </a:r>
          </a:p>
          <a:p>
            <a:pPr rtl="0" fontAlgn="base"/>
            <a:r>
              <a:rPr lang="vi-VN" sz="1200" b="0" i="0" u="none" strike="noStrike" cap="none">
                <a:solidFill>
                  <a:schemeClr val="dk1"/>
                </a:solidFill>
                <a:effectLst/>
                <a:latin typeface="Calibri"/>
                <a:ea typeface="Calibri"/>
                <a:cs typeface="Calibri"/>
                <a:sym typeface="Calibri"/>
              </a:rPr>
              <a:t>A$GAC</a:t>
            </a:r>
          </a:p>
          <a:p>
            <a:pPr rtl="0" fontAlgn="base"/>
            <a:r>
              <a:rPr lang="vi-VN" sz="1200" b="0" i="0" u="none" strike="noStrike" cap="none">
                <a:solidFill>
                  <a:schemeClr val="dk1"/>
                </a:solidFill>
                <a:effectLst/>
                <a:latin typeface="Calibri"/>
                <a:ea typeface="Calibri"/>
                <a:cs typeface="Calibri"/>
                <a:sym typeface="Calibri"/>
              </a:rPr>
              <a:t>CA$GA</a:t>
            </a:r>
          </a:p>
          <a:p>
            <a:pPr rtl="0" fontAlgn="base"/>
            <a:r>
              <a:rPr lang="vi-VN" sz="1200" b="0" i="0" u="none" strike="noStrike" cap="none">
                <a:solidFill>
                  <a:schemeClr val="dk1"/>
                </a:solidFill>
                <a:effectLst/>
                <a:latin typeface="Calibri"/>
                <a:ea typeface="Calibri"/>
                <a:cs typeface="Calibri"/>
                <a:sym typeface="Calibri"/>
              </a:rPr>
              <a:t>ACA$G</a:t>
            </a:r>
          </a:p>
          <a:p>
            <a:pPr rtl="0"/>
            <a:r>
              <a:rPr lang="vi-VN" sz="1200" b="1" i="0" u="none" strike="noStrike" cap="none">
                <a:solidFill>
                  <a:schemeClr val="dk1"/>
                </a:solidFill>
                <a:effectLst/>
                <a:latin typeface="Calibri"/>
                <a:ea typeface="Calibri"/>
                <a:cs typeface="Calibri"/>
                <a:sym typeface="Calibri"/>
              </a:rPr>
              <a:t>Bước 3: Sắp xếp theo từ điển (Lexicographical Sort)</a:t>
            </a:r>
            <a:endParaRPr lang="vi-VN" b="0">
              <a:effectLst/>
            </a:endParaRPr>
          </a:p>
          <a:p>
            <a:pPr rtl="0"/>
            <a:r>
              <a:rPr lang="vi-VN" sz="1200" b="0" i="0" u="none" strike="noStrike" cap="none">
                <a:solidFill>
                  <a:schemeClr val="dk1"/>
                </a:solidFill>
                <a:effectLst/>
                <a:latin typeface="Calibri"/>
                <a:ea typeface="Calibri"/>
                <a:cs typeface="Calibri"/>
                <a:sym typeface="Calibri"/>
              </a:rPr>
              <a:t>Đem 5 chuỗi trên sắp xếp theo thứ tự bảng chữ cái (nhớ rằng $ đứng đầu):</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$GACA</a:t>
            </a:r>
          </a:p>
          <a:p>
            <a:pPr rtl="0" fontAlgn="base"/>
            <a:r>
              <a:rPr lang="vi-VN" sz="1200" b="0" i="0" u="none" strike="noStrike" cap="none">
                <a:solidFill>
                  <a:schemeClr val="dk1"/>
                </a:solidFill>
                <a:effectLst/>
                <a:latin typeface="Calibri"/>
                <a:ea typeface="Calibri"/>
                <a:cs typeface="Calibri"/>
                <a:sym typeface="Calibri"/>
              </a:rPr>
              <a:t>A$GAC</a:t>
            </a:r>
          </a:p>
          <a:p>
            <a:pPr rtl="0" fontAlgn="base"/>
            <a:r>
              <a:rPr lang="vi-VN" sz="1200" b="0" i="0" u="none" strike="noStrike" cap="none">
                <a:solidFill>
                  <a:schemeClr val="dk1"/>
                </a:solidFill>
                <a:effectLst/>
                <a:latin typeface="Calibri"/>
                <a:ea typeface="Calibri"/>
                <a:cs typeface="Calibri"/>
                <a:sym typeface="Calibri"/>
              </a:rPr>
              <a:t>ACA$G</a:t>
            </a:r>
          </a:p>
          <a:p>
            <a:pPr rtl="0" fontAlgn="base"/>
            <a:r>
              <a:rPr lang="vi-VN" sz="1200" b="0" i="0" u="none" strike="noStrike" cap="none">
                <a:solidFill>
                  <a:schemeClr val="dk1"/>
                </a:solidFill>
                <a:effectLst/>
                <a:latin typeface="Calibri"/>
                <a:ea typeface="Calibri"/>
                <a:cs typeface="Calibri"/>
                <a:sym typeface="Calibri"/>
              </a:rPr>
              <a:t>CA$GA</a:t>
            </a:r>
          </a:p>
          <a:p>
            <a:pPr rtl="0" fontAlgn="base"/>
            <a:r>
              <a:rPr lang="vi-VN" sz="1200" b="0" i="0" u="none" strike="noStrike" cap="none">
                <a:solidFill>
                  <a:schemeClr val="dk1"/>
                </a:solidFill>
                <a:effectLst/>
                <a:latin typeface="Calibri"/>
                <a:ea typeface="Calibri"/>
                <a:cs typeface="Calibri"/>
                <a:sym typeface="Calibri"/>
              </a:rPr>
              <a:t>GACA$</a:t>
            </a:r>
          </a:p>
          <a:p>
            <a:pPr rtl="0"/>
            <a:r>
              <a:rPr lang="vi-VN" sz="1200" b="1" i="0" u="none" strike="noStrike" cap="none">
                <a:solidFill>
                  <a:schemeClr val="dk1"/>
                </a:solidFill>
                <a:effectLst/>
                <a:latin typeface="Calibri"/>
                <a:ea typeface="Calibri"/>
                <a:cs typeface="Calibri"/>
                <a:sym typeface="Calibri"/>
              </a:rPr>
              <a:t>Bước 4: Trích xuất BWT</a:t>
            </a:r>
            <a:endParaRPr lang="vi-VN" b="0">
              <a:effectLst/>
            </a:endParaRPr>
          </a:p>
          <a:p>
            <a:pPr rtl="0"/>
            <a:r>
              <a:rPr lang="vi-VN" sz="1200" b="0" i="0" u="none" strike="noStrike" cap="none">
                <a:solidFill>
                  <a:schemeClr val="dk1"/>
                </a:solidFill>
                <a:effectLst/>
                <a:latin typeface="Calibri"/>
                <a:ea typeface="Calibri"/>
                <a:cs typeface="Calibri"/>
                <a:sym typeface="Calibri"/>
              </a:rPr>
              <a:t>Lúc này, bạn hãy nhìn vào ma trận vừa được sắp xếp.</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Cột đầu tiên được gọi là </a:t>
            </a:r>
            <a:r>
              <a:rPr lang="vi-VN" sz="1200" b="1" i="0" u="none" strike="noStrike" cap="none">
                <a:solidFill>
                  <a:schemeClr val="dk1"/>
                </a:solidFill>
                <a:effectLst/>
                <a:latin typeface="Calibri"/>
                <a:ea typeface="Calibri"/>
                <a:cs typeface="Calibri"/>
                <a:sym typeface="Calibri"/>
              </a:rPr>
              <a:t>F (First)</a:t>
            </a:r>
            <a:r>
              <a:rPr lang="vi-VN" sz="1200" b="0" i="0" u="none" strike="noStrike" cap="none">
                <a:solidFill>
                  <a:schemeClr val="dk1"/>
                </a:solidFill>
                <a:effectLst/>
                <a:latin typeface="Calibri"/>
                <a:ea typeface="Calibri"/>
                <a:cs typeface="Calibri"/>
                <a:sym typeface="Calibri"/>
              </a:rPr>
              <a:t>: $AACG.</a:t>
            </a:r>
          </a:p>
          <a:p>
            <a:pPr rtl="0" fontAlgn="base"/>
            <a:r>
              <a:rPr lang="vi-VN" sz="1200" b="0" i="0" u="none" strike="noStrike" cap="none">
                <a:solidFill>
                  <a:schemeClr val="dk1"/>
                </a:solidFill>
                <a:effectLst/>
                <a:latin typeface="Calibri"/>
                <a:ea typeface="Calibri"/>
                <a:cs typeface="Calibri"/>
                <a:sym typeface="Calibri"/>
              </a:rPr>
              <a:t>Cột cuối cùng được gọi là </a:t>
            </a:r>
            <a:r>
              <a:rPr lang="vi-VN" sz="1200" b="1" i="0" u="none" strike="noStrike" cap="none">
                <a:solidFill>
                  <a:schemeClr val="dk1"/>
                </a:solidFill>
                <a:effectLst/>
                <a:latin typeface="Calibri"/>
                <a:ea typeface="Calibri"/>
                <a:cs typeface="Calibri"/>
                <a:sym typeface="Calibri"/>
              </a:rPr>
              <a:t>L (Last)</a:t>
            </a:r>
            <a:r>
              <a:rPr lang="vi-VN" sz="1200" b="0" i="0" u="none" strike="noStrike" cap="none">
                <a:solidFill>
                  <a:schemeClr val="dk1"/>
                </a:solidFill>
                <a:effectLst/>
                <a:latin typeface="Calibri"/>
                <a:ea typeface="Calibri"/>
                <a:cs typeface="Calibri"/>
                <a:sym typeface="Calibri"/>
              </a:rPr>
              <a:t>: ACC$A.</a:t>
            </a:r>
          </a:p>
          <a:p>
            <a:r>
              <a:rPr lang="vi-VN" sz="1200" b="0" i="0" u="none" strike="noStrike" cap="none">
                <a:solidFill>
                  <a:schemeClr val="dk1"/>
                </a:solidFill>
                <a:effectLst/>
                <a:latin typeface="Calibri"/>
                <a:ea typeface="Calibri"/>
                <a:cs typeface="Calibri"/>
                <a:sym typeface="Calibri"/>
              </a:rPr>
              <a:t>Chuỗi </a:t>
            </a:r>
            <a:r>
              <a:rPr lang="vi-VN" sz="1200" b="1" i="0" u="none" strike="noStrike" cap="none">
                <a:solidFill>
                  <a:schemeClr val="dk1"/>
                </a:solidFill>
                <a:effectLst/>
                <a:latin typeface="Calibri"/>
                <a:ea typeface="Calibri"/>
                <a:cs typeface="Calibri"/>
                <a:sym typeface="Calibri"/>
              </a:rPr>
              <a:t>L (ACC$A)</a:t>
            </a:r>
            <a:r>
              <a:rPr lang="vi-VN" sz="1200" b="0" i="0" u="none" strike="noStrike" cap="none">
                <a:solidFill>
                  <a:schemeClr val="dk1"/>
                </a:solidFill>
                <a:effectLst/>
                <a:latin typeface="Calibri"/>
                <a:ea typeface="Calibri"/>
                <a:cs typeface="Calibri"/>
                <a:sym typeface="Calibri"/>
              </a:rPr>
              <a:t> chính là chuỗi BWT của GACA$. Máy tính sẽ ném bỏ toàn bộ ma trận khổng lồ kia và chỉ lưu lại chuỗi L này (để nén dữ liệu).</a:t>
            </a:r>
            <a:endParaRPr lang="vi-VN"/>
          </a:p>
        </p:txBody>
      </p:sp>
      <p:sp>
        <p:nvSpPr>
          <p:cNvPr id="132" name="Google Shape;132;p3:notes">
            <a:extLst>
              <a:ext uri="{FF2B5EF4-FFF2-40B4-BE49-F238E27FC236}">
                <a16:creationId xmlns:a16="http://schemas.microsoft.com/office/drawing/2014/main" id="{D2CD91A0-DB85-97DF-2333-05F25868B529}"/>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394548B9-DB98-B23E-2A23-1FC429F335DE}"/>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1962612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B316A60-4DFB-D5EF-BAC5-9101335C4636}"/>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274631B4-6BEF-8624-57C8-74229F924E7F}"/>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3DD513CF-A49E-AE79-64B5-BA002AFD3F5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rtl="0"/>
            <a:r>
              <a:rPr lang="vi-VN" sz="1200" b="1" i="0" u="none" strike="noStrike" cap="none">
                <a:solidFill>
                  <a:schemeClr val="dk1"/>
                </a:solidFill>
                <a:effectLst/>
                <a:latin typeface="Calibri"/>
                <a:ea typeface="Calibri"/>
                <a:cs typeface="Calibri"/>
                <a:sym typeface="Calibri"/>
              </a:rPr>
              <a:t>Bước 1: Thêm ký tự kết thúc</a:t>
            </a:r>
            <a:endParaRPr lang="vi-VN" b="0">
              <a:effectLst/>
            </a:endParaRPr>
          </a:p>
          <a:p>
            <a:pPr rtl="0"/>
            <a:r>
              <a:rPr lang="vi-VN" sz="1200" b="0" i="0" u="none" strike="noStrike" cap="none">
                <a:solidFill>
                  <a:schemeClr val="dk1"/>
                </a:solidFill>
                <a:effectLst/>
                <a:latin typeface="Calibri"/>
                <a:ea typeface="Calibri"/>
                <a:cs typeface="Calibri"/>
                <a:sym typeface="Calibri"/>
              </a:rPr>
              <a:t>Ta thêm dấu $ vào cuối chuỗi: GACA$. Ký tự $ được quy ước là ký tự nhỏ nhất theo thứ tự từ điển (nhỏ hơn A, C, G, T).</a:t>
            </a:r>
            <a:endParaRPr lang="vi-VN" b="0">
              <a:effectLst/>
            </a:endParaRPr>
          </a:p>
          <a:p>
            <a:pPr rtl="0"/>
            <a:r>
              <a:rPr lang="vi-VN" sz="1200" b="1" i="0" u="none" strike="noStrike" cap="none">
                <a:solidFill>
                  <a:schemeClr val="dk1"/>
                </a:solidFill>
                <a:effectLst/>
                <a:latin typeface="Calibri"/>
                <a:ea typeface="Calibri"/>
                <a:cs typeface="Calibri"/>
                <a:sym typeface="Calibri"/>
              </a:rPr>
              <a:t>Bước 2: Tạo ma trận vòng (Cyclic Rotations)</a:t>
            </a:r>
            <a:endParaRPr lang="vi-VN" b="0">
              <a:effectLst/>
            </a:endParaRPr>
          </a:p>
          <a:p>
            <a:pPr rtl="0"/>
            <a:r>
              <a:rPr lang="vi-VN" sz="1200" b="0" i="0" u="none" strike="noStrike" cap="none">
                <a:solidFill>
                  <a:schemeClr val="dk1"/>
                </a:solidFill>
                <a:effectLst/>
                <a:latin typeface="Calibri"/>
                <a:ea typeface="Calibri"/>
                <a:cs typeface="Calibri"/>
                <a:sym typeface="Calibri"/>
              </a:rPr>
              <a:t>Tạo ra tất cả các hoán vị vòng tròn của chuỗi này (đẩy ký tự cuối lên đầu):</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GACA$</a:t>
            </a:r>
          </a:p>
          <a:p>
            <a:pPr rtl="0" fontAlgn="base"/>
            <a:r>
              <a:rPr lang="vi-VN" sz="1200" b="0" i="0" u="none" strike="noStrike" cap="none">
                <a:solidFill>
                  <a:schemeClr val="dk1"/>
                </a:solidFill>
                <a:effectLst/>
                <a:latin typeface="Calibri"/>
                <a:ea typeface="Calibri"/>
                <a:cs typeface="Calibri"/>
                <a:sym typeface="Calibri"/>
              </a:rPr>
              <a:t>$GACA</a:t>
            </a:r>
          </a:p>
          <a:p>
            <a:pPr rtl="0" fontAlgn="base"/>
            <a:r>
              <a:rPr lang="vi-VN" sz="1200" b="0" i="0" u="none" strike="noStrike" cap="none">
                <a:solidFill>
                  <a:schemeClr val="dk1"/>
                </a:solidFill>
                <a:effectLst/>
                <a:latin typeface="Calibri"/>
                <a:ea typeface="Calibri"/>
                <a:cs typeface="Calibri"/>
                <a:sym typeface="Calibri"/>
              </a:rPr>
              <a:t>A$GAC</a:t>
            </a:r>
          </a:p>
          <a:p>
            <a:pPr rtl="0" fontAlgn="base"/>
            <a:r>
              <a:rPr lang="vi-VN" sz="1200" b="0" i="0" u="none" strike="noStrike" cap="none">
                <a:solidFill>
                  <a:schemeClr val="dk1"/>
                </a:solidFill>
                <a:effectLst/>
                <a:latin typeface="Calibri"/>
                <a:ea typeface="Calibri"/>
                <a:cs typeface="Calibri"/>
                <a:sym typeface="Calibri"/>
              </a:rPr>
              <a:t>CA$GA</a:t>
            </a:r>
          </a:p>
          <a:p>
            <a:pPr rtl="0" fontAlgn="base"/>
            <a:r>
              <a:rPr lang="vi-VN" sz="1200" b="0" i="0" u="none" strike="noStrike" cap="none">
                <a:solidFill>
                  <a:schemeClr val="dk1"/>
                </a:solidFill>
                <a:effectLst/>
                <a:latin typeface="Calibri"/>
                <a:ea typeface="Calibri"/>
                <a:cs typeface="Calibri"/>
                <a:sym typeface="Calibri"/>
              </a:rPr>
              <a:t>ACA$G</a:t>
            </a:r>
          </a:p>
          <a:p>
            <a:pPr rtl="0"/>
            <a:r>
              <a:rPr lang="vi-VN" sz="1200" b="1" i="0" u="none" strike="noStrike" cap="none">
                <a:solidFill>
                  <a:schemeClr val="dk1"/>
                </a:solidFill>
                <a:effectLst/>
                <a:latin typeface="Calibri"/>
                <a:ea typeface="Calibri"/>
                <a:cs typeface="Calibri"/>
                <a:sym typeface="Calibri"/>
              </a:rPr>
              <a:t>Bước 3: Sắp xếp theo từ điển (Lexicographical Sort)</a:t>
            </a:r>
            <a:endParaRPr lang="vi-VN" b="0">
              <a:effectLst/>
            </a:endParaRPr>
          </a:p>
          <a:p>
            <a:pPr rtl="0"/>
            <a:r>
              <a:rPr lang="vi-VN" sz="1200" b="0" i="0" u="none" strike="noStrike" cap="none">
                <a:solidFill>
                  <a:schemeClr val="dk1"/>
                </a:solidFill>
                <a:effectLst/>
                <a:latin typeface="Calibri"/>
                <a:ea typeface="Calibri"/>
                <a:cs typeface="Calibri"/>
                <a:sym typeface="Calibri"/>
              </a:rPr>
              <a:t>Đem 5 chuỗi trên sắp xếp theo thứ tự bảng chữ cái (nhớ rằng $ đứng đầu):</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$GACA</a:t>
            </a:r>
          </a:p>
          <a:p>
            <a:pPr rtl="0" fontAlgn="base"/>
            <a:r>
              <a:rPr lang="vi-VN" sz="1200" b="0" i="0" u="none" strike="noStrike" cap="none">
                <a:solidFill>
                  <a:schemeClr val="dk1"/>
                </a:solidFill>
                <a:effectLst/>
                <a:latin typeface="Calibri"/>
                <a:ea typeface="Calibri"/>
                <a:cs typeface="Calibri"/>
                <a:sym typeface="Calibri"/>
              </a:rPr>
              <a:t>A$GAC</a:t>
            </a:r>
          </a:p>
          <a:p>
            <a:pPr rtl="0" fontAlgn="base"/>
            <a:r>
              <a:rPr lang="vi-VN" sz="1200" b="0" i="0" u="none" strike="noStrike" cap="none">
                <a:solidFill>
                  <a:schemeClr val="dk1"/>
                </a:solidFill>
                <a:effectLst/>
                <a:latin typeface="Calibri"/>
                <a:ea typeface="Calibri"/>
                <a:cs typeface="Calibri"/>
                <a:sym typeface="Calibri"/>
              </a:rPr>
              <a:t>ACA$G</a:t>
            </a:r>
          </a:p>
          <a:p>
            <a:pPr rtl="0" fontAlgn="base"/>
            <a:r>
              <a:rPr lang="vi-VN" sz="1200" b="0" i="0" u="none" strike="noStrike" cap="none">
                <a:solidFill>
                  <a:schemeClr val="dk1"/>
                </a:solidFill>
                <a:effectLst/>
                <a:latin typeface="Calibri"/>
                <a:ea typeface="Calibri"/>
                <a:cs typeface="Calibri"/>
                <a:sym typeface="Calibri"/>
              </a:rPr>
              <a:t>CA$GA</a:t>
            </a:r>
          </a:p>
          <a:p>
            <a:pPr rtl="0" fontAlgn="base"/>
            <a:r>
              <a:rPr lang="vi-VN" sz="1200" b="0" i="0" u="none" strike="noStrike" cap="none">
                <a:solidFill>
                  <a:schemeClr val="dk1"/>
                </a:solidFill>
                <a:effectLst/>
                <a:latin typeface="Calibri"/>
                <a:ea typeface="Calibri"/>
                <a:cs typeface="Calibri"/>
                <a:sym typeface="Calibri"/>
              </a:rPr>
              <a:t>GACA$</a:t>
            </a:r>
          </a:p>
          <a:p>
            <a:pPr rtl="0"/>
            <a:r>
              <a:rPr lang="vi-VN" sz="1200" b="1" i="0" u="none" strike="noStrike" cap="none">
                <a:solidFill>
                  <a:schemeClr val="dk1"/>
                </a:solidFill>
                <a:effectLst/>
                <a:latin typeface="Calibri"/>
                <a:ea typeface="Calibri"/>
                <a:cs typeface="Calibri"/>
                <a:sym typeface="Calibri"/>
              </a:rPr>
              <a:t>Bước 4: Trích xuất BWT</a:t>
            </a:r>
            <a:endParaRPr lang="vi-VN" b="0">
              <a:effectLst/>
            </a:endParaRPr>
          </a:p>
          <a:p>
            <a:pPr rtl="0"/>
            <a:r>
              <a:rPr lang="vi-VN" sz="1200" b="0" i="0" u="none" strike="noStrike" cap="none">
                <a:solidFill>
                  <a:schemeClr val="dk1"/>
                </a:solidFill>
                <a:effectLst/>
                <a:latin typeface="Calibri"/>
                <a:ea typeface="Calibri"/>
                <a:cs typeface="Calibri"/>
                <a:sym typeface="Calibri"/>
              </a:rPr>
              <a:t>Lúc này, bạn hãy nhìn vào ma trận vừa được sắp xếp.</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Cột đầu tiên được gọi là </a:t>
            </a:r>
            <a:r>
              <a:rPr lang="vi-VN" sz="1200" b="1" i="0" u="none" strike="noStrike" cap="none">
                <a:solidFill>
                  <a:schemeClr val="dk1"/>
                </a:solidFill>
                <a:effectLst/>
                <a:latin typeface="Calibri"/>
                <a:ea typeface="Calibri"/>
                <a:cs typeface="Calibri"/>
                <a:sym typeface="Calibri"/>
              </a:rPr>
              <a:t>F (First)</a:t>
            </a:r>
            <a:r>
              <a:rPr lang="vi-VN" sz="1200" b="0" i="0" u="none" strike="noStrike" cap="none">
                <a:solidFill>
                  <a:schemeClr val="dk1"/>
                </a:solidFill>
                <a:effectLst/>
                <a:latin typeface="Calibri"/>
                <a:ea typeface="Calibri"/>
                <a:cs typeface="Calibri"/>
                <a:sym typeface="Calibri"/>
              </a:rPr>
              <a:t>: $AACG.</a:t>
            </a:r>
          </a:p>
          <a:p>
            <a:pPr rtl="0" fontAlgn="base"/>
            <a:r>
              <a:rPr lang="vi-VN" sz="1200" b="0" i="0" u="none" strike="noStrike" cap="none">
                <a:solidFill>
                  <a:schemeClr val="dk1"/>
                </a:solidFill>
                <a:effectLst/>
                <a:latin typeface="Calibri"/>
                <a:ea typeface="Calibri"/>
                <a:cs typeface="Calibri"/>
                <a:sym typeface="Calibri"/>
              </a:rPr>
              <a:t>Cột cuối cùng được gọi là </a:t>
            </a:r>
            <a:r>
              <a:rPr lang="vi-VN" sz="1200" b="1" i="0" u="none" strike="noStrike" cap="none">
                <a:solidFill>
                  <a:schemeClr val="dk1"/>
                </a:solidFill>
                <a:effectLst/>
                <a:latin typeface="Calibri"/>
                <a:ea typeface="Calibri"/>
                <a:cs typeface="Calibri"/>
                <a:sym typeface="Calibri"/>
              </a:rPr>
              <a:t>L (Last)</a:t>
            </a:r>
            <a:r>
              <a:rPr lang="vi-VN" sz="1200" b="0" i="0" u="none" strike="noStrike" cap="none">
                <a:solidFill>
                  <a:schemeClr val="dk1"/>
                </a:solidFill>
                <a:effectLst/>
                <a:latin typeface="Calibri"/>
                <a:ea typeface="Calibri"/>
                <a:cs typeface="Calibri"/>
                <a:sym typeface="Calibri"/>
              </a:rPr>
              <a:t>: ACC$A.</a:t>
            </a:r>
          </a:p>
          <a:p>
            <a:r>
              <a:rPr lang="vi-VN" sz="1200" b="0" i="0" u="none" strike="noStrike" cap="none">
                <a:solidFill>
                  <a:schemeClr val="dk1"/>
                </a:solidFill>
                <a:effectLst/>
                <a:latin typeface="Calibri"/>
                <a:ea typeface="Calibri"/>
                <a:cs typeface="Calibri"/>
                <a:sym typeface="Calibri"/>
              </a:rPr>
              <a:t>Chuỗi </a:t>
            </a:r>
            <a:r>
              <a:rPr lang="vi-VN" sz="1200" b="1" i="0" u="none" strike="noStrike" cap="none">
                <a:solidFill>
                  <a:schemeClr val="dk1"/>
                </a:solidFill>
                <a:effectLst/>
                <a:latin typeface="Calibri"/>
                <a:ea typeface="Calibri"/>
                <a:cs typeface="Calibri"/>
                <a:sym typeface="Calibri"/>
              </a:rPr>
              <a:t>L (ACC$A)</a:t>
            </a:r>
            <a:r>
              <a:rPr lang="vi-VN" sz="1200" b="0" i="0" u="none" strike="noStrike" cap="none">
                <a:solidFill>
                  <a:schemeClr val="dk1"/>
                </a:solidFill>
                <a:effectLst/>
                <a:latin typeface="Calibri"/>
                <a:ea typeface="Calibri"/>
                <a:cs typeface="Calibri"/>
                <a:sym typeface="Calibri"/>
              </a:rPr>
              <a:t> chính là chuỗi BWT của GACA$. Máy tính sẽ ném bỏ toàn bộ ma trận khổng lồ kia và chỉ lưu lại chuỗi L này (để nén dữ liệu).</a:t>
            </a:r>
            <a:endParaRPr lang="vi-VN"/>
          </a:p>
        </p:txBody>
      </p:sp>
      <p:sp>
        <p:nvSpPr>
          <p:cNvPr id="132" name="Google Shape;132;p3:notes">
            <a:extLst>
              <a:ext uri="{FF2B5EF4-FFF2-40B4-BE49-F238E27FC236}">
                <a16:creationId xmlns:a16="http://schemas.microsoft.com/office/drawing/2014/main" id="{B9A8D1B7-E402-CA18-4807-C5665A1570DF}"/>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51EDD81D-A9A1-A63C-92D4-5AC78E63A422}"/>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7617853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3AEC1C6-4308-715C-A13A-19D3E8E748DE}"/>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5273FA87-4AA0-8781-6B64-268C307B94A4}"/>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EA4FAF0B-05D0-E8A2-5F37-B0940ECD16D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rtl="0"/>
            <a:r>
              <a:rPr lang="vi-VN" sz="1200" b="1" i="0" u="none" strike="noStrike" cap="none">
                <a:solidFill>
                  <a:schemeClr val="dk1"/>
                </a:solidFill>
                <a:effectLst/>
                <a:latin typeface="Calibri"/>
                <a:ea typeface="Calibri"/>
                <a:cs typeface="Calibri"/>
                <a:sym typeface="Calibri"/>
              </a:rPr>
              <a:t>Bước 1: Thêm ký tự kết thúc</a:t>
            </a:r>
            <a:endParaRPr lang="vi-VN" b="0">
              <a:effectLst/>
            </a:endParaRPr>
          </a:p>
          <a:p>
            <a:pPr rtl="0"/>
            <a:r>
              <a:rPr lang="vi-VN" sz="1200" b="0" i="0" u="none" strike="noStrike" cap="none">
                <a:solidFill>
                  <a:schemeClr val="dk1"/>
                </a:solidFill>
                <a:effectLst/>
                <a:latin typeface="Calibri"/>
                <a:ea typeface="Calibri"/>
                <a:cs typeface="Calibri"/>
                <a:sym typeface="Calibri"/>
              </a:rPr>
              <a:t>Ta thêm dấu $ vào cuối chuỗi: GACA$. Ký tự $ được quy ước là ký tự nhỏ nhất theo thứ tự từ điển (nhỏ hơn A, C, G, T).</a:t>
            </a:r>
            <a:endParaRPr lang="vi-VN" b="0">
              <a:effectLst/>
            </a:endParaRPr>
          </a:p>
          <a:p>
            <a:pPr rtl="0"/>
            <a:r>
              <a:rPr lang="vi-VN" sz="1200" b="1" i="0" u="none" strike="noStrike" cap="none">
                <a:solidFill>
                  <a:schemeClr val="dk1"/>
                </a:solidFill>
                <a:effectLst/>
                <a:latin typeface="Calibri"/>
                <a:ea typeface="Calibri"/>
                <a:cs typeface="Calibri"/>
                <a:sym typeface="Calibri"/>
              </a:rPr>
              <a:t>Bước 2: Tạo ma trận vòng (Cyclic Rotations)</a:t>
            </a:r>
            <a:endParaRPr lang="vi-VN" b="0">
              <a:effectLst/>
            </a:endParaRPr>
          </a:p>
          <a:p>
            <a:pPr rtl="0"/>
            <a:r>
              <a:rPr lang="vi-VN" sz="1200" b="0" i="0" u="none" strike="noStrike" cap="none">
                <a:solidFill>
                  <a:schemeClr val="dk1"/>
                </a:solidFill>
                <a:effectLst/>
                <a:latin typeface="Calibri"/>
                <a:ea typeface="Calibri"/>
                <a:cs typeface="Calibri"/>
                <a:sym typeface="Calibri"/>
              </a:rPr>
              <a:t>Tạo ra tất cả các hoán vị vòng tròn của chuỗi này (đẩy ký tự cuối lên đầu):</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GACA$</a:t>
            </a:r>
          </a:p>
          <a:p>
            <a:pPr rtl="0" fontAlgn="base"/>
            <a:r>
              <a:rPr lang="vi-VN" sz="1200" b="0" i="0" u="none" strike="noStrike" cap="none">
                <a:solidFill>
                  <a:schemeClr val="dk1"/>
                </a:solidFill>
                <a:effectLst/>
                <a:latin typeface="Calibri"/>
                <a:ea typeface="Calibri"/>
                <a:cs typeface="Calibri"/>
                <a:sym typeface="Calibri"/>
              </a:rPr>
              <a:t>$GACA</a:t>
            </a:r>
          </a:p>
          <a:p>
            <a:pPr rtl="0" fontAlgn="base"/>
            <a:r>
              <a:rPr lang="vi-VN" sz="1200" b="0" i="0" u="none" strike="noStrike" cap="none">
                <a:solidFill>
                  <a:schemeClr val="dk1"/>
                </a:solidFill>
                <a:effectLst/>
                <a:latin typeface="Calibri"/>
                <a:ea typeface="Calibri"/>
                <a:cs typeface="Calibri"/>
                <a:sym typeface="Calibri"/>
              </a:rPr>
              <a:t>A$GAC</a:t>
            </a:r>
          </a:p>
          <a:p>
            <a:pPr rtl="0" fontAlgn="base"/>
            <a:r>
              <a:rPr lang="vi-VN" sz="1200" b="0" i="0" u="none" strike="noStrike" cap="none">
                <a:solidFill>
                  <a:schemeClr val="dk1"/>
                </a:solidFill>
                <a:effectLst/>
                <a:latin typeface="Calibri"/>
                <a:ea typeface="Calibri"/>
                <a:cs typeface="Calibri"/>
                <a:sym typeface="Calibri"/>
              </a:rPr>
              <a:t>CA$GA</a:t>
            </a:r>
          </a:p>
          <a:p>
            <a:pPr rtl="0" fontAlgn="base"/>
            <a:r>
              <a:rPr lang="vi-VN" sz="1200" b="0" i="0" u="none" strike="noStrike" cap="none">
                <a:solidFill>
                  <a:schemeClr val="dk1"/>
                </a:solidFill>
                <a:effectLst/>
                <a:latin typeface="Calibri"/>
                <a:ea typeface="Calibri"/>
                <a:cs typeface="Calibri"/>
                <a:sym typeface="Calibri"/>
              </a:rPr>
              <a:t>ACA$G</a:t>
            </a:r>
          </a:p>
          <a:p>
            <a:pPr rtl="0"/>
            <a:r>
              <a:rPr lang="vi-VN" sz="1200" b="1" i="0" u="none" strike="noStrike" cap="none">
                <a:solidFill>
                  <a:schemeClr val="dk1"/>
                </a:solidFill>
                <a:effectLst/>
                <a:latin typeface="Calibri"/>
                <a:ea typeface="Calibri"/>
                <a:cs typeface="Calibri"/>
                <a:sym typeface="Calibri"/>
              </a:rPr>
              <a:t>Bước 3: Sắp xếp theo từ điển (Lexicographical Sort)</a:t>
            </a:r>
            <a:endParaRPr lang="vi-VN" b="0">
              <a:effectLst/>
            </a:endParaRPr>
          </a:p>
          <a:p>
            <a:pPr rtl="0"/>
            <a:r>
              <a:rPr lang="vi-VN" sz="1200" b="0" i="0" u="none" strike="noStrike" cap="none">
                <a:solidFill>
                  <a:schemeClr val="dk1"/>
                </a:solidFill>
                <a:effectLst/>
                <a:latin typeface="Calibri"/>
                <a:ea typeface="Calibri"/>
                <a:cs typeface="Calibri"/>
                <a:sym typeface="Calibri"/>
              </a:rPr>
              <a:t>Đem 5 chuỗi trên sắp xếp theo thứ tự bảng chữ cái (nhớ rằng $ đứng đầu):</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$GACA</a:t>
            </a:r>
          </a:p>
          <a:p>
            <a:pPr rtl="0" fontAlgn="base"/>
            <a:r>
              <a:rPr lang="vi-VN" sz="1200" b="0" i="0" u="none" strike="noStrike" cap="none">
                <a:solidFill>
                  <a:schemeClr val="dk1"/>
                </a:solidFill>
                <a:effectLst/>
                <a:latin typeface="Calibri"/>
                <a:ea typeface="Calibri"/>
                <a:cs typeface="Calibri"/>
                <a:sym typeface="Calibri"/>
              </a:rPr>
              <a:t>A$GAC</a:t>
            </a:r>
          </a:p>
          <a:p>
            <a:pPr rtl="0" fontAlgn="base"/>
            <a:r>
              <a:rPr lang="vi-VN" sz="1200" b="0" i="0" u="none" strike="noStrike" cap="none">
                <a:solidFill>
                  <a:schemeClr val="dk1"/>
                </a:solidFill>
                <a:effectLst/>
                <a:latin typeface="Calibri"/>
                <a:ea typeface="Calibri"/>
                <a:cs typeface="Calibri"/>
                <a:sym typeface="Calibri"/>
              </a:rPr>
              <a:t>ACA$G</a:t>
            </a:r>
          </a:p>
          <a:p>
            <a:pPr rtl="0" fontAlgn="base"/>
            <a:r>
              <a:rPr lang="vi-VN" sz="1200" b="0" i="0" u="none" strike="noStrike" cap="none">
                <a:solidFill>
                  <a:schemeClr val="dk1"/>
                </a:solidFill>
                <a:effectLst/>
                <a:latin typeface="Calibri"/>
                <a:ea typeface="Calibri"/>
                <a:cs typeface="Calibri"/>
                <a:sym typeface="Calibri"/>
              </a:rPr>
              <a:t>CA$GA</a:t>
            </a:r>
          </a:p>
          <a:p>
            <a:pPr rtl="0" fontAlgn="base"/>
            <a:r>
              <a:rPr lang="vi-VN" sz="1200" b="0" i="0" u="none" strike="noStrike" cap="none">
                <a:solidFill>
                  <a:schemeClr val="dk1"/>
                </a:solidFill>
                <a:effectLst/>
                <a:latin typeface="Calibri"/>
                <a:ea typeface="Calibri"/>
                <a:cs typeface="Calibri"/>
                <a:sym typeface="Calibri"/>
              </a:rPr>
              <a:t>GACA$</a:t>
            </a:r>
          </a:p>
          <a:p>
            <a:pPr rtl="0"/>
            <a:r>
              <a:rPr lang="vi-VN" sz="1200" b="1" i="0" u="none" strike="noStrike" cap="none">
                <a:solidFill>
                  <a:schemeClr val="dk1"/>
                </a:solidFill>
                <a:effectLst/>
                <a:latin typeface="Calibri"/>
                <a:ea typeface="Calibri"/>
                <a:cs typeface="Calibri"/>
                <a:sym typeface="Calibri"/>
              </a:rPr>
              <a:t>Bước 4: Trích xuất BWT</a:t>
            </a:r>
            <a:endParaRPr lang="vi-VN" b="0">
              <a:effectLst/>
            </a:endParaRPr>
          </a:p>
          <a:p>
            <a:pPr rtl="0"/>
            <a:r>
              <a:rPr lang="vi-VN" sz="1200" b="0" i="0" u="none" strike="noStrike" cap="none">
                <a:solidFill>
                  <a:schemeClr val="dk1"/>
                </a:solidFill>
                <a:effectLst/>
                <a:latin typeface="Calibri"/>
                <a:ea typeface="Calibri"/>
                <a:cs typeface="Calibri"/>
                <a:sym typeface="Calibri"/>
              </a:rPr>
              <a:t>Lúc này, bạn hãy nhìn vào ma trận vừa được sắp xếp.</a:t>
            </a:r>
            <a:endParaRPr lang="vi-VN" b="0">
              <a:effectLst/>
            </a:endParaRPr>
          </a:p>
          <a:p>
            <a:pPr rtl="0" fontAlgn="base"/>
            <a:r>
              <a:rPr lang="vi-VN" sz="1200" b="0" i="0" u="none" strike="noStrike" cap="none">
                <a:solidFill>
                  <a:schemeClr val="dk1"/>
                </a:solidFill>
                <a:effectLst/>
                <a:latin typeface="Calibri"/>
                <a:ea typeface="Calibri"/>
                <a:cs typeface="Calibri"/>
                <a:sym typeface="Calibri"/>
              </a:rPr>
              <a:t>Cột đầu tiên được gọi là </a:t>
            </a:r>
            <a:r>
              <a:rPr lang="vi-VN" sz="1200" b="1" i="0" u="none" strike="noStrike" cap="none">
                <a:solidFill>
                  <a:schemeClr val="dk1"/>
                </a:solidFill>
                <a:effectLst/>
                <a:latin typeface="Calibri"/>
                <a:ea typeface="Calibri"/>
                <a:cs typeface="Calibri"/>
                <a:sym typeface="Calibri"/>
              </a:rPr>
              <a:t>F (First)</a:t>
            </a:r>
            <a:r>
              <a:rPr lang="vi-VN" sz="1200" b="0" i="0" u="none" strike="noStrike" cap="none">
                <a:solidFill>
                  <a:schemeClr val="dk1"/>
                </a:solidFill>
                <a:effectLst/>
                <a:latin typeface="Calibri"/>
                <a:ea typeface="Calibri"/>
                <a:cs typeface="Calibri"/>
                <a:sym typeface="Calibri"/>
              </a:rPr>
              <a:t>: $AACG.</a:t>
            </a:r>
          </a:p>
          <a:p>
            <a:pPr rtl="0" fontAlgn="base"/>
            <a:r>
              <a:rPr lang="vi-VN" sz="1200" b="0" i="0" u="none" strike="noStrike" cap="none">
                <a:solidFill>
                  <a:schemeClr val="dk1"/>
                </a:solidFill>
                <a:effectLst/>
                <a:latin typeface="Calibri"/>
                <a:ea typeface="Calibri"/>
                <a:cs typeface="Calibri"/>
                <a:sym typeface="Calibri"/>
              </a:rPr>
              <a:t>Cột cuối cùng được gọi là </a:t>
            </a:r>
            <a:r>
              <a:rPr lang="vi-VN" sz="1200" b="1" i="0" u="none" strike="noStrike" cap="none">
                <a:solidFill>
                  <a:schemeClr val="dk1"/>
                </a:solidFill>
                <a:effectLst/>
                <a:latin typeface="Calibri"/>
                <a:ea typeface="Calibri"/>
                <a:cs typeface="Calibri"/>
                <a:sym typeface="Calibri"/>
              </a:rPr>
              <a:t>L (Last)</a:t>
            </a:r>
            <a:r>
              <a:rPr lang="vi-VN" sz="1200" b="0" i="0" u="none" strike="noStrike" cap="none">
                <a:solidFill>
                  <a:schemeClr val="dk1"/>
                </a:solidFill>
                <a:effectLst/>
                <a:latin typeface="Calibri"/>
                <a:ea typeface="Calibri"/>
                <a:cs typeface="Calibri"/>
                <a:sym typeface="Calibri"/>
              </a:rPr>
              <a:t>: ACC$A.</a:t>
            </a:r>
          </a:p>
          <a:p>
            <a:r>
              <a:rPr lang="vi-VN" sz="1200" b="0" i="0" u="none" strike="noStrike" cap="none">
                <a:solidFill>
                  <a:schemeClr val="dk1"/>
                </a:solidFill>
                <a:effectLst/>
                <a:latin typeface="Calibri"/>
                <a:ea typeface="Calibri"/>
                <a:cs typeface="Calibri"/>
                <a:sym typeface="Calibri"/>
              </a:rPr>
              <a:t>Chuỗi </a:t>
            </a:r>
            <a:r>
              <a:rPr lang="vi-VN" sz="1200" b="1" i="0" u="none" strike="noStrike" cap="none">
                <a:solidFill>
                  <a:schemeClr val="dk1"/>
                </a:solidFill>
                <a:effectLst/>
                <a:latin typeface="Calibri"/>
                <a:ea typeface="Calibri"/>
                <a:cs typeface="Calibri"/>
                <a:sym typeface="Calibri"/>
              </a:rPr>
              <a:t>L (ACC$A)</a:t>
            </a:r>
            <a:r>
              <a:rPr lang="vi-VN" sz="1200" b="0" i="0" u="none" strike="noStrike" cap="none">
                <a:solidFill>
                  <a:schemeClr val="dk1"/>
                </a:solidFill>
                <a:effectLst/>
                <a:latin typeface="Calibri"/>
                <a:ea typeface="Calibri"/>
                <a:cs typeface="Calibri"/>
                <a:sym typeface="Calibri"/>
              </a:rPr>
              <a:t> chính là chuỗi BWT của GACA$. Máy tính sẽ ném bỏ toàn bộ ma trận khổng lồ kia và chỉ lưu lại chuỗi L này (để nén dữ liệu).</a:t>
            </a:r>
            <a:endParaRPr lang="vi-VN"/>
          </a:p>
        </p:txBody>
      </p:sp>
      <p:sp>
        <p:nvSpPr>
          <p:cNvPr id="132" name="Google Shape;132;p3:notes">
            <a:extLst>
              <a:ext uri="{FF2B5EF4-FFF2-40B4-BE49-F238E27FC236}">
                <a16:creationId xmlns:a16="http://schemas.microsoft.com/office/drawing/2014/main" id="{6883A377-8A33-B2D5-05FA-CA289E3E4C57}"/>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CDB37F6C-4E08-D21E-54E6-090D13A65B51}"/>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6109225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05A50BE-58B4-E718-CB2B-459DDEB2535E}"/>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748F17E7-3931-93F3-5919-435E386AE071}"/>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6A07BF6A-A670-10C2-0712-5D254FD7E10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r>
              <a:rPr lang="vi-VN" b="1"/>
              <a:t>Ngã rẽ thứ nhất: Dữ liệu ngắn, độ chính xác cao.</a:t>
            </a:r>
            <a:r>
              <a:rPr lang="vi-VN"/>
              <a:t> Để giải cứu bộ nhớ bị phình to bởi Bảng băm, các nhà nghiên cứu đã vay mượn một thuật toán nén dữ liệu xuất chúng là </a:t>
            </a:r>
            <a:r>
              <a:rPr lang="vi-VN" b="1"/>
              <a:t>BWT (Burrows-Wheeler Transform)</a:t>
            </a:r>
            <a:r>
              <a:rPr lang="vi-VN"/>
              <a:t> và cấu trúc </a:t>
            </a:r>
            <a:r>
              <a:rPr lang="vi-VN" b="1"/>
              <a:t>FM-index</a:t>
            </a:r>
            <a:r>
              <a:rPr lang="vi-VN"/>
              <a:t>. Thay vì tạo mục lục tốn kém, họ ép toàn bộ hệ gen 3GB xuống chỉ còn hơn 2GB, nhét vừa vặn vào một chiếc laptop thông thường, tạo ra các tượng đài như BWA hay Bowtie.</a:t>
            </a:r>
          </a:p>
          <a:p>
            <a:r>
              <a:rPr lang="vi-VN" b="1"/>
              <a:t>Ngã rẽ thứ hai: Dữ liệu siêu dài, nhưng sai số cực cao (lên tới 15%).</a:t>
            </a:r>
            <a:r>
              <a:rPr lang="vi-VN"/>
              <a:t> Đây là dữ liệu từ máy giải trình tự PacBio hay Nanopore. FM-index hoàn toàn mù tịt trước tỷ lệ lỗi khủng khiếp này. Nghĩa là chúng ta BẮT BUỘC phải quay lại với bảng băm (Hash). Nhưng làm sao để dùng Hash mà không bị tràn RAM? Câu trả lời nằm ở thuật toán </a:t>
            </a:r>
            <a:r>
              <a:rPr lang="vi-VN" b="1"/>
              <a:t>Minimap2</a:t>
            </a:r>
            <a:r>
              <a:rPr lang="vi-VN"/>
              <a:t>. Thay vì lưu trữ </a:t>
            </a:r>
            <a:r>
              <a:rPr lang="vi-VN" i="1"/>
              <a:t>mọi</a:t>
            </a:r>
            <a:r>
              <a:rPr lang="vi-VN"/>
              <a:t> hạt giống, Minimap2 sử dụng một kỹ thuật toán học thiên tài gọi là </a:t>
            </a:r>
            <a:r>
              <a:rPr lang="vi-VN" b="1"/>
              <a:t>Minimizers</a:t>
            </a:r>
            <a:r>
              <a:rPr lang="vi-VN"/>
              <a:t> - chỉ chọn lọc và lưu lại những hạt giống đại diện mang tính đặc trưng nhất.</a:t>
            </a:r>
          </a:p>
        </p:txBody>
      </p:sp>
      <p:sp>
        <p:nvSpPr>
          <p:cNvPr id="132" name="Google Shape;132;p3:notes">
            <a:extLst>
              <a:ext uri="{FF2B5EF4-FFF2-40B4-BE49-F238E27FC236}">
                <a16:creationId xmlns:a16="http://schemas.microsoft.com/office/drawing/2014/main" id="{F91F0D03-D1DF-231E-EF09-03232414D6F0}"/>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430A23F7-864D-581E-A1EB-5E5404021375}"/>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42704040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869C29C0-1EDE-E6EB-A583-B639F9CEC6F3}"/>
            </a:ext>
          </a:extLst>
        </p:cNvPr>
        <p:cNvGrpSpPr/>
        <p:nvPr/>
      </p:nvGrpSpPr>
      <p:grpSpPr>
        <a:xfrm>
          <a:off x="0" y="0"/>
          <a:ext cx="0" cy="0"/>
          <a:chOff x="0" y="0"/>
          <a:chExt cx="0" cy="0"/>
        </a:xfrm>
      </p:grpSpPr>
      <p:sp>
        <p:nvSpPr>
          <p:cNvPr id="122" name="Google Shape;122;p2:notes">
            <a:extLst>
              <a:ext uri="{FF2B5EF4-FFF2-40B4-BE49-F238E27FC236}">
                <a16:creationId xmlns:a16="http://schemas.microsoft.com/office/drawing/2014/main" id="{32318B2D-C694-E16D-1FC9-D908E9E9F585}"/>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a:extLst>
              <a:ext uri="{FF2B5EF4-FFF2-40B4-BE49-F238E27FC236}">
                <a16:creationId xmlns:a16="http://schemas.microsoft.com/office/drawing/2014/main" id="{2AD9BA31-65E1-72B9-A96D-C2EE81F91F88}"/>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a:extLst>
              <a:ext uri="{FF2B5EF4-FFF2-40B4-BE49-F238E27FC236}">
                <a16:creationId xmlns:a16="http://schemas.microsoft.com/office/drawing/2014/main" id="{DD7BA5CB-CDB3-3636-B010-D750980B3C08}"/>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54429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1243B34-8FEE-78F6-358E-CB222930F070}"/>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9BCB0A76-FF2B-95EC-FDB5-F900FEFFE09D}"/>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127DEBB8-11B9-F200-E145-4DA756F48D4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93F90CC0-3769-8FDD-94EA-9557C6AFCE58}"/>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0F097F7D-79CD-B1EE-C3C2-1813AE96222B}"/>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8196116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533187D-2310-A6A9-F6D8-39F1E8762E81}"/>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11872E5B-0BB7-9190-6BA6-179652D8A331}"/>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C166BE9F-6D43-0DA5-6942-A4F14DB227C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1. Star:</a:t>
            </a:r>
          </a:p>
          <a:p>
            <a:pPr marL="171450" lvl="0" indent="-171450" algn="l" rtl="0">
              <a:spcBef>
                <a:spcPts val="0"/>
              </a:spcBef>
              <a:spcAft>
                <a:spcPts val="0"/>
              </a:spcAft>
              <a:buFont typeface="Arial" panose="020B0604020202020204" pitchFamily="34" charset="0"/>
              <a:buChar char="•"/>
            </a:pPr>
            <a:r>
              <a:rPr lang="vi-VN" dirty="0"/>
              <a:t>Hệ thống chọn ra một "trình tự trung tâm" sao cho khoảng cách giữa nó và tất cả các trình tự còn lại là nhỏ nhất.</a:t>
            </a:r>
            <a:endParaRPr lang="en-US" dirty="0"/>
          </a:p>
          <a:p>
            <a:pPr marL="171450" lvl="0" indent="-171450" algn="l" rtl="0">
              <a:spcBef>
                <a:spcPts val="0"/>
              </a:spcBef>
              <a:spcAft>
                <a:spcPts val="0"/>
              </a:spcAft>
              <a:buFont typeface="Arial" panose="020B0604020202020204" pitchFamily="34" charset="0"/>
              <a:buChar char="•"/>
            </a:pPr>
            <a:r>
              <a:rPr lang="vi-VN" dirty="0"/>
              <a:t>Mỗi trình tự còn lại được gióng hàng cặp với trình tự trung tâm, tạo thành cấu trúc "hình sao" với tâm ở giữa và các "nan hoa" đại diện cho độ tương đồng.</a:t>
            </a:r>
            <a:endParaRPr lang="en-US" dirty="0"/>
          </a:p>
          <a:p>
            <a:pPr marL="171450" lvl="0" indent="-171450" algn="l" rtl="0">
              <a:spcBef>
                <a:spcPts val="0"/>
              </a:spcBef>
              <a:spcAft>
                <a:spcPts val="0"/>
              </a:spcAft>
              <a:buFont typeface="Arial" panose="020B0604020202020204" pitchFamily="34" charset="0"/>
              <a:buChar char="•"/>
            </a:pPr>
            <a:r>
              <a:rPr lang="vi-VN" dirty="0"/>
              <a:t>Kết quả cuối cùng được trích xuất bằng cách cộng dồn tất cả các khoảng trống (gaps) đã chèn vào để tạo tính đồng nhất.</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2. Progressive:</a:t>
            </a:r>
          </a:p>
          <a:p>
            <a:pPr marL="171450" lvl="0" indent="-171450" algn="l" rtl="0">
              <a:spcBef>
                <a:spcPts val="0"/>
              </a:spcBef>
              <a:spcAft>
                <a:spcPts val="0"/>
              </a:spcAft>
              <a:buFont typeface="Arial" panose="020B0604020202020204" pitchFamily="34" charset="0"/>
              <a:buChar char="•"/>
            </a:pPr>
            <a:r>
              <a:rPr lang="vi-VN" dirty="0"/>
              <a:t>Tính toán một ma trận khoảng cách tiến hóa dựa trên việc sắp hàng cặp tất cả các tổ hợp trình tự.</a:t>
            </a:r>
            <a:endParaRPr lang="en-US" dirty="0"/>
          </a:p>
          <a:p>
            <a:pPr marL="171450" lvl="0" indent="-171450" algn="l" rtl="0">
              <a:spcBef>
                <a:spcPts val="0"/>
              </a:spcBef>
              <a:spcAft>
                <a:spcPts val="0"/>
              </a:spcAft>
              <a:buFont typeface="Arial" panose="020B0604020202020204" pitchFamily="34" charset="0"/>
              <a:buChar char="•"/>
            </a:pPr>
            <a:r>
              <a:rPr lang="vi-VN" dirty="0"/>
              <a:t>Sử dụng ma trận khoảng cách để xây dựng một "Cây hướng dẫn" (Guide Tree) chỉ ra thứ tự thực hiện gióng hàng.</a:t>
            </a:r>
            <a:endParaRPr lang="en-US" dirty="0"/>
          </a:p>
          <a:p>
            <a:pPr marL="171450" lvl="0" indent="-171450" algn="l" rtl="0">
              <a:spcBef>
                <a:spcPts val="0"/>
              </a:spcBef>
              <a:spcAft>
                <a:spcPts val="0"/>
              </a:spcAft>
              <a:buFont typeface="Arial" panose="020B0604020202020204" pitchFamily="34" charset="0"/>
              <a:buChar char="•"/>
            </a:pPr>
            <a:r>
              <a:rPr lang="vi-VN" dirty="0"/>
              <a:t>Sắp hàng tăng dần bằng cách đi từ rìa ngoài cùng của cây (các trình tự giống nhau nhất) vào gốc, từ từ gộp các trình tự hoặc nhóm trình tự (profile) lại với nhau. Thuật toán này có một điểm yếu là "once a gap, always a gap" (khoảng trống lỡ chèn sai sẽ bị tích lũy và không thể sửa đổi).</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3. Iterative:</a:t>
            </a: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Sau khi có một bản gióng hàng ban đầu, thuật toán sẽ liên tục tính toán lại ma trận khoảng cách và xây dựng lại cây hướng dẫn.</a:t>
            </a:r>
            <a:endParaRPr lang="en-US" sz="1200" b="0"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Quá trình chia nhóm và gióng hàng lại được lặp đi lặp lại một cách liên tục (theo hàm mục tiêu hoặc bộ đếm thời gian) cho đến khi điểm số hội tụ về mức chất lượng cao nhất hoặc đạt giới hạn số lần lặp.</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4. Evolutionary:</a:t>
            </a: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Sử dụng các kỹ thuật ngẫu nhiên của thuật toán tiến hóa (như Thuật toán Di truyền - GA và Trí tuệ bầy đàn - Swarm Intelligence).</a:t>
            </a:r>
            <a:endParaRPr lang="en-US" sz="1200" b="0"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 typeface="Arial" panose="020B0604020202020204" pitchFamily="34" charset="0"/>
              <a:buChar char="•"/>
            </a:pPr>
            <a:r>
              <a:rPr lang="vi-VN" sz="1200" b="1" i="0" u="none" strike="noStrike" cap="none" dirty="0">
                <a:solidFill>
                  <a:schemeClr val="dk1"/>
                </a:solidFill>
                <a:effectLst/>
                <a:latin typeface="Calibri"/>
                <a:ea typeface="Calibri"/>
                <a:cs typeface="Calibri"/>
                <a:sym typeface="Calibri"/>
              </a:rPr>
              <a:t>Genetic Approach:</a:t>
            </a:r>
            <a:r>
              <a:rPr lang="vi-VN" sz="1200" b="0" i="0" u="none" strike="noStrike" cap="none" dirty="0">
                <a:solidFill>
                  <a:schemeClr val="dk1"/>
                </a:solidFill>
                <a:effectLst/>
                <a:latin typeface="Calibri"/>
                <a:ea typeface="Calibri"/>
                <a:cs typeface="Calibri"/>
                <a:sym typeface="Calibri"/>
              </a:rPr>
              <a:t> Tạo ra một "quần thể" các bản gióng hàng ban đầu. Sau đó đánh giá độ tối ưu của chúng qua một hàm mục tiêu (fitness function) và áp dụng các thao tác như lai ghép, đột biến để tạo ra các thế hệ gióng hàng mới tốt hơn.</a:t>
            </a:r>
            <a:endParaRPr lang="en-US" sz="1200" b="0"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 typeface="Arial" panose="020B0604020202020204" pitchFamily="34" charset="0"/>
              <a:buChar char="•"/>
            </a:pPr>
            <a:r>
              <a:rPr lang="vi-VN" sz="1200" b="1" i="0" u="none" strike="noStrike" cap="none" dirty="0">
                <a:solidFill>
                  <a:schemeClr val="dk1"/>
                </a:solidFill>
                <a:effectLst/>
                <a:latin typeface="Calibri"/>
                <a:ea typeface="Calibri"/>
                <a:cs typeface="Calibri"/>
                <a:sym typeface="Calibri"/>
              </a:rPr>
              <a:t>Swarm Intelligence:</a:t>
            </a:r>
            <a:r>
              <a:rPr lang="vi-VN" sz="1200" b="0" i="0" u="none" strike="noStrike" cap="none" dirty="0">
                <a:solidFill>
                  <a:schemeClr val="dk1"/>
                </a:solidFill>
                <a:effectLst/>
                <a:latin typeface="Calibri"/>
                <a:ea typeface="Calibri"/>
                <a:cs typeface="Calibri"/>
                <a:sym typeface="Calibri"/>
              </a:rPr>
              <a:t> Mô phỏng hành vi của các loài động vật (như đàn ong, đàn kiến, đàn cá). Nó phân tán các "hạt" (particles - đại diện cho trình tự/giải pháp) trong không gian và liên tục cập nhật vị trí, vận tốc của chúng dựa trên hàm đánh giá để tìm ra đường đi tối ưu nhất.</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5. HMM-based:</a:t>
            </a: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Chuẩn bị ma trận xác suất (PPM).</a:t>
            </a:r>
            <a:endParaRPr lang="en-US" sz="1200" b="0"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Huấn luyện thao tác với ma trận xác suất để tạo ra một chuỗi trạng thái ẩn (hidden states) và chuỗi trạng thái quan sát được.</a:t>
            </a:r>
            <a:endParaRPr lang="en-US" sz="1200" b="0"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Sử dụng các thuật toán truyền thống để xuất ra kết quả MSA cuối cùng. Khả năng dự đoán chính xác của HMM được tối đa hóa khi số lượng trình tự đầu vào càng lớn.</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6. Divide &amp; Conquer:</a:t>
            </a: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Thuật toán sẽ "bẻ gãy" các trình tự lớn thành các chuỗi con (sub-sequences) nhỏ hơn. Việc chia cắt này có thể diễn ra theo chiều dọc (dựa trên các hạt giống/mỏ neo chung) hoặc chiều ngang.</a:t>
            </a:r>
            <a:endParaRPr lang="en-US" sz="1200" b="0"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Các chuỗi con ngắn này sau đó được gióng hàng độc lập một cách dễ dàng và chính xác. Cuối cùng, kết quả gióng hàng của các chuỗi con được ghép nối lại để tạo thành bản MSA tổng thể</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7. Machine Learning:</a:t>
            </a: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Sử dụng các bộ phân loại Học máy, Mạng nơ-ron nhân tạo (như LSTM, RNN, CNN) hoặc Học tăng cường (Q-Learning) để huấn luyện trên các tập dữ liệu gióng hàng có sẵn.</a:t>
            </a:r>
            <a:endParaRPr lang="en-US" sz="1200" b="0"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 typeface="Arial" panose="020B0604020202020204" pitchFamily="34" charset="0"/>
              <a:buChar char="•"/>
            </a:pPr>
            <a:r>
              <a:rPr lang="vi-VN" sz="1200" b="0" i="0" u="none" strike="noStrike" cap="none" dirty="0">
                <a:solidFill>
                  <a:schemeClr val="dk1"/>
                </a:solidFill>
                <a:effectLst/>
                <a:latin typeface="Calibri"/>
                <a:ea typeface="Calibri"/>
                <a:cs typeface="Calibri"/>
                <a:sym typeface="Calibri"/>
              </a:rPr>
              <a:t>Mô hình từ đó sẽ xuất ra các xác suất, trích xuất cấu trúc, hoặc trả về trực tiếp các trình tự đã được gióng hàng trong tương la</a:t>
            </a:r>
            <a:r>
              <a:rPr lang="en-US" sz="1200" b="0" i="0" u="none" strike="noStrike" cap="none" dirty="0" err="1">
                <a:solidFill>
                  <a:schemeClr val="dk1"/>
                </a:solidFill>
                <a:effectLst/>
                <a:latin typeface="Calibri"/>
                <a:ea typeface="Calibri"/>
                <a:cs typeface="Calibri"/>
                <a:sym typeface="Calibri"/>
              </a:rPr>
              <a:t>i</a:t>
            </a:r>
            <a:r>
              <a:rPr lang="en-US" sz="1200" b="0" i="0" u="none" strike="noStrike" cap="none" dirty="0">
                <a:solidFill>
                  <a:schemeClr val="dk1"/>
                </a:solidFill>
                <a:effectLst/>
                <a:latin typeface="Calibri"/>
                <a:ea typeface="Calibri"/>
                <a:cs typeface="Calibri"/>
                <a:sym typeface="Calibri"/>
              </a:rPr>
              <a:t>.</a:t>
            </a:r>
            <a:endParaRPr lang="vi-VN"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2A5F52E7-4915-33C3-2BE2-AED51489A901}"/>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439541F8-7820-376F-5471-5CE490DD8DAB}"/>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38579082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9749E52-94DC-DA7C-7FBE-22917BC5E095}"/>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043DC5D6-E554-6649-4D0B-CD261F3529AF}"/>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8F5B4C3F-190D-83A6-4AC2-64843E9EA00D}"/>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72157E14-3948-C1F6-047D-1ECF0C41FD95}"/>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C5A14A20-F5C9-66FD-9AF5-A887125B500C}"/>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711611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1104ACE-6ACA-5892-C6BA-58A710AB9879}"/>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3F3C01BE-B5C1-133E-8C7B-2F15856043C5}"/>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E1FB7E15-4D32-836E-3C23-404A56590CD6}"/>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err="1"/>
              <a:t>Để</a:t>
            </a:r>
            <a:r>
              <a:rPr lang="en-US" b="1" dirty="0"/>
              <a:t> </a:t>
            </a:r>
            <a:r>
              <a:rPr lang="en-US" b="1" dirty="0" err="1"/>
              <a:t>đơn</a:t>
            </a:r>
            <a:r>
              <a:rPr lang="en-US" b="1" dirty="0"/>
              <a:t> </a:t>
            </a:r>
            <a:r>
              <a:rPr lang="en-US" b="1" dirty="0" err="1"/>
              <a:t>giản</a:t>
            </a:r>
            <a:r>
              <a:rPr lang="en-US" b="1" dirty="0"/>
              <a:t> </a:t>
            </a:r>
            <a:r>
              <a:rPr lang="en-US" b="1" dirty="0" err="1"/>
              <a:t>hóa</a:t>
            </a:r>
            <a:r>
              <a:rPr lang="en-US" b="1" dirty="0"/>
              <a:t> </a:t>
            </a:r>
            <a:r>
              <a:rPr lang="en-US" b="1" dirty="0" err="1"/>
              <a:t>quá</a:t>
            </a:r>
            <a:r>
              <a:rPr lang="en-US" b="1" dirty="0"/>
              <a:t> </a:t>
            </a:r>
            <a:r>
              <a:rPr lang="en-US" b="1" dirty="0" err="1"/>
              <a:t>trình</a:t>
            </a:r>
            <a:r>
              <a:rPr lang="en-US" b="1" dirty="0"/>
              <a:t> implementation </a:t>
            </a:r>
            <a:r>
              <a:rPr lang="en-US" b="1" dirty="0" err="1"/>
              <a:t>thì</a:t>
            </a:r>
            <a:r>
              <a:rPr lang="en-US" b="1" dirty="0"/>
              <a:t>:</a:t>
            </a:r>
          </a:p>
          <a:p>
            <a:pPr marL="171450" lvl="0" indent="-171450" algn="l" rtl="0">
              <a:spcBef>
                <a:spcPts val="0"/>
              </a:spcBef>
              <a:spcAft>
                <a:spcPts val="0"/>
              </a:spcAft>
              <a:buFont typeface="Arial" panose="020B0604020202020204" pitchFamily="34" charset="0"/>
              <a:buChar char="•"/>
            </a:pPr>
            <a:r>
              <a:rPr lang="en-US" dirty="0"/>
              <a:t>Ma </a:t>
            </a:r>
            <a:r>
              <a:rPr lang="en-US" dirty="0" err="1"/>
              <a:t>trận</a:t>
            </a:r>
            <a:r>
              <a:rPr lang="en-US" dirty="0"/>
              <a:t> </a:t>
            </a:r>
            <a:r>
              <a:rPr lang="en-US" dirty="0" err="1"/>
              <a:t>khoảng</a:t>
            </a:r>
            <a:r>
              <a:rPr lang="en-US" dirty="0"/>
              <a:t> </a:t>
            </a:r>
            <a:r>
              <a:rPr lang="en-US" dirty="0" err="1"/>
              <a:t>cách</a:t>
            </a:r>
            <a:r>
              <a:rPr lang="en-US" dirty="0"/>
              <a:t> </a:t>
            </a:r>
            <a:r>
              <a:rPr lang="en-US" dirty="0" err="1"/>
              <a:t>được</a:t>
            </a:r>
            <a:r>
              <a:rPr lang="en-US" dirty="0"/>
              <a:t> </a:t>
            </a:r>
            <a:r>
              <a:rPr lang="en-US" dirty="0" err="1"/>
              <a:t>xác</a:t>
            </a:r>
            <a:r>
              <a:rPr lang="en-US" dirty="0"/>
              <a:t> </a:t>
            </a:r>
            <a:r>
              <a:rPr lang="en-US" dirty="0" err="1"/>
              <a:t>định</a:t>
            </a:r>
            <a:r>
              <a:rPr lang="en-US" dirty="0"/>
              <a:t> </a:t>
            </a:r>
            <a:r>
              <a:rPr lang="en-US" dirty="0" err="1"/>
              <a:t>dựa</a:t>
            </a:r>
            <a:r>
              <a:rPr lang="en-US" dirty="0"/>
              <a:t> </a:t>
            </a:r>
            <a:r>
              <a:rPr lang="en-US" dirty="0" err="1"/>
              <a:t>trên</a:t>
            </a:r>
            <a:r>
              <a:rPr lang="en-US" dirty="0"/>
              <a:t> </a:t>
            </a:r>
            <a:r>
              <a:rPr lang="en-US" dirty="0" err="1"/>
              <a:t>tỉ</a:t>
            </a:r>
            <a:r>
              <a:rPr lang="en-US" dirty="0"/>
              <a:t> </a:t>
            </a:r>
            <a:r>
              <a:rPr lang="en-US" dirty="0" err="1"/>
              <a:t>lệ</a:t>
            </a:r>
            <a:r>
              <a:rPr lang="en-US" dirty="0"/>
              <a:t> </a:t>
            </a:r>
            <a:r>
              <a:rPr lang="en-US" dirty="0" err="1"/>
              <a:t>tương</a:t>
            </a:r>
            <a:r>
              <a:rPr lang="en-US" dirty="0"/>
              <a:t> </a:t>
            </a:r>
            <a:r>
              <a:rPr lang="en-US" dirty="0" err="1"/>
              <a:t>đồng</a:t>
            </a:r>
            <a:r>
              <a:rPr lang="en-US" dirty="0"/>
              <a:t> </a:t>
            </a:r>
            <a:r>
              <a:rPr lang="en-US" dirty="0" err="1"/>
              <a:t>giữa</a:t>
            </a:r>
            <a:r>
              <a:rPr lang="en-US" dirty="0"/>
              <a:t> 2 </a:t>
            </a:r>
            <a:r>
              <a:rPr lang="en-US" dirty="0" err="1"/>
              <a:t>chuỗi</a:t>
            </a:r>
            <a:endParaRPr lang="en-US" dirty="0"/>
          </a:p>
          <a:p>
            <a:pPr marL="171450" lvl="0" indent="-171450" algn="l" rtl="0">
              <a:spcBef>
                <a:spcPts val="0"/>
              </a:spcBef>
              <a:spcAft>
                <a:spcPts val="0"/>
              </a:spcAft>
              <a:buFont typeface="Arial" panose="020B0604020202020204" pitchFamily="34" charset="0"/>
              <a:buChar char="•"/>
            </a:pPr>
            <a:r>
              <a:rPr lang="en-US" dirty="0" err="1"/>
              <a:t>Cây</a:t>
            </a:r>
            <a:r>
              <a:rPr lang="en-US" dirty="0"/>
              <a:t> </a:t>
            </a:r>
            <a:r>
              <a:rPr lang="en-US" dirty="0" err="1"/>
              <a:t>hướng</a:t>
            </a:r>
            <a:r>
              <a:rPr lang="en-US" dirty="0"/>
              <a:t> </a:t>
            </a:r>
            <a:r>
              <a:rPr lang="en-US" dirty="0" err="1"/>
              <a:t>dẫn</a:t>
            </a:r>
            <a:r>
              <a:rPr lang="en-US" dirty="0"/>
              <a:t> </a:t>
            </a:r>
            <a:r>
              <a:rPr lang="en-US" dirty="0" err="1"/>
              <a:t>được</a:t>
            </a:r>
            <a:r>
              <a:rPr lang="en-US" dirty="0"/>
              <a:t> </a:t>
            </a:r>
            <a:r>
              <a:rPr lang="en-US" dirty="0" err="1"/>
              <a:t>xây</a:t>
            </a:r>
            <a:r>
              <a:rPr lang="en-US" dirty="0"/>
              <a:t> </a:t>
            </a:r>
            <a:r>
              <a:rPr lang="en-US" dirty="0" err="1"/>
              <a:t>dựng</a:t>
            </a:r>
            <a:r>
              <a:rPr lang="en-US" dirty="0"/>
              <a:t> </a:t>
            </a:r>
            <a:r>
              <a:rPr lang="en-US" dirty="0" err="1"/>
              <a:t>dưới</a:t>
            </a:r>
            <a:r>
              <a:rPr lang="en-US" dirty="0"/>
              <a:t> </a:t>
            </a:r>
            <a:r>
              <a:rPr lang="en-US" dirty="0" err="1"/>
              <a:t>dạng</a:t>
            </a:r>
            <a:r>
              <a:rPr lang="en-US" dirty="0"/>
              <a:t> Linear Tree (Chain Tree)</a:t>
            </a:r>
          </a:p>
          <a:p>
            <a:pPr marL="0" lvl="0" indent="0" algn="l" rtl="0">
              <a:spcBef>
                <a:spcPts val="0"/>
              </a:spcBef>
              <a:spcAft>
                <a:spcPts val="0"/>
              </a:spcAft>
              <a:buNone/>
            </a:pPr>
            <a:endParaRPr lang="en-US" dirty="0"/>
          </a:p>
        </p:txBody>
      </p:sp>
      <p:sp>
        <p:nvSpPr>
          <p:cNvPr id="132" name="Google Shape;132;p3:notes">
            <a:extLst>
              <a:ext uri="{FF2B5EF4-FFF2-40B4-BE49-F238E27FC236}">
                <a16:creationId xmlns:a16="http://schemas.microsoft.com/office/drawing/2014/main" id="{9C5ECD4A-0B87-3D55-EF23-365AB585491F}"/>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7366BDB9-A1BC-1D9A-7A65-32C2B008CCFF}"/>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2925775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8A19F67-60BE-0F1C-2DC0-CA4F7CF708E6}"/>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68901979-A94E-B727-B1C1-F7B2704A5C26}"/>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F572D4D8-026C-38E1-F8F6-BDF0041A878E}"/>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Cách </a:t>
            </a:r>
            <a:r>
              <a:rPr lang="en-US" b="1" dirty="0" err="1"/>
              <a:t>tạo</a:t>
            </a:r>
            <a:r>
              <a:rPr lang="en-US" b="1" dirty="0"/>
              <a:t> </a:t>
            </a:r>
            <a:r>
              <a:rPr lang="en-US" b="1" dirty="0" err="1"/>
              <a:t>chuỗi</a:t>
            </a:r>
            <a:r>
              <a:rPr lang="en-US" b="1" dirty="0"/>
              <a:t> Consensus:</a:t>
            </a:r>
          </a:p>
          <a:p>
            <a:pPr marL="171450" lvl="0" indent="-171450" algn="l" rtl="0">
              <a:spcBef>
                <a:spcPts val="0"/>
              </a:spcBef>
              <a:spcAft>
                <a:spcPts val="0"/>
              </a:spcAft>
              <a:buFont typeface="Arial" panose="020B0604020202020204" pitchFamily="34" charset="0"/>
              <a:buChar char="•"/>
            </a:pPr>
            <a:r>
              <a:rPr lang="en-US" dirty="0" err="1"/>
              <a:t>Duyệt</a:t>
            </a:r>
            <a:r>
              <a:rPr lang="en-US" dirty="0"/>
              <a:t> qua </a:t>
            </a:r>
            <a:r>
              <a:rPr lang="en-US" dirty="0" err="1"/>
              <a:t>từng</a:t>
            </a:r>
            <a:r>
              <a:rPr lang="en-US" dirty="0"/>
              <a:t> code, vote </a:t>
            </a:r>
            <a:r>
              <a:rPr lang="en-US" dirty="0" err="1"/>
              <a:t>lấy</a:t>
            </a:r>
            <a:r>
              <a:rPr lang="en-US" dirty="0"/>
              <a:t> majority</a:t>
            </a:r>
          </a:p>
          <a:p>
            <a:pPr marL="171450" lvl="0" indent="-171450" algn="l" rtl="0">
              <a:spcBef>
                <a:spcPts val="0"/>
              </a:spcBef>
              <a:spcAft>
                <a:spcPts val="0"/>
              </a:spcAft>
              <a:buFont typeface="Arial" panose="020B0604020202020204" pitchFamily="34" charset="0"/>
              <a:buChar char="•"/>
            </a:pPr>
            <a:r>
              <a:rPr lang="en-US" dirty="0"/>
              <a:t>Majority = 100% =&gt; </a:t>
            </a:r>
            <a:r>
              <a:rPr lang="en-US" dirty="0" err="1"/>
              <a:t>Màu</a:t>
            </a:r>
            <a:r>
              <a:rPr lang="en-US" dirty="0"/>
              <a:t> </a:t>
            </a:r>
            <a:r>
              <a:rPr lang="en-US" dirty="0" err="1"/>
              <a:t>xanh</a:t>
            </a:r>
            <a:r>
              <a:rPr lang="en-US" dirty="0"/>
              <a:t>, </a:t>
            </a:r>
            <a:r>
              <a:rPr lang="en-US" dirty="0" err="1"/>
              <a:t>sử</a:t>
            </a:r>
            <a:r>
              <a:rPr lang="en-US" dirty="0"/>
              <a:t> </a:t>
            </a:r>
            <a:r>
              <a:rPr lang="en-US" dirty="0" err="1"/>
              <a:t>dụng</a:t>
            </a:r>
            <a:r>
              <a:rPr lang="en-US" dirty="0"/>
              <a:t> </a:t>
            </a:r>
            <a:r>
              <a:rPr lang="en-US" dirty="0" err="1"/>
              <a:t>luôn</a:t>
            </a:r>
            <a:r>
              <a:rPr lang="en-US" dirty="0"/>
              <a:t> </a:t>
            </a:r>
            <a:r>
              <a:rPr lang="en-US" dirty="0" err="1"/>
              <a:t>kí</a:t>
            </a:r>
            <a:r>
              <a:rPr lang="en-US" dirty="0"/>
              <a:t> </a:t>
            </a:r>
            <a:r>
              <a:rPr lang="en-US" dirty="0" err="1"/>
              <a:t>tự</a:t>
            </a:r>
            <a:r>
              <a:rPr lang="en-US" dirty="0"/>
              <a:t> </a:t>
            </a:r>
            <a:r>
              <a:rPr lang="en-US" dirty="0" err="1"/>
              <a:t>đó</a:t>
            </a:r>
            <a:r>
              <a:rPr lang="en-US" dirty="0"/>
              <a:t> =&gt; </a:t>
            </a:r>
            <a:r>
              <a:rPr lang="en-US" dirty="0" err="1"/>
              <a:t>Thể</a:t>
            </a:r>
            <a:r>
              <a:rPr lang="en-US" dirty="0"/>
              <a:t> </a:t>
            </a:r>
            <a:r>
              <a:rPr lang="en-US" dirty="0" err="1"/>
              <a:t>hiện</a:t>
            </a:r>
            <a:r>
              <a:rPr lang="en-US" dirty="0"/>
              <a:t> </a:t>
            </a:r>
            <a:r>
              <a:rPr lang="en-US" dirty="0" err="1"/>
              <a:t>vùng</a:t>
            </a:r>
            <a:r>
              <a:rPr lang="en-US" dirty="0"/>
              <a:t> </a:t>
            </a:r>
            <a:r>
              <a:rPr lang="en-US" dirty="0" err="1"/>
              <a:t>bảo</a:t>
            </a:r>
            <a:r>
              <a:rPr lang="en-US" dirty="0"/>
              <a:t> </a:t>
            </a:r>
            <a:r>
              <a:rPr lang="en-US" dirty="0" err="1"/>
              <a:t>thủ</a:t>
            </a:r>
            <a:endParaRPr lang="en-US" dirty="0"/>
          </a:p>
          <a:p>
            <a:pPr marL="171450" lvl="0" indent="-171450" algn="l" rtl="0">
              <a:spcBef>
                <a:spcPts val="0"/>
              </a:spcBef>
              <a:spcAft>
                <a:spcPts val="0"/>
              </a:spcAft>
              <a:buFont typeface="Arial" panose="020B0604020202020204" pitchFamily="34" charset="0"/>
              <a:buChar char="•"/>
            </a:pPr>
            <a:r>
              <a:rPr lang="en-US" dirty="0"/>
              <a:t>Majority &gt; 60% =&gt; </a:t>
            </a:r>
            <a:r>
              <a:rPr lang="en-US" dirty="0" err="1"/>
              <a:t>Màu</a:t>
            </a:r>
            <a:r>
              <a:rPr lang="en-US" dirty="0"/>
              <a:t> </a:t>
            </a:r>
            <a:r>
              <a:rPr lang="en-US" dirty="0" err="1"/>
              <a:t>vàng</a:t>
            </a:r>
            <a:r>
              <a:rPr lang="en-US" dirty="0"/>
              <a:t>, </a:t>
            </a:r>
            <a:r>
              <a:rPr lang="en-US" dirty="0" err="1"/>
              <a:t>sử</a:t>
            </a:r>
            <a:r>
              <a:rPr lang="en-US" dirty="0"/>
              <a:t> </a:t>
            </a:r>
            <a:r>
              <a:rPr lang="en-US" dirty="0" err="1"/>
              <a:t>dụng</a:t>
            </a:r>
            <a:r>
              <a:rPr lang="en-US" dirty="0"/>
              <a:t> lowercase </a:t>
            </a:r>
            <a:r>
              <a:rPr lang="en-US" dirty="0" err="1"/>
              <a:t>của</a:t>
            </a:r>
            <a:r>
              <a:rPr lang="en-US" dirty="0"/>
              <a:t> </a:t>
            </a:r>
            <a:r>
              <a:rPr lang="en-US" dirty="0" err="1"/>
              <a:t>kí</a:t>
            </a:r>
            <a:r>
              <a:rPr lang="en-US" dirty="0"/>
              <a:t> </a:t>
            </a:r>
            <a:r>
              <a:rPr lang="en-US" dirty="0" err="1"/>
              <a:t>tự</a:t>
            </a:r>
            <a:r>
              <a:rPr lang="en-US" dirty="0"/>
              <a:t> </a:t>
            </a:r>
            <a:r>
              <a:rPr lang="en-US" dirty="0" err="1"/>
              <a:t>chiếm</a:t>
            </a:r>
            <a:r>
              <a:rPr lang="en-US" dirty="0"/>
              <a:t> major =&gt; </a:t>
            </a:r>
            <a:r>
              <a:rPr lang="en-US" dirty="0" err="1"/>
              <a:t>Thể</a:t>
            </a:r>
            <a:r>
              <a:rPr lang="en-US" dirty="0"/>
              <a:t> </a:t>
            </a:r>
            <a:r>
              <a:rPr lang="en-US" dirty="0" err="1"/>
              <a:t>hiện</a:t>
            </a:r>
            <a:r>
              <a:rPr lang="en-US" dirty="0"/>
              <a:t> </a:t>
            </a:r>
            <a:r>
              <a:rPr lang="en-US" dirty="0" err="1"/>
              <a:t>có</a:t>
            </a:r>
            <a:r>
              <a:rPr lang="en-US" dirty="0"/>
              <a:t> </a:t>
            </a:r>
            <a:r>
              <a:rPr lang="en-US" dirty="0" err="1"/>
              <a:t>sự</a:t>
            </a:r>
            <a:r>
              <a:rPr lang="en-US" dirty="0"/>
              <a:t> </a:t>
            </a:r>
            <a:r>
              <a:rPr lang="en-US" dirty="0" err="1"/>
              <a:t>bảo</a:t>
            </a:r>
            <a:r>
              <a:rPr lang="en-US" dirty="0"/>
              <a:t> </a:t>
            </a:r>
            <a:r>
              <a:rPr lang="en-US" dirty="0" err="1"/>
              <a:t>tồn</a:t>
            </a:r>
            <a:r>
              <a:rPr lang="en-US" dirty="0"/>
              <a:t> ở </a:t>
            </a:r>
            <a:r>
              <a:rPr lang="en-US" dirty="0" err="1"/>
              <a:t>mức</a:t>
            </a:r>
            <a:r>
              <a:rPr lang="en-US" dirty="0"/>
              <a:t> </a:t>
            </a:r>
            <a:r>
              <a:rPr lang="en-US" dirty="0" err="1"/>
              <a:t>khá</a:t>
            </a:r>
            <a:r>
              <a:rPr lang="en-US" dirty="0"/>
              <a:t> </a:t>
            </a:r>
            <a:r>
              <a:rPr lang="en-US" dirty="0" err="1"/>
              <a:t>nhưng</a:t>
            </a:r>
            <a:r>
              <a:rPr lang="en-US" dirty="0"/>
              <a:t> </a:t>
            </a:r>
            <a:r>
              <a:rPr lang="en-US" dirty="0" err="1"/>
              <a:t>vẫn</a:t>
            </a:r>
            <a:r>
              <a:rPr lang="en-US" dirty="0"/>
              <a:t> </a:t>
            </a:r>
            <a:r>
              <a:rPr lang="en-US" dirty="0" err="1"/>
              <a:t>xảy</a:t>
            </a:r>
            <a:r>
              <a:rPr lang="en-US" dirty="0"/>
              <a:t> </a:t>
            </a:r>
            <a:r>
              <a:rPr lang="en-US" dirty="0" err="1"/>
              <a:t>ra</a:t>
            </a:r>
            <a:r>
              <a:rPr lang="en-US" dirty="0"/>
              <a:t> </a:t>
            </a:r>
            <a:r>
              <a:rPr lang="en-US" dirty="0" err="1"/>
              <a:t>đột</a:t>
            </a:r>
            <a:r>
              <a:rPr lang="en-US" dirty="0"/>
              <a:t> </a:t>
            </a:r>
            <a:r>
              <a:rPr lang="en-US" dirty="0" err="1"/>
              <a:t>biến</a:t>
            </a:r>
            <a:endParaRPr lang="en-US" dirty="0"/>
          </a:p>
          <a:p>
            <a:pPr marL="171450" lvl="0" indent="-171450" algn="l" rtl="0">
              <a:spcBef>
                <a:spcPts val="0"/>
              </a:spcBef>
              <a:spcAft>
                <a:spcPts val="0"/>
              </a:spcAft>
              <a:buFont typeface="Arial" panose="020B0604020202020204" pitchFamily="34" charset="0"/>
              <a:buChar char="•"/>
            </a:pPr>
            <a:r>
              <a:rPr lang="en-US" dirty="0"/>
              <a:t>Majority &lt; 60% =&gt; </a:t>
            </a:r>
            <a:r>
              <a:rPr lang="en-US" dirty="0" err="1"/>
              <a:t>Không</a:t>
            </a:r>
            <a:r>
              <a:rPr lang="en-US" dirty="0"/>
              <a:t> </a:t>
            </a:r>
            <a:r>
              <a:rPr lang="en-US" dirty="0" err="1"/>
              <a:t>tô</a:t>
            </a:r>
            <a:r>
              <a:rPr lang="en-US" dirty="0"/>
              <a:t> </a:t>
            </a:r>
            <a:r>
              <a:rPr lang="en-US" dirty="0" err="1"/>
              <a:t>màu</a:t>
            </a:r>
            <a:r>
              <a:rPr lang="en-US" dirty="0"/>
              <a:t>, </a:t>
            </a:r>
            <a:r>
              <a:rPr lang="en-US" dirty="0" err="1"/>
              <a:t>sử</a:t>
            </a:r>
            <a:r>
              <a:rPr lang="en-US" dirty="0"/>
              <a:t> </a:t>
            </a:r>
            <a:r>
              <a:rPr lang="en-US" dirty="0" err="1"/>
              <a:t>dụng</a:t>
            </a:r>
            <a:r>
              <a:rPr lang="en-US" dirty="0"/>
              <a:t> </a:t>
            </a:r>
            <a:r>
              <a:rPr lang="en-US" dirty="0" err="1"/>
              <a:t>dấu</a:t>
            </a:r>
            <a:r>
              <a:rPr lang="en-US" dirty="0"/>
              <a:t> </a:t>
            </a:r>
            <a:r>
              <a:rPr lang="en-US" dirty="0" err="1"/>
              <a:t>chấm</a:t>
            </a:r>
            <a:r>
              <a:rPr lang="en-US" dirty="0"/>
              <a:t> =&gt; </a:t>
            </a:r>
            <a:r>
              <a:rPr lang="en-US" dirty="0" err="1"/>
              <a:t>Quá</a:t>
            </a:r>
            <a:r>
              <a:rPr lang="en-US" dirty="0"/>
              <a:t> </a:t>
            </a:r>
            <a:r>
              <a:rPr lang="en-US" dirty="0" err="1"/>
              <a:t>nhiều</a:t>
            </a:r>
            <a:r>
              <a:rPr lang="en-US" dirty="0"/>
              <a:t> </a:t>
            </a:r>
            <a:r>
              <a:rPr lang="en-US" dirty="0" err="1"/>
              <a:t>đột</a:t>
            </a:r>
            <a:r>
              <a:rPr lang="en-US" dirty="0"/>
              <a:t> </a:t>
            </a:r>
            <a:r>
              <a:rPr lang="en-US" dirty="0" err="1"/>
              <a:t>biến</a:t>
            </a:r>
            <a:r>
              <a:rPr lang="en-US" dirty="0"/>
              <a:t> </a:t>
            </a:r>
            <a:r>
              <a:rPr lang="en-US" dirty="0" err="1"/>
              <a:t>hoặc</a:t>
            </a:r>
            <a:r>
              <a:rPr lang="en-US" dirty="0"/>
              <a:t> </a:t>
            </a:r>
            <a:r>
              <a:rPr lang="en-US" dirty="0" err="1"/>
              <a:t>khoảng</a:t>
            </a:r>
            <a:r>
              <a:rPr lang="en-US" dirty="0"/>
              <a:t> </a:t>
            </a:r>
            <a:r>
              <a:rPr lang="en-US" dirty="0" err="1"/>
              <a:t>trống</a:t>
            </a:r>
            <a:r>
              <a:rPr lang="en-US" dirty="0"/>
              <a:t> =&gt; </a:t>
            </a:r>
            <a:r>
              <a:rPr lang="en-US" dirty="0" err="1"/>
              <a:t>Không</a:t>
            </a:r>
            <a:r>
              <a:rPr lang="en-US" dirty="0"/>
              <a:t> </a:t>
            </a:r>
            <a:r>
              <a:rPr lang="en-US" dirty="0" err="1"/>
              <a:t>có</a:t>
            </a:r>
            <a:r>
              <a:rPr lang="en-US" dirty="0"/>
              <a:t> </a:t>
            </a:r>
            <a:r>
              <a:rPr lang="en-US" dirty="0" err="1"/>
              <a:t>sự</a:t>
            </a:r>
            <a:r>
              <a:rPr lang="en-US" dirty="0"/>
              <a:t> </a:t>
            </a:r>
            <a:r>
              <a:rPr lang="en-US" dirty="0" err="1"/>
              <a:t>đồng</a:t>
            </a:r>
            <a:r>
              <a:rPr lang="en-US" dirty="0"/>
              <a:t> </a:t>
            </a:r>
            <a:r>
              <a:rPr lang="en-US" dirty="0" err="1"/>
              <a:t>thuận</a:t>
            </a:r>
            <a:r>
              <a:rPr lang="en-US" dirty="0"/>
              <a:t> </a:t>
            </a:r>
            <a:r>
              <a:rPr lang="en-US" dirty="0" err="1"/>
              <a:t>rõ</a:t>
            </a:r>
            <a:r>
              <a:rPr lang="en-US" dirty="0"/>
              <a:t> </a:t>
            </a:r>
            <a:r>
              <a:rPr lang="en-US" dirty="0" err="1"/>
              <a:t>ràng</a:t>
            </a:r>
            <a:r>
              <a:rPr lang="en-US" dirty="0"/>
              <a:t>.</a:t>
            </a:r>
          </a:p>
          <a:p>
            <a:pPr marL="171450" lvl="0" indent="-171450" algn="l" rtl="0">
              <a:spcBef>
                <a:spcPts val="0"/>
              </a:spcBef>
              <a:spcAft>
                <a:spcPts val="0"/>
              </a:spcAft>
              <a:buFont typeface="Arial" panose="020B0604020202020204" pitchFamily="34" charset="0"/>
              <a:buChar char="•"/>
            </a:pPr>
            <a:endParaRPr lang="en-US" dirty="0"/>
          </a:p>
          <a:p>
            <a:pPr marL="0" lvl="0" indent="0" algn="l" rtl="0">
              <a:spcBef>
                <a:spcPts val="0"/>
              </a:spcBef>
              <a:spcAft>
                <a:spcPts val="0"/>
              </a:spcAft>
              <a:buFont typeface="Arial" panose="020B0604020202020204" pitchFamily="34" charset="0"/>
              <a:buNone/>
            </a:pPr>
            <a:r>
              <a:rPr lang="en-US" b="1" dirty="0" err="1"/>
              <a:t>Cơ</a:t>
            </a:r>
            <a:r>
              <a:rPr lang="en-US" b="1" dirty="0"/>
              <a:t> </a:t>
            </a:r>
            <a:r>
              <a:rPr lang="en-US" b="1" dirty="0" err="1"/>
              <a:t>chế</a:t>
            </a:r>
            <a:r>
              <a:rPr lang="en-US" b="1" dirty="0"/>
              <a:t> </a:t>
            </a:r>
            <a:r>
              <a:rPr lang="en-US" b="1" dirty="0" err="1"/>
              <a:t>sắp</a:t>
            </a:r>
            <a:r>
              <a:rPr lang="en-US" b="1" dirty="0"/>
              <a:t> </a:t>
            </a:r>
            <a:r>
              <a:rPr lang="en-US" b="1" dirty="0" err="1"/>
              <a:t>hàng</a:t>
            </a:r>
            <a:r>
              <a:rPr lang="en-US" b="1" dirty="0"/>
              <a:t> </a:t>
            </a:r>
            <a:r>
              <a:rPr lang="en-US" b="1" dirty="0" err="1"/>
              <a:t>khi</a:t>
            </a:r>
            <a:r>
              <a:rPr lang="en-US" b="1" dirty="0"/>
              <a:t> </a:t>
            </a:r>
            <a:r>
              <a:rPr lang="en-US" b="1" dirty="0" err="1"/>
              <a:t>có</a:t>
            </a:r>
            <a:r>
              <a:rPr lang="en-US" b="1" dirty="0"/>
              <a:t> </a:t>
            </a:r>
            <a:r>
              <a:rPr lang="en-US" b="1" dirty="0" err="1"/>
              <a:t>từ</a:t>
            </a:r>
            <a:r>
              <a:rPr lang="en-US" b="1" dirty="0"/>
              <a:t> 3 </a:t>
            </a:r>
            <a:r>
              <a:rPr lang="en-US" b="1" dirty="0" err="1"/>
              <a:t>trình</a:t>
            </a:r>
            <a:r>
              <a:rPr lang="en-US" b="1" dirty="0"/>
              <a:t> </a:t>
            </a:r>
            <a:r>
              <a:rPr lang="en-US" b="1" dirty="0" err="1"/>
              <a:t>tự</a:t>
            </a:r>
            <a:r>
              <a:rPr lang="en-US" b="1" dirty="0"/>
              <a:t> </a:t>
            </a:r>
            <a:r>
              <a:rPr lang="en-US" b="1" dirty="0" err="1"/>
              <a:t>trở</a:t>
            </a:r>
            <a:r>
              <a:rPr lang="en-US" b="1" dirty="0"/>
              <a:t> </a:t>
            </a:r>
            <a:r>
              <a:rPr lang="en-US" b="1" dirty="0" err="1"/>
              <a:t>lên</a:t>
            </a:r>
            <a:r>
              <a:rPr lang="en-US" b="1" dirty="0"/>
              <a:t>:</a:t>
            </a:r>
          </a:p>
          <a:p>
            <a:pPr marL="171450" lvl="0" indent="-171450" algn="l" rtl="0">
              <a:spcBef>
                <a:spcPts val="0"/>
              </a:spcBef>
              <a:spcAft>
                <a:spcPts val="0"/>
              </a:spcAft>
              <a:buFont typeface="Arial" panose="020B0604020202020204" pitchFamily="34" charset="0"/>
              <a:buChar char="•"/>
            </a:pPr>
            <a:r>
              <a:rPr lang="en-US" b="0" dirty="0" err="1"/>
              <a:t>Chấm</a:t>
            </a:r>
            <a:r>
              <a:rPr lang="en-US" b="0" dirty="0"/>
              <a:t> </a:t>
            </a:r>
            <a:r>
              <a:rPr lang="en-US" b="0" dirty="0" err="1"/>
              <a:t>điểm</a:t>
            </a:r>
            <a:r>
              <a:rPr lang="en-US" b="0" dirty="0"/>
              <a:t> </a:t>
            </a:r>
            <a:r>
              <a:rPr lang="en-US" b="0" dirty="0" err="1"/>
              <a:t>cặp</a:t>
            </a:r>
            <a:r>
              <a:rPr lang="en-US" b="0" dirty="0"/>
              <a:t> </a:t>
            </a:r>
            <a:r>
              <a:rPr lang="en-US" b="0" dirty="0" err="1"/>
              <a:t>kí</a:t>
            </a:r>
            <a:r>
              <a:rPr lang="en-US" b="0" dirty="0"/>
              <a:t> </a:t>
            </a:r>
            <a:r>
              <a:rPr lang="en-US" b="0" dirty="0" err="1"/>
              <a:t>tự</a:t>
            </a:r>
            <a:r>
              <a:rPr lang="en-US" b="0" dirty="0"/>
              <a:t>: Match +2, Mismatch -1, Gap -1</a:t>
            </a:r>
          </a:p>
          <a:p>
            <a:pPr marL="171450" lvl="0" indent="-171450" algn="l" rtl="0">
              <a:spcBef>
                <a:spcPts val="0"/>
              </a:spcBef>
              <a:spcAft>
                <a:spcPts val="0"/>
              </a:spcAft>
              <a:buFont typeface="Arial" panose="020B0604020202020204" pitchFamily="34" charset="0"/>
              <a:buChar char="•"/>
            </a:pPr>
            <a:r>
              <a:rPr lang="en-US" b="0" dirty="0"/>
              <a:t>Khi </a:t>
            </a:r>
            <a:r>
              <a:rPr lang="en-US" b="0" dirty="0" err="1"/>
              <a:t>có</a:t>
            </a:r>
            <a:r>
              <a:rPr lang="en-US" b="0" dirty="0"/>
              <a:t> </a:t>
            </a:r>
            <a:r>
              <a:rPr lang="en-US" b="0" dirty="0" err="1"/>
              <a:t>một</a:t>
            </a:r>
            <a:r>
              <a:rPr lang="en-US" b="0" dirty="0"/>
              <a:t> </a:t>
            </a:r>
            <a:r>
              <a:rPr lang="en-US" b="0" dirty="0" err="1"/>
              <a:t>ký</a:t>
            </a:r>
            <a:r>
              <a:rPr lang="en-US" b="0" dirty="0"/>
              <a:t> </a:t>
            </a:r>
            <a:r>
              <a:rPr lang="en-US" b="0" dirty="0" err="1"/>
              <a:t>tự</a:t>
            </a:r>
            <a:r>
              <a:rPr lang="en-US" b="0" dirty="0"/>
              <a:t> </a:t>
            </a:r>
            <a:r>
              <a:rPr lang="en-US" b="0" dirty="0" err="1"/>
              <a:t>của</a:t>
            </a:r>
            <a:r>
              <a:rPr lang="en-US" b="0" dirty="0"/>
              <a:t> </a:t>
            </a:r>
            <a:r>
              <a:rPr lang="en-US" b="0" dirty="0" err="1"/>
              <a:t>trình</a:t>
            </a:r>
            <a:r>
              <a:rPr lang="en-US" b="0" dirty="0"/>
              <a:t> </a:t>
            </a:r>
            <a:r>
              <a:rPr lang="en-US" b="0" dirty="0" err="1"/>
              <a:t>tự</a:t>
            </a:r>
            <a:r>
              <a:rPr lang="en-US" b="0" dirty="0"/>
              <a:t> </a:t>
            </a:r>
            <a:r>
              <a:rPr lang="en-US" b="0" dirty="0" err="1"/>
              <a:t>mới</a:t>
            </a:r>
            <a:r>
              <a:rPr lang="en-US" b="0" dirty="0"/>
              <a:t> </a:t>
            </a:r>
            <a:r>
              <a:rPr lang="en-US" b="0" dirty="0" err="1"/>
              <a:t>ghép</a:t>
            </a:r>
            <a:r>
              <a:rPr lang="en-US" b="0" dirty="0"/>
              <a:t> </a:t>
            </a:r>
            <a:r>
              <a:rPr lang="en-US" b="0" dirty="0" err="1"/>
              <a:t>vào</a:t>
            </a:r>
            <a:r>
              <a:rPr lang="en-US" b="0" dirty="0"/>
              <a:t> 1 </a:t>
            </a:r>
            <a:r>
              <a:rPr lang="en-US" b="0" dirty="0" err="1"/>
              <a:t>cột</a:t>
            </a:r>
            <a:r>
              <a:rPr lang="en-US" b="0" dirty="0"/>
              <a:t> </a:t>
            </a:r>
            <a:r>
              <a:rPr lang="en-US" b="0" dirty="0" err="1"/>
              <a:t>của</a:t>
            </a:r>
            <a:r>
              <a:rPr lang="en-US" b="0" dirty="0"/>
              <a:t> </a:t>
            </a:r>
            <a:r>
              <a:rPr lang="en-US" b="0" dirty="0" err="1"/>
              <a:t>nhóm</a:t>
            </a:r>
            <a:r>
              <a:rPr lang="en-US" b="0" dirty="0"/>
              <a:t> (Profile) </a:t>
            </a:r>
            <a:r>
              <a:rPr lang="en-US" b="0" dirty="0" err="1"/>
              <a:t>đã</a:t>
            </a:r>
            <a:r>
              <a:rPr lang="en-US" b="0" dirty="0"/>
              <a:t> </a:t>
            </a:r>
            <a:r>
              <a:rPr lang="en-US" b="0" dirty="0" err="1"/>
              <a:t>gióng</a:t>
            </a:r>
            <a:r>
              <a:rPr lang="en-US" b="0" dirty="0"/>
              <a:t> </a:t>
            </a:r>
            <a:r>
              <a:rPr lang="en-US" b="0" dirty="0" err="1"/>
              <a:t>hàng</a:t>
            </a:r>
            <a:r>
              <a:rPr lang="en-US" b="0" dirty="0"/>
              <a:t> </a:t>
            </a:r>
            <a:r>
              <a:rPr lang="en-US" b="0" dirty="0" err="1"/>
              <a:t>trước</a:t>
            </a:r>
            <a:r>
              <a:rPr lang="en-US" b="0" dirty="0"/>
              <a:t> </a:t>
            </a:r>
            <a:r>
              <a:rPr lang="en-US" b="0" dirty="0" err="1"/>
              <a:t>đó</a:t>
            </a:r>
            <a:r>
              <a:rPr lang="en-US" b="0" dirty="0"/>
              <a:t>, </a:t>
            </a:r>
            <a:r>
              <a:rPr lang="en-US" b="0" dirty="0" err="1"/>
              <a:t>thuật</a:t>
            </a:r>
            <a:r>
              <a:rPr lang="en-US" b="0" dirty="0"/>
              <a:t> </a:t>
            </a:r>
            <a:r>
              <a:rPr lang="en-US" b="0" dirty="0" err="1"/>
              <a:t>toán</a:t>
            </a:r>
            <a:r>
              <a:rPr lang="en-US" b="0" dirty="0"/>
              <a:t> </a:t>
            </a:r>
            <a:r>
              <a:rPr lang="en-US" b="0" dirty="0" err="1"/>
              <a:t>sẽ</a:t>
            </a:r>
            <a:r>
              <a:rPr lang="en-US" b="0" dirty="0"/>
              <a:t> </a:t>
            </a:r>
            <a:r>
              <a:rPr lang="en-US" b="0" dirty="0" err="1"/>
              <a:t>tính</a:t>
            </a:r>
            <a:r>
              <a:rPr lang="en-US" b="0" dirty="0"/>
              <a:t> </a:t>
            </a:r>
            <a:r>
              <a:rPr lang="en-US" b="0" dirty="0" err="1"/>
              <a:t>tổng</a:t>
            </a:r>
            <a:r>
              <a:rPr lang="en-US" b="0" dirty="0"/>
              <a:t> </a:t>
            </a:r>
            <a:r>
              <a:rPr lang="en-US" b="0" dirty="0" err="1"/>
              <a:t>điểm</a:t>
            </a:r>
            <a:r>
              <a:rPr lang="en-US" b="0" dirty="0"/>
              <a:t> </a:t>
            </a:r>
            <a:r>
              <a:rPr lang="en-US" b="0" dirty="0" err="1"/>
              <a:t>của</a:t>
            </a:r>
            <a:r>
              <a:rPr lang="en-US" b="0" dirty="0"/>
              <a:t> </a:t>
            </a:r>
            <a:r>
              <a:rPr lang="en-US" b="0" dirty="0" err="1"/>
              <a:t>ký</a:t>
            </a:r>
            <a:r>
              <a:rPr lang="en-US" b="0" dirty="0"/>
              <a:t> </a:t>
            </a:r>
            <a:r>
              <a:rPr lang="en-US" b="0" dirty="0" err="1"/>
              <a:t>tự</a:t>
            </a:r>
            <a:r>
              <a:rPr lang="en-US" b="0" dirty="0"/>
              <a:t> </a:t>
            </a:r>
            <a:r>
              <a:rPr lang="en-US" b="0" dirty="0" err="1"/>
              <a:t>đó</a:t>
            </a:r>
            <a:r>
              <a:rPr lang="en-US" b="0" dirty="0"/>
              <a:t> </a:t>
            </a:r>
            <a:r>
              <a:rPr lang="en-US" b="0" dirty="0" err="1"/>
              <a:t>với</a:t>
            </a:r>
            <a:r>
              <a:rPr lang="en-US" b="0" dirty="0"/>
              <a:t> </a:t>
            </a:r>
            <a:r>
              <a:rPr lang="en-US" b="0" dirty="0" err="1"/>
              <a:t>từng</a:t>
            </a:r>
            <a:r>
              <a:rPr lang="en-US" b="0" dirty="0"/>
              <a:t> </a:t>
            </a:r>
            <a:r>
              <a:rPr lang="en-US" b="0" dirty="0" err="1"/>
              <a:t>ký</a:t>
            </a:r>
            <a:r>
              <a:rPr lang="en-US" b="0" dirty="0"/>
              <a:t> </a:t>
            </a:r>
            <a:r>
              <a:rPr lang="en-US" b="0" dirty="0" err="1"/>
              <a:t>tự</a:t>
            </a:r>
            <a:r>
              <a:rPr lang="en-US" b="0" dirty="0"/>
              <a:t> </a:t>
            </a:r>
            <a:r>
              <a:rPr lang="en-US" b="0" dirty="0" err="1"/>
              <a:t>trong</a:t>
            </a:r>
            <a:r>
              <a:rPr lang="en-US" b="0" dirty="0"/>
              <a:t> </a:t>
            </a:r>
            <a:r>
              <a:rPr lang="en-US" b="0" dirty="0" err="1"/>
              <a:t>cột</a:t>
            </a:r>
            <a:r>
              <a:rPr lang="en-US" b="0" dirty="0"/>
              <a:t>, </a:t>
            </a:r>
            <a:r>
              <a:rPr lang="en-US" b="0" dirty="0" err="1"/>
              <a:t>sau</a:t>
            </a:r>
            <a:r>
              <a:rPr lang="en-US" b="0" dirty="0"/>
              <a:t> </a:t>
            </a:r>
            <a:r>
              <a:rPr lang="en-US" b="0" dirty="0" err="1"/>
              <a:t>đó</a:t>
            </a:r>
            <a:r>
              <a:rPr lang="en-US" b="0" dirty="0"/>
              <a:t> chia </a:t>
            </a:r>
            <a:r>
              <a:rPr lang="en-US" b="0" dirty="0" err="1"/>
              <a:t>ra</a:t>
            </a:r>
            <a:r>
              <a:rPr lang="en-US" b="0" dirty="0"/>
              <a:t> </a:t>
            </a:r>
            <a:r>
              <a:rPr lang="en-US" b="0" dirty="0" err="1"/>
              <a:t>lấy</a:t>
            </a:r>
            <a:r>
              <a:rPr lang="en-US" b="0" dirty="0"/>
              <a:t> </a:t>
            </a:r>
            <a:r>
              <a:rPr lang="en-US" b="0" dirty="0" err="1"/>
              <a:t>trung</a:t>
            </a:r>
            <a:r>
              <a:rPr lang="en-US" b="0" dirty="0"/>
              <a:t> </a:t>
            </a:r>
            <a:r>
              <a:rPr lang="en-US" b="0" dirty="0" err="1"/>
              <a:t>bình</a:t>
            </a:r>
            <a:r>
              <a:rPr lang="en-US" b="0" dirty="0"/>
              <a:t> </a:t>
            </a:r>
            <a:r>
              <a:rPr lang="en-US" b="0" dirty="0" err="1"/>
              <a:t>cộng</a:t>
            </a:r>
            <a:r>
              <a:rPr lang="en-US" b="0" dirty="0"/>
              <a:t>.</a:t>
            </a:r>
          </a:p>
          <a:p>
            <a:pPr marL="171450" lvl="0" indent="-171450" algn="l" rtl="0">
              <a:spcBef>
                <a:spcPts val="0"/>
              </a:spcBef>
              <a:spcAft>
                <a:spcPts val="0"/>
              </a:spcAft>
              <a:buFont typeface="Arial" panose="020B0604020202020204" pitchFamily="34" charset="0"/>
              <a:buChar char="•"/>
            </a:pPr>
            <a:r>
              <a:rPr lang="en-US" b="0" dirty="0" err="1"/>
              <a:t>Điểm</a:t>
            </a:r>
            <a:r>
              <a:rPr lang="en-US" b="0" dirty="0"/>
              <a:t> </a:t>
            </a:r>
            <a:r>
              <a:rPr lang="en-US" b="0" dirty="0" err="1"/>
              <a:t>trung</a:t>
            </a:r>
            <a:r>
              <a:rPr lang="en-US" b="0" dirty="0"/>
              <a:t> </a:t>
            </a:r>
            <a:r>
              <a:rPr lang="en-US" b="0" dirty="0" err="1"/>
              <a:t>bình</a:t>
            </a:r>
            <a:r>
              <a:rPr lang="en-US" b="0" dirty="0"/>
              <a:t> </a:t>
            </a:r>
            <a:r>
              <a:rPr lang="en-US" b="0" dirty="0" err="1"/>
              <a:t>cộng</a:t>
            </a:r>
            <a:r>
              <a:rPr lang="en-US" b="0" dirty="0"/>
              <a:t> </a:t>
            </a:r>
            <a:r>
              <a:rPr lang="en-US" b="0" dirty="0" err="1"/>
              <a:t>này</a:t>
            </a:r>
            <a:r>
              <a:rPr lang="en-US" b="0" dirty="0"/>
              <a:t> </a:t>
            </a:r>
            <a:r>
              <a:rPr lang="en-US" b="0" dirty="0" err="1"/>
              <a:t>sẽ</a:t>
            </a:r>
            <a:r>
              <a:rPr lang="en-US" b="0" dirty="0"/>
              <a:t> </a:t>
            </a:r>
            <a:r>
              <a:rPr lang="en-US" b="0" dirty="0" err="1"/>
              <a:t>được</a:t>
            </a:r>
            <a:r>
              <a:rPr lang="en-US" b="0" dirty="0"/>
              <a:t> </a:t>
            </a:r>
            <a:r>
              <a:rPr lang="en-US" b="0" dirty="0" err="1"/>
              <a:t>dùng</a:t>
            </a:r>
            <a:r>
              <a:rPr lang="en-US" b="0" dirty="0"/>
              <a:t> </a:t>
            </a:r>
            <a:r>
              <a:rPr lang="en-US" b="0" dirty="0" err="1"/>
              <a:t>trong</a:t>
            </a:r>
            <a:r>
              <a:rPr lang="en-US" b="0" dirty="0"/>
              <a:t> </a:t>
            </a:r>
            <a:r>
              <a:rPr lang="en-US" b="0" dirty="0" err="1"/>
              <a:t>bước</a:t>
            </a:r>
            <a:r>
              <a:rPr lang="en-US" b="0" dirty="0"/>
              <a:t> Quy </a:t>
            </a:r>
            <a:r>
              <a:rPr lang="en-US" b="0" dirty="0" err="1"/>
              <a:t>hoạch</a:t>
            </a:r>
            <a:r>
              <a:rPr lang="en-US" b="0" dirty="0"/>
              <a:t> </a:t>
            </a:r>
            <a:r>
              <a:rPr lang="en-US" b="0" dirty="0" err="1"/>
              <a:t>động</a:t>
            </a:r>
            <a:r>
              <a:rPr lang="en-US" b="0" dirty="0"/>
              <a:t>.</a:t>
            </a:r>
          </a:p>
          <a:p>
            <a:pPr marL="0" lvl="0" indent="0" algn="l" rtl="0">
              <a:spcBef>
                <a:spcPts val="0"/>
              </a:spcBef>
              <a:spcAft>
                <a:spcPts val="0"/>
              </a:spcAft>
              <a:buFont typeface="Arial" panose="020B0604020202020204" pitchFamily="34" charset="0"/>
              <a:buNone/>
            </a:pPr>
            <a:endParaRPr lang="en-US" b="0" dirty="0"/>
          </a:p>
          <a:p>
            <a:pPr marL="0" lvl="0" indent="0" algn="l" rtl="0">
              <a:spcBef>
                <a:spcPts val="0"/>
              </a:spcBef>
              <a:spcAft>
                <a:spcPts val="0"/>
              </a:spcAft>
              <a:buFont typeface="Arial" panose="020B0604020202020204" pitchFamily="34" charset="0"/>
              <a:buNone/>
            </a:pPr>
            <a:r>
              <a:rPr lang="vi-VN" dirty="0"/>
              <a:t>Để ghép trình tự mới tiếp theo vào Profile, nó dùng thuật toán bám sát 3 pha của Quy hoạch động:</a:t>
            </a:r>
            <a:endParaRPr lang="en-US" dirty="0"/>
          </a:p>
          <a:p>
            <a:pPr marL="171450" lvl="0" indent="-171450" algn="l" rtl="0">
              <a:spcBef>
                <a:spcPts val="0"/>
              </a:spcBef>
              <a:spcAft>
                <a:spcPts val="0"/>
              </a:spcAft>
              <a:buFont typeface="Arial" panose="020B0604020202020204" pitchFamily="34" charset="0"/>
              <a:buChar char="•"/>
            </a:pPr>
            <a:r>
              <a:rPr lang="vi-VN" b="1" dirty="0"/>
              <a:t>Khởi tạo ma trận (Initialization):</a:t>
            </a:r>
            <a:r>
              <a:rPr lang="vi-VN" dirty="0"/>
              <a:t> Kẻ một ma trận 2 chiều. Số hàng </a:t>
            </a:r>
            <a:r>
              <a:rPr lang="vi-VN" sz="1200" b="0" i="0" u="none" strike="noStrike" cap="none" dirty="0">
                <a:solidFill>
                  <a:schemeClr val="dk1"/>
                </a:solidFill>
                <a:latin typeface="Calibri"/>
                <a:ea typeface="Calibri"/>
                <a:cs typeface="Calibri"/>
                <a:sym typeface="Calibri"/>
              </a:rPr>
              <a:t>m</a:t>
            </a:r>
            <a:r>
              <a:rPr lang="vi-VN" dirty="0"/>
              <a:t> tương ứng với chiều dài của Profile hiện tại, số cột </a:t>
            </a:r>
            <a:r>
              <a:rPr lang="vi-VN" sz="1200" b="0" i="0" u="none" strike="noStrike" cap="none" dirty="0">
                <a:solidFill>
                  <a:schemeClr val="dk1"/>
                </a:solidFill>
                <a:latin typeface="Calibri"/>
                <a:ea typeface="Calibri"/>
                <a:cs typeface="Calibri"/>
                <a:sym typeface="Calibri"/>
              </a:rPr>
              <a:t>n</a:t>
            </a:r>
            <a:r>
              <a:rPr lang="vi-VN" dirty="0"/>
              <a:t> tương ứng với chiều dài của trình tự mới. Hàng đầu và cột đầu được điền sẵn điểm phạt khoảng trống cộng dồn.</a:t>
            </a:r>
            <a:endParaRPr lang="en-US" dirty="0"/>
          </a:p>
          <a:p>
            <a:pPr marL="171450" lvl="0" indent="-171450" algn="l" rtl="0">
              <a:spcBef>
                <a:spcPts val="0"/>
              </a:spcBef>
              <a:spcAft>
                <a:spcPts val="0"/>
              </a:spcAft>
              <a:buFont typeface="Arial" panose="020B0604020202020204" pitchFamily="34" charset="0"/>
              <a:buChar char="•"/>
            </a:pPr>
            <a:r>
              <a:rPr lang="vi-VN" b="1" dirty="0"/>
              <a:t>Điền ma trận (Matrix Filling):</a:t>
            </a:r>
            <a:r>
              <a:rPr lang="vi-VN" dirty="0"/>
              <a:t> Thuật toán duyệt qua từng ô trong ma trận, tại mỗi ô tính toán 3 nước đi và chọn ra điểm số lớn nhất (MAX)</a:t>
            </a:r>
            <a:r>
              <a:rPr lang="en-US" dirty="0"/>
              <a:t>.</a:t>
            </a:r>
          </a:p>
          <a:p>
            <a:pPr marL="628650" lvl="1" indent="-171450" algn="l" rtl="0">
              <a:spcBef>
                <a:spcPts val="0"/>
              </a:spcBef>
              <a:spcAft>
                <a:spcPts val="0"/>
              </a:spcAft>
              <a:buFont typeface="Arial" panose="020B0604020202020204" pitchFamily="34" charset="0"/>
              <a:buChar char="•"/>
            </a:pPr>
            <a:r>
              <a:rPr lang="en-US" i="1" dirty="0"/>
              <a:t>Đ</a:t>
            </a:r>
            <a:r>
              <a:rPr lang="vi-VN" i="1" dirty="0"/>
              <a:t>i chéo:</a:t>
            </a:r>
            <a:r>
              <a:rPr lang="vi-VN" dirty="0"/>
              <a:t> Gióng hàng cột của Profile với ký tự của trình tự mới (điểm được tính bằng hàm trung bình cộng ở Bước 1).</a:t>
            </a:r>
            <a:endParaRPr lang="en-US" dirty="0"/>
          </a:p>
          <a:p>
            <a:pPr marL="628650" lvl="1" indent="-171450" algn="l" rtl="0">
              <a:spcBef>
                <a:spcPts val="0"/>
              </a:spcBef>
              <a:spcAft>
                <a:spcPts val="0"/>
              </a:spcAft>
              <a:buFont typeface="Arial" panose="020B0604020202020204" pitchFamily="34" charset="0"/>
              <a:buChar char="•"/>
            </a:pPr>
            <a:r>
              <a:rPr lang="en-US" i="1" dirty="0"/>
              <a:t>Đ</a:t>
            </a:r>
            <a:r>
              <a:rPr lang="vi-VN" i="1" dirty="0"/>
              <a:t>i từ trái sang:</a:t>
            </a:r>
            <a:r>
              <a:rPr lang="vi-VN" dirty="0"/>
              <a:t> Chèn một khoảng trống (</a:t>
            </a:r>
            <a:r>
              <a:rPr lang="vi-VN" sz="1200" b="0" i="0" u="none" strike="noStrike" cap="none" dirty="0">
                <a:solidFill>
                  <a:schemeClr val="dk1"/>
                </a:solidFill>
                <a:latin typeface="Calibri"/>
                <a:ea typeface="Calibri"/>
                <a:cs typeface="Calibri"/>
                <a:sym typeface="Calibri"/>
              </a:rPr>
              <a:t>-</a:t>
            </a:r>
            <a:r>
              <a:rPr lang="vi-VN" dirty="0"/>
              <a:t>) vào trình tự mới.</a:t>
            </a:r>
            <a:endParaRPr lang="en-US" dirty="0"/>
          </a:p>
          <a:p>
            <a:pPr marL="628650" lvl="1" indent="-171450" algn="l" rtl="0">
              <a:spcBef>
                <a:spcPts val="0"/>
              </a:spcBef>
              <a:spcAft>
                <a:spcPts val="0"/>
              </a:spcAft>
              <a:buFont typeface="Arial" panose="020B0604020202020204" pitchFamily="34" charset="0"/>
              <a:buChar char="•"/>
            </a:pPr>
            <a:r>
              <a:rPr lang="en-US" i="1" dirty="0"/>
              <a:t>Đ</a:t>
            </a:r>
            <a:r>
              <a:rPr lang="vi-VN" i="1" dirty="0"/>
              <a:t>i từ trên xuống:</a:t>
            </a:r>
            <a:r>
              <a:rPr lang="vi-VN" dirty="0"/>
              <a:t> Chèn một cột toàn khoảng trống (</a:t>
            </a:r>
            <a:r>
              <a:rPr lang="vi-VN" sz="1200" b="0" i="0" u="none" strike="noStrike" cap="none" dirty="0">
                <a:solidFill>
                  <a:schemeClr val="dk1"/>
                </a:solidFill>
                <a:latin typeface="Calibri"/>
                <a:ea typeface="Calibri"/>
                <a:cs typeface="Calibri"/>
                <a:sym typeface="Calibri"/>
              </a:rPr>
              <a:t>-</a:t>
            </a:r>
            <a:r>
              <a:rPr lang="vi-VN" dirty="0"/>
              <a:t>) vào toàn bộ Profile.</a:t>
            </a:r>
            <a:endParaRPr lang="en-US" dirty="0"/>
          </a:p>
          <a:p>
            <a:pPr marL="171450" lvl="0" indent="-171450" algn="l" rtl="0">
              <a:spcBef>
                <a:spcPts val="0"/>
              </a:spcBef>
              <a:spcAft>
                <a:spcPts val="0"/>
              </a:spcAft>
              <a:buFont typeface="Arial" panose="020B0604020202020204" pitchFamily="34" charset="0"/>
              <a:buChar char="•"/>
            </a:pPr>
            <a:r>
              <a:rPr lang="vi-VN" b="1" dirty="0"/>
              <a:t>Truy vết (Backtracking):</a:t>
            </a:r>
            <a:r>
              <a:rPr lang="vi-VN" dirty="0"/>
              <a:t> Bắt đầu từ ô cuối cùng góc dưới cùng bên phải của ma trận (nơi có điểm số tối ưu nhất), thuật toán dò ngược lại đường đi để xuất ra chuỗi đã được chèn đủ các khoảng trống cho khớp nhau.</a:t>
            </a:r>
          </a:p>
          <a:p>
            <a:pPr marL="0" lvl="0" indent="0" algn="l" rtl="0">
              <a:spcBef>
                <a:spcPts val="0"/>
              </a:spcBef>
              <a:spcAft>
                <a:spcPts val="0"/>
              </a:spcAft>
              <a:buFont typeface="Arial" panose="020B0604020202020204" pitchFamily="34" charset="0"/>
              <a:buNone/>
            </a:pPr>
            <a:endParaRPr b="0" dirty="0"/>
          </a:p>
        </p:txBody>
      </p:sp>
      <p:sp>
        <p:nvSpPr>
          <p:cNvPr id="132" name="Google Shape;132;p3:notes">
            <a:extLst>
              <a:ext uri="{FF2B5EF4-FFF2-40B4-BE49-F238E27FC236}">
                <a16:creationId xmlns:a16="http://schemas.microsoft.com/office/drawing/2014/main" id="{C0CA6888-28AB-31C0-4F3B-596B76204D69}"/>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EEB1B933-4871-2B33-D13A-A860C1AF16BC}"/>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4430273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8B3545D-13B6-E1D8-A700-282A2BEC4EBE}"/>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1721FBF0-DD47-60DA-BE18-00F8C01387E1}"/>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2A4566E1-306B-B29D-808D-BEC82EA3B7F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Font typeface="Arial" panose="020B0604020202020204" pitchFamily="34" charset="0"/>
              <a:buChar char="•"/>
            </a:pPr>
            <a:r>
              <a:rPr lang="vi-VN" dirty="0"/>
              <a:t>Trong phương pháp Progressive, các trình tự được gộp dần với nhau tạo thành các nhóm (Profile).</a:t>
            </a:r>
            <a:r>
              <a:rPr lang="en-US" dirty="0"/>
              <a:t> </a:t>
            </a:r>
            <a:r>
              <a:rPr lang="vi-VN" dirty="0"/>
              <a:t>Bản chất của thuật toán tham lam là luôn đưa ra quyết định tốt nhất tại </a:t>
            </a:r>
            <a:r>
              <a:rPr lang="vi-VN" b="1" dirty="0"/>
              <a:t>thời điểm hiện tại</a:t>
            </a:r>
            <a:r>
              <a:rPr lang="vi-VN" dirty="0"/>
              <a:t> (địa phương/cục bộ), thay vì nhìn vào bức tranh tổng thể (toàn cục).</a:t>
            </a:r>
            <a:endParaRPr lang="en-US" dirty="0"/>
          </a:p>
          <a:p>
            <a:pPr marL="171450" lvl="0" indent="-171450" algn="l" rtl="0">
              <a:spcBef>
                <a:spcPts val="0"/>
              </a:spcBef>
              <a:spcAft>
                <a:spcPts val="0"/>
              </a:spcAft>
              <a:buFont typeface="Arial" panose="020B0604020202020204" pitchFamily="34" charset="0"/>
              <a:buChar char="•"/>
            </a:pPr>
            <a:r>
              <a:rPr lang="vi-VN" dirty="0"/>
              <a:t>Khi hai trình tự (hoặc hai nhóm) được gióng hàng với nhau ở một bước sớm, thuật toán sẽ chèn các khoảng trống (</a:t>
            </a:r>
            <a:r>
              <a:rPr lang="vi-VN" sz="1200" b="0" i="0" u="none" strike="noStrike" cap="none" dirty="0">
                <a:solidFill>
                  <a:schemeClr val="dk1"/>
                </a:solidFill>
                <a:latin typeface="Calibri"/>
                <a:ea typeface="Calibri"/>
                <a:cs typeface="Calibri"/>
                <a:sym typeface="Calibri"/>
              </a:rPr>
              <a:t>-</a:t>
            </a:r>
            <a:r>
              <a:rPr lang="vi-VN" dirty="0"/>
              <a:t>) vào để tối ưu hóa điểm số cho </a:t>
            </a:r>
            <a:r>
              <a:rPr lang="vi-VN" b="1" dirty="0"/>
              <a:t>riêng cặp đó</a:t>
            </a:r>
            <a:r>
              <a:rPr lang="vi-VN" dirty="0"/>
              <a:t>.</a:t>
            </a:r>
            <a:endParaRPr lang="en-US" dirty="0"/>
          </a:p>
          <a:p>
            <a:pPr marL="171450" lvl="0" indent="-171450" algn="l" rtl="0">
              <a:spcBef>
                <a:spcPts val="0"/>
              </a:spcBef>
              <a:spcAft>
                <a:spcPts val="0"/>
              </a:spcAft>
              <a:buFont typeface="Arial" panose="020B0604020202020204" pitchFamily="34" charset="0"/>
              <a:buChar char="•"/>
            </a:pPr>
            <a:r>
              <a:rPr lang="vi-VN" dirty="0"/>
              <a:t>Khi quá trình này hoàn tất, bản gióng hàng của nhóm này sẽ bị </a:t>
            </a:r>
            <a:r>
              <a:rPr lang="vi-VN" b="1" dirty="0"/>
              <a:t>"khóa cứng" (frozen)</a:t>
            </a:r>
            <a:r>
              <a:rPr lang="vi-VN" dirty="0"/>
              <a:t>. Ở các bước sau, khi đem nhóm này đi gióng hàng với các trình tự/nhóm khác, thuật toán không được phép di chuyển hay thay đổi vị trí của các khoảng trống đã chèn từ trước.</a:t>
            </a:r>
          </a:p>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CF807817-ECB0-8EED-20F6-679A545DBDD2}"/>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D3A90736-EAAB-CDF3-598E-64EA93046074}"/>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32574365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304F9F6-91B1-8835-8641-EFA4620AC462}"/>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76A7A793-0388-85C6-5006-D2FB72BE2D61}"/>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F08E0893-4FD3-1B42-197B-D21A28C23B1E}"/>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23A28D1A-2076-6519-977E-AAF60701D6CD}"/>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CF96831E-70A1-DF7F-CD88-3ACDB2BE45B0}"/>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9115273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7E70603-B900-C7FB-C20D-3CA7A0C36A5B}"/>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0F44C757-9D34-CB91-835F-F0D36B8AF409}"/>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CA10D308-3E61-090B-32A0-650974BE282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err="1"/>
              <a:t>Cơ</a:t>
            </a:r>
            <a:r>
              <a:rPr lang="en-US" b="1" dirty="0"/>
              <a:t> </a:t>
            </a:r>
            <a:r>
              <a:rPr lang="en-US" b="1" dirty="0" err="1"/>
              <a:t>chế</a:t>
            </a:r>
            <a:r>
              <a:rPr lang="en-US" b="1" dirty="0"/>
              <a:t> Iteration &amp; Refinement:</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B1: </a:t>
            </a:r>
            <a:r>
              <a:rPr lang="en-US" b="1" dirty="0" err="1"/>
              <a:t>Tách</a:t>
            </a:r>
            <a:r>
              <a:rPr lang="en-US" b="1" dirty="0"/>
              <a:t> </a:t>
            </a:r>
            <a:r>
              <a:rPr lang="en-US" b="1" dirty="0" err="1"/>
              <a:t>trình</a:t>
            </a:r>
            <a:r>
              <a:rPr lang="en-US" b="1" dirty="0"/>
              <a:t> </a:t>
            </a:r>
            <a:r>
              <a:rPr lang="en-US" b="1" dirty="0" err="1"/>
              <a:t>tự</a:t>
            </a:r>
            <a:endParaRPr lang="en-US" b="1" dirty="0"/>
          </a:p>
          <a:p>
            <a:pPr marL="171450" lvl="0" indent="-171450" algn="l" rtl="0">
              <a:spcBef>
                <a:spcPts val="0"/>
              </a:spcBef>
              <a:spcAft>
                <a:spcPts val="0"/>
              </a:spcAft>
              <a:buFont typeface="Arial" panose="020B0604020202020204" pitchFamily="34" charset="0"/>
              <a:buChar char="•"/>
            </a:pPr>
            <a:r>
              <a:rPr lang="en-US" dirty="0" err="1"/>
              <a:t>Tách</a:t>
            </a:r>
            <a:r>
              <a:rPr lang="en-US" dirty="0"/>
              <a:t> </a:t>
            </a:r>
            <a:r>
              <a:rPr lang="en-US" dirty="0" err="1"/>
              <a:t>trình</a:t>
            </a:r>
            <a:r>
              <a:rPr lang="en-US" dirty="0"/>
              <a:t> </a:t>
            </a:r>
            <a:r>
              <a:rPr lang="en-US" dirty="0" err="1"/>
              <a:t>tự</a:t>
            </a:r>
            <a:r>
              <a:rPr lang="en-US" dirty="0"/>
              <a:t> </a:t>
            </a:r>
            <a:r>
              <a:rPr lang="en-US" dirty="0" err="1"/>
              <a:t>mục</a:t>
            </a:r>
            <a:r>
              <a:rPr lang="en-US" dirty="0"/>
              <a:t> </a:t>
            </a:r>
            <a:r>
              <a:rPr lang="en-US" dirty="0" err="1"/>
              <a:t>tiêu</a:t>
            </a:r>
            <a:r>
              <a:rPr lang="en-US" dirty="0"/>
              <a:t> (</a:t>
            </a:r>
            <a:r>
              <a:rPr lang="en-US" dirty="0" err="1"/>
              <a:t>lần</a:t>
            </a:r>
            <a:r>
              <a:rPr lang="en-US" dirty="0"/>
              <a:t> </a:t>
            </a:r>
            <a:r>
              <a:rPr lang="en-US" dirty="0" err="1"/>
              <a:t>lượt</a:t>
            </a:r>
            <a:r>
              <a:rPr lang="en-US" dirty="0"/>
              <a:t> </a:t>
            </a:r>
            <a:r>
              <a:rPr lang="en-US" dirty="0" err="1"/>
              <a:t>theo</a:t>
            </a:r>
            <a:r>
              <a:rPr lang="en-US" dirty="0"/>
              <a:t> index) </a:t>
            </a:r>
            <a:r>
              <a:rPr lang="en-US" dirty="0" err="1"/>
              <a:t>ra</a:t>
            </a:r>
            <a:r>
              <a:rPr lang="en-US" dirty="0"/>
              <a:t> </a:t>
            </a:r>
            <a:r>
              <a:rPr lang="en-US" dirty="0" err="1"/>
              <a:t>khỏi</a:t>
            </a:r>
            <a:r>
              <a:rPr lang="en-US" dirty="0"/>
              <a:t> </a:t>
            </a:r>
            <a:r>
              <a:rPr lang="en-US" dirty="0" err="1"/>
              <a:t>bản</a:t>
            </a:r>
            <a:r>
              <a:rPr lang="en-US" dirty="0"/>
              <a:t> </a:t>
            </a:r>
            <a:r>
              <a:rPr lang="en-US" dirty="0" err="1"/>
              <a:t>sắp</a:t>
            </a:r>
            <a:r>
              <a:rPr lang="en-US" dirty="0"/>
              <a:t> </a:t>
            </a:r>
            <a:r>
              <a:rPr lang="en-US" dirty="0" err="1"/>
              <a:t>hàng</a:t>
            </a:r>
            <a:r>
              <a:rPr lang="en-US" dirty="0"/>
              <a:t> </a:t>
            </a:r>
            <a:r>
              <a:rPr lang="en-US" dirty="0" err="1"/>
              <a:t>sơ</a:t>
            </a:r>
            <a:r>
              <a:rPr lang="en-US" dirty="0"/>
              <a:t> </a:t>
            </a:r>
            <a:r>
              <a:rPr lang="en-US" dirty="0" err="1"/>
              <a:t>bộ</a:t>
            </a:r>
            <a:endParaRPr lang="en-US" dirty="0"/>
          </a:p>
          <a:p>
            <a:pPr marL="171450" lvl="0" indent="-171450" algn="l" rtl="0">
              <a:spcBef>
                <a:spcPts val="0"/>
              </a:spcBef>
              <a:spcAft>
                <a:spcPts val="0"/>
              </a:spcAft>
              <a:buFont typeface="Arial" panose="020B0604020202020204" pitchFamily="34" charset="0"/>
              <a:buChar char="•"/>
            </a:pPr>
            <a:r>
              <a:rPr lang="en-US" dirty="0"/>
              <a:t>Các </a:t>
            </a:r>
            <a:r>
              <a:rPr lang="en-US" dirty="0" err="1"/>
              <a:t>trình</a:t>
            </a:r>
            <a:r>
              <a:rPr lang="en-US" dirty="0"/>
              <a:t> </a:t>
            </a:r>
            <a:r>
              <a:rPr lang="en-US" dirty="0" err="1"/>
              <a:t>tự</a:t>
            </a:r>
            <a:r>
              <a:rPr lang="en-US" dirty="0"/>
              <a:t> </a:t>
            </a:r>
            <a:r>
              <a:rPr lang="en-US" dirty="0" err="1"/>
              <a:t>còn</a:t>
            </a:r>
            <a:r>
              <a:rPr lang="en-US" dirty="0"/>
              <a:t> </a:t>
            </a:r>
            <a:r>
              <a:rPr lang="en-US" dirty="0" err="1"/>
              <a:t>lại</a:t>
            </a:r>
            <a:r>
              <a:rPr lang="en-US" dirty="0"/>
              <a:t> </a:t>
            </a:r>
            <a:r>
              <a:rPr lang="en-US" dirty="0" err="1"/>
              <a:t>tạo</a:t>
            </a:r>
            <a:r>
              <a:rPr lang="en-US" dirty="0"/>
              <a:t> </a:t>
            </a:r>
            <a:r>
              <a:rPr lang="en-US" dirty="0" err="1"/>
              <a:t>thành</a:t>
            </a:r>
            <a:r>
              <a:rPr lang="en-US" dirty="0"/>
              <a:t> </a:t>
            </a:r>
            <a:r>
              <a:rPr lang="en-US" dirty="0" err="1"/>
              <a:t>một</a:t>
            </a:r>
            <a:r>
              <a:rPr lang="en-US" dirty="0"/>
              <a:t> </a:t>
            </a:r>
            <a:r>
              <a:rPr lang="en-US" dirty="0" err="1"/>
              <a:t>nhóm</a:t>
            </a:r>
            <a:endParaRPr lang="en-US" dirty="0"/>
          </a:p>
          <a:p>
            <a:pPr marL="171450" lvl="0" indent="-171450" algn="l" rtl="0">
              <a:spcBef>
                <a:spcPts val="0"/>
              </a:spcBef>
              <a:spcAft>
                <a:spcPts val="0"/>
              </a:spcAft>
              <a:buFont typeface="Arial" panose="020B0604020202020204" pitchFamily="34" charset="0"/>
              <a:buChar char="•"/>
            </a:pPr>
            <a:endParaRPr lang="en-US" dirty="0"/>
          </a:p>
          <a:p>
            <a:pPr marL="0" lvl="0" indent="0" algn="l" rtl="0">
              <a:spcBef>
                <a:spcPts val="0"/>
              </a:spcBef>
              <a:spcAft>
                <a:spcPts val="0"/>
              </a:spcAft>
              <a:buNone/>
            </a:pPr>
            <a:r>
              <a:rPr lang="en-US" b="1" dirty="0"/>
              <a:t>B2: </a:t>
            </a:r>
            <a:r>
              <a:rPr lang="en-US" b="1" dirty="0" err="1"/>
              <a:t>Dọn</a:t>
            </a:r>
            <a:r>
              <a:rPr lang="en-US" b="1" dirty="0"/>
              <a:t> </a:t>
            </a:r>
            <a:r>
              <a:rPr lang="en-US" b="1" dirty="0" err="1"/>
              <a:t>nhóm</a:t>
            </a:r>
            <a:r>
              <a:rPr lang="en-US" b="1" dirty="0"/>
              <a:t> </a:t>
            </a:r>
            <a:r>
              <a:rPr lang="en-US" b="1" dirty="0" err="1"/>
              <a:t>còn</a:t>
            </a:r>
            <a:r>
              <a:rPr lang="en-US" b="1" dirty="0"/>
              <a:t> </a:t>
            </a:r>
            <a:r>
              <a:rPr lang="en-US" b="1" dirty="0" err="1"/>
              <a:t>lại</a:t>
            </a:r>
            <a:endParaRPr lang="en-US" b="1" dirty="0"/>
          </a:p>
          <a:p>
            <a:pPr marL="0" lvl="0" indent="0" algn="l" rtl="0">
              <a:spcBef>
                <a:spcPts val="0"/>
              </a:spcBef>
              <a:spcAft>
                <a:spcPts val="0"/>
              </a:spcAft>
              <a:buNone/>
            </a:pPr>
            <a:r>
              <a:rPr lang="en-US" dirty="0" err="1"/>
              <a:t>Loại</a:t>
            </a:r>
            <a:r>
              <a:rPr lang="en-US" dirty="0"/>
              <a:t> </a:t>
            </a:r>
            <a:r>
              <a:rPr lang="en-US" dirty="0" err="1"/>
              <a:t>bỏ</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cột</a:t>
            </a:r>
            <a:r>
              <a:rPr lang="en-US" dirty="0"/>
              <a:t> </a:t>
            </a:r>
            <a:r>
              <a:rPr lang="en-US" dirty="0" err="1"/>
              <a:t>rỗng</a:t>
            </a:r>
            <a:r>
              <a:rPr lang="en-US" dirty="0"/>
              <a:t> (</a:t>
            </a:r>
            <a:r>
              <a:rPr lang="en-US" dirty="0" err="1"/>
              <a:t>toàn</a:t>
            </a:r>
            <a:r>
              <a:rPr lang="en-US" dirty="0"/>
              <a:t> gap) </a:t>
            </a:r>
            <a:r>
              <a:rPr lang="en-US" dirty="0" err="1"/>
              <a:t>trong</a:t>
            </a:r>
            <a:r>
              <a:rPr lang="en-US" dirty="0"/>
              <a:t> </a:t>
            </a:r>
            <a:r>
              <a:rPr lang="en-US" dirty="0" err="1"/>
              <a:t>nhóm</a:t>
            </a:r>
            <a:r>
              <a:rPr lang="en-US" dirty="0"/>
              <a:t> </a:t>
            </a:r>
            <a:r>
              <a:rPr lang="en-US" dirty="0" err="1"/>
              <a:t>còn</a:t>
            </a:r>
            <a:r>
              <a:rPr lang="en-US" dirty="0"/>
              <a:t> </a:t>
            </a:r>
            <a:r>
              <a:rPr lang="en-US" dirty="0" err="1"/>
              <a:t>lại</a:t>
            </a:r>
            <a:r>
              <a:rPr lang="en-US" dirty="0"/>
              <a:t> =&gt; </a:t>
            </a:r>
            <a:r>
              <a:rPr lang="en-US" dirty="0" err="1"/>
              <a:t>Tại</a:t>
            </a:r>
            <a:r>
              <a:rPr lang="en-US" dirty="0"/>
              <a:t> </a:t>
            </a:r>
            <a:r>
              <a:rPr lang="en-US" dirty="0" err="1"/>
              <a:t>thành</a:t>
            </a:r>
            <a:r>
              <a:rPr lang="en-US" dirty="0"/>
              <a:t> </a:t>
            </a:r>
            <a:r>
              <a:rPr lang="en-US" dirty="0" err="1"/>
              <a:t>nhóm</a:t>
            </a:r>
            <a:r>
              <a:rPr lang="en-US" dirty="0"/>
              <a:t> </a:t>
            </a:r>
            <a:r>
              <a:rPr lang="en-US" dirty="0" err="1"/>
              <a:t>đã</a:t>
            </a:r>
            <a:r>
              <a:rPr lang="en-US" dirty="0"/>
              <a:t> </a:t>
            </a:r>
            <a:r>
              <a:rPr lang="en-US" dirty="0" err="1"/>
              <a:t>được</a:t>
            </a:r>
            <a:r>
              <a:rPr lang="en-US" dirty="0"/>
              <a:t> </a:t>
            </a:r>
            <a:r>
              <a:rPr lang="en-US" dirty="0" err="1"/>
              <a:t>làm</a:t>
            </a:r>
            <a:r>
              <a:rPr lang="en-US" dirty="0"/>
              <a:t> </a:t>
            </a:r>
            <a:r>
              <a:rPr lang="en-US" dirty="0" err="1"/>
              <a:t>sạch</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B3: Làm </a:t>
            </a:r>
            <a:r>
              <a:rPr lang="en-US" b="1" dirty="0" err="1"/>
              <a:t>sạch</a:t>
            </a:r>
            <a:r>
              <a:rPr lang="en-US" b="1" dirty="0"/>
              <a:t> </a:t>
            </a:r>
            <a:r>
              <a:rPr lang="en-US" b="1" dirty="0" err="1"/>
              <a:t>trình</a:t>
            </a:r>
            <a:r>
              <a:rPr lang="en-US" b="1" dirty="0"/>
              <a:t> </a:t>
            </a:r>
            <a:r>
              <a:rPr lang="en-US" b="1" dirty="0" err="1"/>
              <a:t>tự</a:t>
            </a:r>
            <a:r>
              <a:rPr lang="en-US" b="1" dirty="0"/>
              <a:t> </a:t>
            </a:r>
            <a:r>
              <a:rPr lang="en-US" b="1" dirty="0" err="1"/>
              <a:t>mục</a:t>
            </a:r>
            <a:r>
              <a:rPr lang="en-US" b="1" dirty="0"/>
              <a:t> </a:t>
            </a:r>
            <a:r>
              <a:rPr lang="en-US" b="1" dirty="0" err="1"/>
              <a:t>tiêu</a:t>
            </a:r>
            <a:r>
              <a:rPr lang="en-US" b="1" dirty="0"/>
              <a:t>:</a:t>
            </a:r>
          </a:p>
          <a:p>
            <a:pPr marL="0" lvl="0" indent="0" algn="l" rtl="0">
              <a:spcBef>
                <a:spcPts val="0"/>
              </a:spcBef>
              <a:spcAft>
                <a:spcPts val="0"/>
              </a:spcAft>
              <a:buNone/>
            </a:pPr>
            <a:r>
              <a:rPr lang="en-US" dirty="0" err="1"/>
              <a:t>Loại</a:t>
            </a:r>
            <a:r>
              <a:rPr lang="en-US" dirty="0"/>
              <a:t> </a:t>
            </a:r>
            <a:r>
              <a:rPr lang="en-US" dirty="0" err="1"/>
              <a:t>bỏ</a:t>
            </a:r>
            <a:r>
              <a:rPr lang="en-US" dirty="0"/>
              <a:t> </a:t>
            </a:r>
            <a:r>
              <a:rPr lang="en-US" dirty="0" err="1"/>
              <a:t>tất</a:t>
            </a:r>
            <a:r>
              <a:rPr lang="en-US" dirty="0"/>
              <a:t> </a:t>
            </a:r>
            <a:r>
              <a:rPr lang="en-US" dirty="0" err="1"/>
              <a:t>các</a:t>
            </a:r>
            <a:r>
              <a:rPr lang="en-US" dirty="0"/>
              <a:t> </a:t>
            </a:r>
            <a:r>
              <a:rPr lang="en-US" dirty="0" err="1"/>
              <a:t>các</a:t>
            </a:r>
            <a:r>
              <a:rPr lang="en-US" dirty="0"/>
              <a:t> gap </a:t>
            </a:r>
            <a:r>
              <a:rPr lang="en-US" dirty="0" err="1"/>
              <a:t>trong</a:t>
            </a:r>
            <a:r>
              <a:rPr lang="en-US" dirty="0"/>
              <a:t> </a:t>
            </a:r>
            <a:r>
              <a:rPr lang="en-US" dirty="0" err="1"/>
              <a:t>trình</a:t>
            </a:r>
            <a:r>
              <a:rPr lang="en-US" dirty="0"/>
              <a:t> </a:t>
            </a:r>
            <a:r>
              <a:rPr lang="en-US" dirty="0" err="1"/>
              <a:t>tự</a:t>
            </a:r>
            <a:r>
              <a:rPr lang="en-US" dirty="0"/>
              <a:t> </a:t>
            </a:r>
            <a:r>
              <a:rPr lang="en-US" dirty="0" err="1"/>
              <a:t>mục</a:t>
            </a:r>
            <a:r>
              <a:rPr lang="en-US" dirty="0"/>
              <a:t> </a:t>
            </a:r>
            <a:r>
              <a:rPr lang="en-US" dirty="0" err="1"/>
              <a:t>tiêu</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B4: </a:t>
            </a:r>
            <a:r>
              <a:rPr lang="en-US" b="1" dirty="0" err="1"/>
              <a:t>Gióng</a:t>
            </a:r>
            <a:r>
              <a:rPr lang="en-US" b="1" dirty="0"/>
              <a:t> </a:t>
            </a:r>
            <a:r>
              <a:rPr lang="en-US" b="1" dirty="0" err="1"/>
              <a:t>hàng</a:t>
            </a:r>
            <a:r>
              <a:rPr lang="en-US" b="1" dirty="0"/>
              <a:t> </a:t>
            </a:r>
            <a:r>
              <a:rPr lang="en-US" b="1" dirty="0" err="1"/>
              <a:t>lại</a:t>
            </a:r>
            <a:endParaRPr lang="en-US" b="1" dirty="0"/>
          </a:p>
          <a:p>
            <a:pPr marL="0" lvl="0" indent="0" algn="l" rtl="0">
              <a:spcBef>
                <a:spcPts val="0"/>
              </a:spcBef>
              <a:spcAft>
                <a:spcPts val="0"/>
              </a:spcAft>
              <a:buNone/>
            </a:pPr>
            <a:r>
              <a:rPr lang="en-US" dirty="0" err="1"/>
              <a:t>Trình</a:t>
            </a:r>
            <a:r>
              <a:rPr lang="en-US" dirty="0"/>
              <a:t> </a:t>
            </a:r>
            <a:r>
              <a:rPr lang="en-US" dirty="0" err="1"/>
              <a:t>tự</a:t>
            </a:r>
            <a:r>
              <a:rPr lang="en-US" dirty="0"/>
              <a:t> </a:t>
            </a:r>
            <a:r>
              <a:rPr lang="en-US" dirty="0" err="1"/>
              <a:t>mục</a:t>
            </a:r>
            <a:r>
              <a:rPr lang="en-US" dirty="0"/>
              <a:t> </a:t>
            </a:r>
            <a:r>
              <a:rPr lang="en-US" dirty="0" err="1"/>
              <a:t>tiêu</a:t>
            </a:r>
            <a:r>
              <a:rPr lang="en-US" dirty="0"/>
              <a:t> </a:t>
            </a:r>
            <a:r>
              <a:rPr lang="en-US" dirty="0" err="1"/>
              <a:t>được</a:t>
            </a:r>
            <a:r>
              <a:rPr lang="en-US" dirty="0"/>
              <a:t> </a:t>
            </a:r>
            <a:r>
              <a:rPr lang="en-US" dirty="0" err="1"/>
              <a:t>gióng</a:t>
            </a:r>
            <a:r>
              <a:rPr lang="en-US" dirty="0"/>
              <a:t> </a:t>
            </a:r>
            <a:r>
              <a:rPr lang="en-US" dirty="0" err="1"/>
              <a:t>hàng</a:t>
            </a:r>
            <a:r>
              <a:rPr lang="en-US" dirty="0"/>
              <a:t> </a:t>
            </a:r>
            <a:r>
              <a:rPr lang="en-US" dirty="0" err="1"/>
              <a:t>lại</a:t>
            </a:r>
            <a:r>
              <a:rPr lang="en-US" dirty="0"/>
              <a:t> </a:t>
            </a:r>
            <a:r>
              <a:rPr lang="en-US" dirty="0" err="1"/>
              <a:t>với</a:t>
            </a:r>
            <a:r>
              <a:rPr lang="en-US" dirty="0"/>
              <a:t> </a:t>
            </a:r>
            <a:r>
              <a:rPr lang="en-US" dirty="0" err="1"/>
              <a:t>nhóm</a:t>
            </a:r>
            <a:r>
              <a:rPr lang="en-US" dirty="0"/>
              <a:t> </a:t>
            </a:r>
            <a:r>
              <a:rPr lang="en-US" dirty="0" err="1"/>
              <a:t>đã</a:t>
            </a:r>
            <a:r>
              <a:rPr lang="en-US" dirty="0"/>
              <a:t> </a:t>
            </a:r>
            <a:r>
              <a:rPr lang="en-US" dirty="0" err="1"/>
              <a:t>làm</a:t>
            </a:r>
            <a:r>
              <a:rPr lang="en-US" dirty="0"/>
              <a:t> </a:t>
            </a:r>
            <a:r>
              <a:rPr lang="en-US" dirty="0" err="1"/>
              <a:t>sạch</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B5: </a:t>
            </a:r>
            <a:r>
              <a:rPr lang="en-US" b="1" dirty="0" err="1"/>
              <a:t>Cập</a:t>
            </a:r>
            <a:r>
              <a:rPr lang="en-US" b="1" dirty="0"/>
              <a:t> </a:t>
            </a:r>
            <a:r>
              <a:rPr lang="en-US" b="1" dirty="0" err="1"/>
              <a:t>nhật</a:t>
            </a:r>
            <a:r>
              <a:rPr lang="en-US" b="1" dirty="0"/>
              <a:t> </a:t>
            </a:r>
            <a:r>
              <a:rPr lang="en-US" b="1" dirty="0" err="1"/>
              <a:t>kết</a:t>
            </a:r>
            <a:r>
              <a:rPr lang="en-US" b="1" dirty="0"/>
              <a:t> </a:t>
            </a:r>
            <a:r>
              <a:rPr lang="en-US" b="1" dirty="0" err="1"/>
              <a:t>quả</a:t>
            </a:r>
            <a:endParaRPr lang="en-US" b="1" dirty="0"/>
          </a:p>
        </p:txBody>
      </p:sp>
      <p:sp>
        <p:nvSpPr>
          <p:cNvPr id="132" name="Google Shape;132;p3:notes">
            <a:extLst>
              <a:ext uri="{FF2B5EF4-FFF2-40B4-BE49-F238E27FC236}">
                <a16:creationId xmlns:a16="http://schemas.microsoft.com/office/drawing/2014/main" id="{9DD39B1A-A66D-C3D7-DB21-15049FADEA40}"/>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318CB3B6-4ACC-88DE-CF38-758C9A1B11EF}"/>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38277696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E9953EE-15DC-69EB-2FD8-6D5359823C71}"/>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CD12B9E4-A2CA-F14E-A157-EB231B910F35}"/>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E39F7298-6B09-F519-0B19-977207701E9B}"/>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70EC990D-D763-078E-0AAC-60CCDBD8E41F}"/>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1D0C738E-6B13-5D97-79D3-33142C74936D}"/>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33507920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A965BF8-E5F2-E1C7-869F-AEEDF2D22859}"/>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6303187E-A86C-D47F-DF85-6CCC51DD5A79}"/>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1F4F1877-9690-E9FA-BEA0-528BDD68668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17AA2B40-CD8B-FBC2-B6B2-F398C123E664}"/>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53CD9E4D-7E87-F3A4-EFA6-F7FDEBDC8D21}"/>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42249373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5FBB103-2E5E-717D-A681-A935B59B5E66}"/>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954C812E-E390-5CC5-E045-6E749BD97EC9}"/>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E0FC4F31-0CE8-71A6-2244-9C97C0C95223}"/>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Quy </a:t>
            </a:r>
            <a:r>
              <a:rPr lang="en-US" dirty="0" err="1"/>
              <a:t>trình</a:t>
            </a:r>
            <a:r>
              <a:rPr lang="en-US" dirty="0"/>
              <a:t> </a:t>
            </a:r>
            <a:r>
              <a:rPr lang="en-US" dirty="0" err="1"/>
              <a:t>hoạt</a:t>
            </a:r>
            <a:r>
              <a:rPr lang="en-US" dirty="0"/>
              <a:t> </a:t>
            </a:r>
            <a:r>
              <a:rPr lang="en-US" dirty="0" err="1"/>
              <a:t>động</a:t>
            </a:r>
            <a:r>
              <a:rPr lang="en-US" dirty="0"/>
              <a:t> </a:t>
            </a:r>
            <a:r>
              <a:rPr lang="en-US" dirty="0" err="1"/>
              <a:t>của</a:t>
            </a:r>
            <a:r>
              <a:rPr lang="en-US" dirty="0"/>
              <a:t> SPARK-MSNA </a:t>
            </a:r>
            <a:r>
              <a:rPr lang="en-US" dirty="0" err="1"/>
              <a:t>được</a:t>
            </a:r>
            <a:r>
              <a:rPr lang="en-US" dirty="0"/>
              <a:t> </a:t>
            </a:r>
            <a:r>
              <a:rPr lang="en-US" dirty="0" err="1"/>
              <a:t>triển</a:t>
            </a:r>
            <a:r>
              <a:rPr lang="en-US" dirty="0"/>
              <a:t> </a:t>
            </a:r>
            <a:r>
              <a:rPr lang="en-US" dirty="0" err="1"/>
              <a:t>khai</a:t>
            </a:r>
            <a:r>
              <a:rPr lang="en-US" dirty="0"/>
              <a:t> qua 6 </a:t>
            </a:r>
            <a:r>
              <a:rPr lang="en-US" dirty="0" err="1"/>
              <a:t>bước</a:t>
            </a:r>
            <a:r>
              <a:rPr lang="en-US" dirty="0"/>
              <a:t>:</a:t>
            </a:r>
          </a:p>
          <a:p>
            <a:pPr marL="0" lvl="0" indent="0" algn="l" rtl="0">
              <a:spcBef>
                <a:spcPts val="0"/>
              </a:spcBef>
              <a:spcAft>
                <a:spcPts val="0"/>
              </a:spcAft>
              <a:buNone/>
            </a:pPr>
            <a:endParaRPr lang="en-US" b="1" dirty="0">
              <a:effectLst/>
            </a:endParaRPr>
          </a:p>
          <a:p>
            <a:pPr marL="0" lvl="0" indent="0" algn="l" rtl="0">
              <a:spcBef>
                <a:spcPts val="0"/>
              </a:spcBef>
              <a:spcAft>
                <a:spcPts val="0"/>
              </a:spcAft>
              <a:buNone/>
            </a:pPr>
            <a:r>
              <a:rPr lang="en-US" b="1" dirty="0">
                <a:effectLst/>
              </a:rPr>
              <a:t>1. </a:t>
            </a:r>
            <a:r>
              <a:rPr lang="vi-VN" b="1" dirty="0">
                <a:effectLst/>
              </a:rPr>
              <a:t>Phân mảnh và Chuẩn bị dữ liệu (Input &amp; Partitioning):</a:t>
            </a:r>
            <a:r>
              <a:rPr lang="vi-VN" dirty="0">
                <a:effectLst/>
              </a:rPr>
              <a:t> Các trình tự DNA đầu vào được cắt nhỏ thành nhiều đoạn (segments) có kích thước bằng nhau và </a:t>
            </a:r>
            <a:r>
              <a:rPr lang="en-US" dirty="0" err="1">
                <a:effectLst/>
              </a:rPr>
              <a:t>được</a:t>
            </a:r>
            <a:r>
              <a:rPr lang="en-US" dirty="0">
                <a:effectLst/>
              </a:rPr>
              <a:t> </a:t>
            </a:r>
            <a:r>
              <a:rPr lang="vi-VN" dirty="0">
                <a:effectLst/>
              </a:rPr>
              <a:t>lưu trữ trực tiếp lên hệ thống tệp phân tán HDFS của cụm máy chủ.</a:t>
            </a:r>
            <a:endParaRPr lang="en-US" dirty="0">
              <a:effectLst/>
            </a:endParaRPr>
          </a:p>
          <a:p>
            <a:pPr marL="228600" lvl="0" indent="-228600" algn="l" rtl="0">
              <a:spcBef>
                <a:spcPts val="0"/>
              </a:spcBef>
              <a:spcAft>
                <a:spcPts val="0"/>
              </a:spcAft>
              <a:buAutoNum type="arabicPeriod"/>
            </a:pPr>
            <a:endParaRPr lang="en-US" b="1" dirty="0">
              <a:effectLst/>
            </a:endParaRPr>
          </a:p>
          <a:p>
            <a:pPr marL="0" lvl="0" indent="0" algn="l" rtl="0">
              <a:spcBef>
                <a:spcPts val="0"/>
              </a:spcBef>
              <a:spcAft>
                <a:spcPts val="0"/>
              </a:spcAft>
              <a:buNone/>
            </a:pPr>
            <a:r>
              <a:rPr lang="vi-VN" b="1" dirty="0">
                <a:effectLst/>
              </a:rPr>
              <a:t>2. Xây dựng </a:t>
            </a:r>
            <a:r>
              <a:rPr lang="en-US" b="1" dirty="0" err="1">
                <a:effectLst/>
              </a:rPr>
              <a:t>cây</a:t>
            </a:r>
            <a:r>
              <a:rPr lang="vi-VN" b="1" dirty="0">
                <a:effectLst/>
              </a:rPr>
              <a:t> hậu tố (Suffix Trees Construction):</a:t>
            </a:r>
            <a:r>
              <a:rPr lang="vi-VN" dirty="0">
                <a:effectLst/>
              </a:rPr>
              <a:t> Hệ thống tạo các cây hậu tố cho từng đoạn dữ liệu. Việc dùng cấu trúc dữ liệu này giúp máy tính tìm kiếm và trích xuất siêu tốc các chuỗi con giống nhau (common substrings) giữa các trình tự</a:t>
            </a:r>
            <a:r>
              <a:rPr lang="en-US" dirty="0">
                <a:effectLst/>
              </a:rPr>
              <a:t>.</a:t>
            </a:r>
          </a:p>
          <a:p>
            <a:pPr marL="0" lvl="0" indent="0" algn="l" rtl="0">
              <a:spcBef>
                <a:spcPts val="0"/>
              </a:spcBef>
              <a:spcAft>
                <a:spcPts val="0"/>
              </a:spcAft>
              <a:buNone/>
            </a:pPr>
            <a:endParaRPr lang="en-US" b="1" dirty="0">
              <a:effectLst/>
            </a:endParaRPr>
          </a:p>
          <a:p>
            <a:pPr marL="0" lvl="0" indent="0" algn="l" rtl="0">
              <a:spcBef>
                <a:spcPts val="0"/>
              </a:spcBef>
              <a:spcAft>
                <a:spcPts val="0"/>
              </a:spcAft>
              <a:buNone/>
            </a:pPr>
            <a:r>
              <a:rPr lang="vi-VN" b="1" dirty="0">
                <a:effectLst/>
              </a:rPr>
              <a:t>3. Nhận diện và Trích xuất đặc trưng (Search &amp; Record Features):</a:t>
            </a:r>
            <a:r>
              <a:rPr lang="vi-VN" dirty="0">
                <a:effectLst/>
              </a:rPr>
              <a:t> Hệ thống quét qua các cây hậu tố để phân tách rạch ròi giữa các "đoạn khớp" (matched segments) và "đoạn không khớp" (unmatched segments). Đối với các vùng không khớp, máy tính sẽ tính toán và ghi nhận hai đặc trưng: tỷ lệ phần trăm giống nhau (thấp nhất) và độ chênh lệch chiều dài (cao nhất) giữa các cặp. Sau đó, một </a:t>
            </a:r>
            <a:r>
              <a:rPr lang="vi-VN" b="1" dirty="0">
                <a:effectLst/>
              </a:rPr>
              <a:t>Cây hướng dẫn (Guide tree)</a:t>
            </a:r>
            <a:r>
              <a:rPr lang="vi-VN" dirty="0">
                <a:effectLst/>
              </a:rPr>
              <a:t> được xây dựng dựa trên các số liệu tương đồng này.</a:t>
            </a:r>
            <a:endParaRPr lang="en-US" dirty="0">
              <a:effectLst/>
            </a:endParaRPr>
          </a:p>
          <a:p>
            <a:pPr marL="0" lvl="0" indent="0" algn="l" rtl="0">
              <a:spcBef>
                <a:spcPts val="0"/>
              </a:spcBef>
              <a:spcAft>
                <a:spcPts val="0"/>
              </a:spcAft>
              <a:buNone/>
            </a:pPr>
            <a:endParaRPr lang="en-US" b="1" dirty="0">
              <a:effectLst/>
            </a:endParaRPr>
          </a:p>
          <a:p>
            <a:pPr marL="0" lvl="0" indent="0" algn="l" rtl="0">
              <a:spcBef>
                <a:spcPts val="0"/>
              </a:spcBef>
              <a:spcAft>
                <a:spcPts val="0"/>
              </a:spcAft>
              <a:buNone/>
            </a:pPr>
            <a:r>
              <a:rPr lang="vi-VN" b="1" dirty="0">
                <a:effectLst/>
              </a:rPr>
              <a:t>4. Điểm rẽ nhánh Học máy - Cơ sở tri thức (Knowledge Base check):</a:t>
            </a:r>
            <a:r>
              <a:rPr lang="vi-VN" dirty="0">
                <a:effectLst/>
              </a:rPr>
              <a:t> Thay vì ngay lập tức tiến hành gióng hàng, thuật toán sẽ đối chiếu các đặc trưng vừa thu thập với một Cơ sở tri thức (Knowledge Base) đã được rèn luyện.</a:t>
            </a:r>
            <a:endParaRPr lang="en-US" dirty="0">
              <a:effectLst/>
            </a:endParaRPr>
          </a:p>
          <a:p>
            <a:pPr marL="171450" lvl="0" indent="-171450" algn="l" rtl="0">
              <a:spcBef>
                <a:spcPts val="0"/>
              </a:spcBef>
              <a:spcAft>
                <a:spcPts val="0"/>
              </a:spcAft>
              <a:buFont typeface="Arial" panose="020B0604020202020204" pitchFamily="34" charset="0"/>
              <a:buChar char="•"/>
            </a:pPr>
            <a:r>
              <a:rPr lang="vi-VN" sz="1200" b="1" i="0" u="none" strike="noStrike" cap="none" dirty="0">
                <a:solidFill>
                  <a:schemeClr val="dk1"/>
                </a:solidFill>
                <a:effectLst/>
                <a:latin typeface="Calibri"/>
                <a:ea typeface="Calibri"/>
                <a:cs typeface="Calibri"/>
                <a:sym typeface="Calibri"/>
              </a:rPr>
              <a:t>Nếu chưa có dữ liệu (No):</a:t>
            </a:r>
            <a:r>
              <a:rPr lang="vi-VN" sz="1200" b="0" i="0" u="none" strike="noStrike" cap="none" dirty="0">
                <a:solidFill>
                  <a:schemeClr val="dk1"/>
                </a:solidFill>
                <a:effectLst/>
                <a:latin typeface="Calibri"/>
                <a:ea typeface="Calibri"/>
                <a:cs typeface="Calibri"/>
                <a:sym typeface="Calibri"/>
              </a:rPr>
              <a:t> Hệ thống sẽ chạy thuật toán quét </a:t>
            </a:r>
            <a:r>
              <a:rPr lang="vi-VN" sz="1200" b="0" i="1" u="none" strike="noStrike" cap="none" dirty="0">
                <a:solidFill>
                  <a:schemeClr val="dk1"/>
                </a:solidFill>
                <a:effectLst/>
                <a:latin typeface="Calibri"/>
                <a:ea typeface="Calibri"/>
                <a:cs typeface="Calibri"/>
                <a:sym typeface="Calibri"/>
              </a:rPr>
              <a:t>Dotlet</a:t>
            </a:r>
            <a:r>
              <a:rPr lang="vi-VN" sz="1200" b="0" i="0" u="none" strike="noStrike" cap="none" dirty="0">
                <a:solidFill>
                  <a:schemeClr val="dk1"/>
                </a:solidFill>
                <a:effectLst/>
                <a:latin typeface="Calibri"/>
                <a:ea typeface="Calibri"/>
                <a:cs typeface="Calibri"/>
                <a:sym typeface="Calibri"/>
              </a:rPr>
              <a:t> để "học" xem cần tính toán bao nhiêu đường chéo (diagonals) là đủ để cho ra kết quả tối ưu. Kết quả này ngay lập tức được nạp vào Cơ sở tri thức.</a:t>
            </a:r>
            <a:endParaRPr lang="en-US" sz="1200" b="0" i="0" u="none" strike="noStrike" cap="none" dirty="0">
              <a:solidFill>
                <a:schemeClr val="dk1"/>
              </a:solidFill>
              <a:effectLst/>
              <a:latin typeface="Calibri"/>
              <a:ea typeface="Calibri"/>
              <a:cs typeface="Calibri"/>
              <a:sym typeface="Calibri"/>
            </a:endParaRPr>
          </a:p>
          <a:p>
            <a:pPr marL="171450" lvl="0" indent="-171450" algn="l" rtl="0">
              <a:spcBef>
                <a:spcPts val="0"/>
              </a:spcBef>
              <a:spcAft>
                <a:spcPts val="0"/>
              </a:spcAft>
              <a:buFont typeface="Arial" panose="020B0604020202020204" pitchFamily="34" charset="0"/>
              <a:buChar char="•"/>
            </a:pPr>
            <a:r>
              <a:rPr lang="vi-VN" sz="1200" b="1" i="0" u="none" strike="noStrike" cap="none" dirty="0">
                <a:solidFill>
                  <a:schemeClr val="dk1"/>
                </a:solidFill>
                <a:effectLst/>
                <a:latin typeface="Calibri"/>
                <a:ea typeface="Calibri"/>
                <a:cs typeface="Calibri"/>
                <a:sym typeface="Calibri"/>
              </a:rPr>
              <a:t>Nếu đã có dữ liệu (Yes):</a:t>
            </a:r>
            <a:r>
              <a:rPr lang="vi-VN" sz="1200" b="0" i="0" u="none" strike="noStrike" cap="none" dirty="0">
                <a:solidFill>
                  <a:schemeClr val="dk1"/>
                </a:solidFill>
                <a:effectLst/>
                <a:latin typeface="Calibri"/>
                <a:ea typeface="Calibri"/>
                <a:cs typeface="Calibri"/>
                <a:sym typeface="Calibri"/>
              </a:rPr>
              <a:t> Mạng học máy (sử dụng thuật toán K-láng giềng gần nhất) sẽ trích xuất luôn số lượng đường chéo cần thiết.</a:t>
            </a:r>
            <a:endParaRPr lang="en-US"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lang="en-US" b="1" dirty="0">
              <a:effectLst/>
            </a:endParaRPr>
          </a:p>
          <a:p>
            <a:pPr marL="0" lvl="0" indent="0" algn="l" rtl="0">
              <a:spcBef>
                <a:spcPts val="0"/>
              </a:spcBef>
              <a:spcAft>
                <a:spcPts val="0"/>
              </a:spcAft>
              <a:buNone/>
            </a:pPr>
            <a:r>
              <a:rPr lang="vi-VN" b="1" dirty="0">
                <a:effectLst/>
              </a:rPr>
              <a:t>5. Sắp hàng cặp (Pairwise Alignments):</a:t>
            </a:r>
            <a:r>
              <a:rPr lang="vi-VN" dirty="0">
                <a:effectLst/>
              </a:rPr>
              <a:t> Với số lượng đường chéo đã biết từ bước Học máy, thuật toán tiến hành gióng hàng </a:t>
            </a:r>
            <a:r>
              <a:rPr lang="vi-VN" b="1" dirty="0">
                <a:effectLst/>
              </a:rPr>
              <a:t>chỉ trên các đoạn không khớp</a:t>
            </a:r>
            <a:r>
              <a:rPr lang="vi-VN" dirty="0">
                <a:effectLst/>
              </a:rPr>
              <a:t> bằng thuật toán Needleman-Wunsch đã được sửa đổi. Vì chỉ điền một phần rất nhỏ ma trận (khoảng 2% số đường chéo với dữ liệu độ tương đồng cao), bước này giúp tiết kiệm đến 50% bộ nhớ so với thuật toán NW truyền thống.</a:t>
            </a:r>
            <a:endParaRPr lang="en-US" dirty="0">
              <a:effectLst/>
            </a:endParaRPr>
          </a:p>
          <a:p>
            <a:pPr marL="0" lvl="0" indent="0" algn="l" rtl="0">
              <a:spcBef>
                <a:spcPts val="0"/>
              </a:spcBef>
              <a:spcAft>
                <a:spcPts val="0"/>
              </a:spcAft>
              <a:buNone/>
            </a:pPr>
            <a:endParaRPr lang="en-US" b="1" dirty="0">
              <a:effectLst/>
            </a:endParaRPr>
          </a:p>
          <a:p>
            <a:pPr marL="0" lvl="0" indent="0" algn="l" rtl="0">
              <a:spcBef>
                <a:spcPts val="0"/>
              </a:spcBef>
              <a:spcAft>
                <a:spcPts val="0"/>
              </a:spcAft>
              <a:buNone/>
            </a:pPr>
            <a:r>
              <a:rPr lang="vi-VN" b="1" dirty="0">
                <a:effectLst/>
              </a:rPr>
              <a:t>6. Tinh chỉnh và Tổng hợp (Refine &amp; Sum up):</a:t>
            </a:r>
            <a:r>
              <a:rPr lang="vi-VN" dirty="0">
                <a:effectLst/>
              </a:rPr>
              <a:t> Sau khi tất cả các đoạn trên cây hướng dẫn được gióng hàng xong, hệ thống thực hiện một bước tinh chỉnh lại các khoảng trống (gaps) và gộp toàn bộ các đoạn lại để hình thành trình tự căn chỉnh hoàn chỉnh cuối cùng</a:t>
            </a:r>
          </a:p>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5413E982-D6E8-64B8-EB91-E6DF9F1082F7}"/>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23368E3D-CC84-83E0-8900-76FC939A63CA}"/>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31056417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8E48D4F-C867-79E6-483A-CE773296506D}"/>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398B55F5-05B9-535D-0DF3-84051382B97A}"/>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AC136DDA-90D9-B770-8453-C1D542160300}"/>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F8E72341-133D-CA05-5C74-F4E08C8947C1}"/>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317AEC2B-3438-25A5-914A-86D766F25AC4}"/>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5155515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D51EA5A-788A-8DC4-932B-601423197FE8}"/>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CD40D580-C389-ED81-9174-5A7549419EF2}"/>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1574893B-9C39-D5F4-505D-FF631F501F38}"/>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5748A90C-1D6C-8557-4AC1-11958F20731A}"/>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FB0E0A3C-F909-FD82-F268-6AF9B373A987}"/>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1791514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1FC5FD1-9B02-DF3B-B468-A15A82D0B45A}"/>
            </a:ext>
          </a:extLst>
        </p:cNvPr>
        <p:cNvGrpSpPr/>
        <p:nvPr/>
      </p:nvGrpSpPr>
      <p:grpSpPr>
        <a:xfrm>
          <a:off x="0" y="0"/>
          <a:ext cx="0" cy="0"/>
          <a:chOff x="0" y="0"/>
          <a:chExt cx="0" cy="0"/>
        </a:xfrm>
      </p:grpSpPr>
      <p:sp>
        <p:nvSpPr>
          <p:cNvPr id="130" name="Google Shape;130;p3:notes">
            <a:extLst>
              <a:ext uri="{FF2B5EF4-FFF2-40B4-BE49-F238E27FC236}">
                <a16:creationId xmlns:a16="http://schemas.microsoft.com/office/drawing/2014/main" id="{F4E3018F-93EF-10D7-366A-92190582A536}"/>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3:notes">
            <a:extLst>
              <a:ext uri="{FF2B5EF4-FFF2-40B4-BE49-F238E27FC236}">
                <a16:creationId xmlns:a16="http://schemas.microsoft.com/office/drawing/2014/main" id="{7DA09FD7-D94B-147C-91B0-52FA4B47600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3:notes">
            <a:extLst>
              <a:ext uri="{FF2B5EF4-FFF2-40B4-BE49-F238E27FC236}">
                <a16:creationId xmlns:a16="http://schemas.microsoft.com/office/drawing/2014/main" id="{905E9D15-AD15-0D36-12C4-CB69CC18C48C}"/>
              </a:ext>
            </a:extLst>
          </p:cNvPr>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33" name="Google Shape;133;p3:notes">
            <a:extLst>
              <a:ext uri="{FF2B5EF4-FFF2-40B4-BE49-F238E27FC236}">
                <a16:creationId xmlns:a16="http://schemas.microsoft.com/office/drawing/2014/main" id="{A4F4EC8D-FB3E-7B15-EE70-036346BF7492}"/>
              </a:ext>
            </a:extLst>
          </p:cNvPr>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936543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30"/>
          <p:cNvSpPr txBox="1">
            <a:spLocks noGrp="1"/>
          </p:cNvSpPr>
          <p:nvPr>
            <p:ph type="ctrTitle"/>
          </p:nvPr>
        </p:nvSpPr>
        <p:spPr>
          <a:xfrm>
            <a:off x="1219200" y="3886200"/>
            <a:ext cx="6858000" cy="9906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0"/>
          <p:cNvSpPr txBox="1">
            <a:spLocks noGrp="1"/>
          </p:cNvSpPr>
          <p:nvPr>
            <p:ph type="subTitle" idx="1"/>
          </p:nvPr>
        </p:nvSpPr>
        <p:spPr>
          <a:xfrm>
            <a:off x="1219200" y="5124450"/>
            <a:ext cx="6858000" cy="533400"/>
          </a:xfrm>
          <a:prstGeom prst="rect">
            <a:avLst/>
          </a:prstGeom>
          <a:noFill/>
          <a:ln>
            <a:noFill/>
          </a:ln>
        </p:spPr>
        <p:txBody>
          <a:bodyPr spcFirstLastPara="1" wrap="square" lIns="91425" tIns="45700" rIns="91425" bIns="45700" anchor="t" anchorCtr="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a:endParaRPr/>
          </a:p>
        </p:txBody>
      </p:sp>
      <p:sp>
        <p:nvSpPr>
          <p:cNvPr id="21" name="Google Shape;21;p30"/>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0"/>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0"/>
          <p:cNvSpPr txBox="1">
            <a:spLocks noGrp="1"/>
          </p:cNvSpPr>
          <p:nvPr>
            <p:ph type="sldNum" idx="12"/>
          </p:nvPr>
        </p:nvSpPr>
        <p:spPr>
          <a:xfrm>
            <a:off x="1216152" y="6355080"/>
            <a:ext cx="1219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en-US" smtClean="0"/>
              <a:pPr/>
              <a:t>‹#›</a:t>
            </a:fld>
            <a:endParaRPr lang="en-US"/>
          </a:p>
        </p:txBody>
      </p:sp>
      <p:sp>
        <p:nvSpPr>
          <p:cNvPr id="24" name="Google Shape;24;p30"/>
          <p:cNvSpPr/>
          <p:nvPr/>
        </p:nvSpPr>
        <p:spPr>
          <a:xfrm>
            <a:off x="904875" y="3648075"/>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5" name="Google Shape;25;p30"/>
          <p:cNvSpPr/>
          <p:nvPr/>
        </p:nvSpPr>
        <p:spPr>
          <a:xfrm>
            <a:off x="914400" y="5048250"/>
            <a:ext cx="7315200" cy="68580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6" name="Google Shape;26;p30"/>
          <p:cNvSpPr/>
          <p:nvPr/>
        </p:nvSpPr>
        <p:spPr>
          <a:xfrm>
            <a:off x="904875" y="3648075"/>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7" name="Google Shape;27;p30"/>
          <p:cNvSpPr/>
          <p:nvPr/>
        </p:nvSpPr>
        <p:spPr>
          <a:xfrm>
            <a:off x="914400" y="5048250"/>
            <a:ext cx="228600" cy="685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8"/>
        <p:cNvGrpSpPr/>
        <p:nvPr/>
      </p:nvGrpSpPr>
      <p:grpSpPr>
        <a:xfrm>
          <a:off x="0" y="0"/>
          <a:ext cx="0" cy="0"/>
          <a:chOff x="0" y="0"/>
          <a:chExt cx="0" cy="0"/>
        </a:xfrm>
      </p:grpSpPr>
      <p:sp>
        <p:nvSpPr>
          <p:cNvPr id="29" name="Google Shape;29;p31"/>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2"/>
              </a:buClr>
              <a:buSzPts val="3200"/>
              <a:buFont typeface="Bookman Old Style"/>
              <a:buNone/>
              <a:defRPr sz="3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1"/>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lvl1pPr marL="457200" lvl="0" indent="-228600" algn="r">
              <a:spcBef>
                <a:spcPts val="600"/>
              </a:spcBef>
              <a:spcAft>
                <a:spcPts val="0"/>
              </a:spcAft>
              <a:buSzPts val="1520"/>
              <a:buNone/>
              <a:defRPr sz="2000">
                <a:solidFill>
                  <a:srgbClr val="888888"/>
                </a:solidFill>
              </a:defRPr>
            </a:lvl1pPr>
            <a:lvl2pPr marL="914400" lvl="1" indent="-228600" algn="l">
              <a:spcBef>
                <a:spcPts val="500"/>
              </a:spcBef>
              <a:spcAft>
                <a:spcPts val="0"/>
              </a:spcAft>
              <a:buSzPts val="1368"/>
              <a:buNone/>
              <a:defRPr sz="1800">
                <a:solidFill>
                  <a:srgbClr val="888888"/>
                </a:solidFill>
              </a:defRPr>
            </a:lvl2pPr>
            <a:lvl3pPr marL="1371600" lvl="2" indent="-228600" algn="l">
              <a:spcBef>
                <a:spcPts val="500"/>
              </a:spcBef>
              <a:spcAft>
                <a:spcPts val="0"/>
              </a:spcAft>
              <a:buSzPts val="1216"/>
              <a:buNone/>
              <a:defRPr sz="1600">
                <a:solidFill>
                  <a:srgbClr val="888888"/>
                </a:solidFill>
              </a:defRPr>
            </a:lvl3pPr>
            <a:lvl4pPr marL="1828800" lvl="3" indent="-228600" algn="l">
              <a:spcBef>
                <a:spcPts val="400"/>
              </a:spcBef>
              <a:spcAft>
                <a:spcPts val="0"/>
              </a:spcAft>
              <a:buSzPts val="980"/>
              <a:buNone/>
              <a:defRPr sz="1400">
                <a:solidFill>
                  <a:srgbClr val="888888"/>
                </a:solidFill>
              </a:defRPr>
            </a:lvl4pPr>
            <a:lvl5pPr marL="2286000" lvl="4" indent="-228600" algn="l">
              <a:spcBef>
                <a:spcPts val="300"/>
              </a:spcBef>
              <a:spcAft>
                <a:spcPts val="0"/>
              </a:spcAft>
              <a:buSzPts val="980"/>
              <a:buNone/>
              <a:defRPr sz="1400">
                <a:solidFill>
                  <a:srgbClr val="888888"/>
                </a:solidFill>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31" name="Google Shape;31;p31"/>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1"/>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1"/>
          <p:cNvSpPr txBox="1">
            <a:spLocks noGrp="1"/>
          </p:cNvSpPr>
          <p:nvPr>
            <p:ph type="sldNum" idx="12"/>
          </p:nvPr>
        </p:nvSpPr>
        <p:spPr>
          <a:xfrm>
            <a:off x="1069848" y="6355080"/>
            <a:ext cx="1520952"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en-US" smtClean="0"/>
              <a:pPr/>
              <a:t>‹#›</a:t>
            </a:fld>
            <a:endParaRPr lang="en-US"/>
          </a:p>
        </p:txBody>
      </p:sp>
      <p:sp>
        <p:nvSpPr>
          <p:cNvPr id="34" name="Google Shape;34;p31"/>
          <p:cNvSpPr/>
          <p:nvPr/>
        </p:nvSpPr>
        <p:spPr>
          <a:xfrm>
            <a:off x="914400" y="2819400"/>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35" name="Google Shape;35;p31"/>
          <p:cNvSpPr/>
          <p:nvPr/>
        </p:nvSpPr>
        <p:spPr>
          <a:xfrm>
            <a:off x="914400" y="2819400"/>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2"/>
          <p:cNvSpPr txBox="1">
            <a:spLocks noGrp="1"/>
          </p:cNvSpPr>
          <p:nvPr>
            <p:ph type="dt" idx="10"/>
          </p:nvPr>
        </p:nvSpPr>
        <p:spPr>
          <a:xfrm>
            <a:off x="609600" y="6353304"/>
            <a:ext cx="2289048" cy="369072"/>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2"/>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solidFill>
                  <a:srgbClr val="BFBFB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2"/>
          <p:cNvSpPr txBox="1">
            <a:spLocks noGrp="1"/>
          </p:cNvSpPr>
          <p:nvPr>
            <p:ph type="sldNum" idx="12"/>
          </p:nvPr>
        </p:nvSpPr>
        <p:spPr>
          <a:xfrm>
            <a:off x="6705600" y="6356340"/>
            <a:ext cx="1981200" cy="34926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400" b="0" i="0" u="none" strike="noStrike" cap="none">
                <a:solidFill>
                  <a:schemeClr val="dk2"/>
                </a:solidFill>
                <a:latin typeface="Gill Sans"/>
                <a:ea typeface="Gill Sans"/>
                <a:cs typeface="Gill Sans"/>
                <a:sym typeface="Gill Sans"/>
              </a:defRPr>
            </a:lvl1pPr>
            <a:lvl2pPr marL="0" lvl="1" indent="0" algn="r">
              <a:spcBef>
                <a:spcPts val="0"/>
              </a:spcBef>
              <a:buNone/>
              <a:defRPr sz="1400" b="0" i="0" u="none" strike="noStrike" cap="none">
                <a:solidFill>
                  <a:schemeClr val="dk2"/>
                </a:solidFill>
                <a:latin typeface="Gill Sans"/>
                <a:ea typeface="Gill Sans"/>
                <a:cs typeface="Gill Sans"/>
                <a:sym typeface="Gill Sans"/>
              </a:defRPr>
            </a:lvl2pPr>
            <a:lvl3pPr marL="0" lvl="2" indent="0" algn="r">
              <a:spcBef>
                <a:spcPts val="0"/>
              </a:spcBef>
              <a:buNone/>
              <a:defRPr sz="1400" b="0" i="0" u="none" strike="noStrike" cap="none">
                <a:solidFill>
                  <a:schemeClr val="dk2"/>
                </a:solidFill>
                <a:latin typeface="Gill Sans"/>
                <a:ea typeface="Gill Sans"/>
                <a:cs typeface="Gill Sans"/>
                <a:sym typeface="Gill Sans"/>
              </a:defRPr>
            </a:lvl3pPr>
            <a:lvl4pPr marL="0" lvl="3" indent="0" algn="r">
              <a:spcBef>
                <a:spcPts val="0"/>
              </a:spcBef>
              <a:buNone/>
              <a:defRPr sz="1400" b="0" i="0" u="none" strike="noStrike" cap="none">
                <a:solidFill>
                  <a:schemeClr val="dk2"/>
                </a:solidFill>
                <a:latin typeface="Gill Sans"/>
                <a:ea typeface="Gill Sans"/>
                <a:cs typeface="Gill Sans"/>
                <a:sym typeface="Gill Sans"/>
              </a:defRPr>
            </a:lvl4pPr>
            <a:lvl5pPr marL="0" lvl="4" indent="0" algn="r">
              <a:spcBef>
                <a:spcPts val="0"/>
              </a:spcBef>
              <a:buNone/>
              <a:defRPr sz="1400" b="0" i="0" u="none" strike="noStrike" cap="none">
                <a:solidFill>
                  <a:schemeClr val="dk2"/>
                </a:solidFill>
                <a:latin typeface="Gill Sans"/>
                <a:ea typeface="Gill Sans"/>
                <a:cs typeface="Gill Sans"/>
                <a:sym typeface="Gill Sans"/>
              </a:defRPr>
            </a:lvl5pPr>
            <a:lvl6pPr marL="0" lvl="5" indent="0" algn="r">
              <a:spcBef>
                <a:spcPts val="0"/>
              </a:spcBef>
              <a:buNone/>
              <a:defRPr sz="1400" b="0" i="0" u="none" strike="noStrike" cap="none">
                <a:solidFill>
                  <a:schemeClr val="dk2"/>
                </a:solidFill>
                <a:latin typeface="Gill Sans"/>
                <a:ea typeface="Gill Sans"/>
                <a:cs typeface="Gill Sans"/>
                <a:sym typeface="Gill Sans"/>
              </a:defRPr>
            </a:lvl6pPr>
            <a:lvl7pPr marL="0" lvl="6" indent="0" algn="r">
              <a:spcBef>
                <a:spcPts val="0"/>
              </a:spcBef>
              <a:buNone/>
              <a:defRPr sz="1400" b="0" i="0" u="none" strike="noStrike" cap="none">
                <a:solidFill>
                  <a:schemeClr val="dk2"/>
                </a:solidFill>
                <a:latin typeface="Gill Sans"/>
                <a:ea typeface="Gill Sans"/>
                <a:cs typeface="Gill Sans"/>
                <a:sym typeface="Gill Sans"/>
              </a:defRPr>
            </a:lvl7pPr>
            <a:lvl8pPr marL="0" lvl="7" indent="0" algn="r">
              <a:spcBef>
                <a:spcPts val="0"/>
              </a:spcBef>
              <a:buNone/>
              <a:defRPr sz="1400" b="0" i="0" u="none" strike="noStrike" cap="none">
                <a:solidFill>
                  <a:schemeClr val="dk2"/>
                </a:solidFill>
                <a:latin typeface="Gill Sans"/>
                <a:ea typeface="Gill Sans"/>
                <a:cs typeface="Gill Sans"/>
                <a:sym typeface="Gill Sans"/>
              </a:defRPr>
            </a:lvl8pPr>
            <a:lvl9pPr marL="0" lvl="8" indent="0" algn="r">
              <a:spcBef>
                <a:spcPts val="0"/>
              </a:spcBef>
              <a:buNone/>
              <a:defRPr sz="1400" b="0" i="0" u="none" strike="noStrike" cap="none">
                <a:solidFill>
                  <a:schemeClr val="dk2"/>
                </a:solidFill>
                <a:latin typeface="Gill Sans"/>
                <a:ea typeface="Gill Sans"/>
                <a:cs typeface="Gill Sans"/>
                <a:sym typeface="Gill Sans"/>
              </a:defRPr>
            </a:lvl9pPr>
          </a:lstStyle>
          <a:p>
            <a:endParaRPr lang="en-US"/>
          </a:p>
        </p:txBody>
      </p:sp>
      <p:sp>
        <p:nvSpPr>
          <p:cNvPr id="41" name="Google Shape;41;p32"/>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34"/>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34"/>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34"/>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4"/>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en-US" smtClean="0"/>
              <a:pPr/>
              <a:t>‹#›</a:t>
            </a:fld>
            <a:endParaRPr lang="en-US"/>
          </a:p>
        </p:txBody>
      </p:sp>
      <p:sp>
        <p:nvSpPr>
          <p:cNvPr id="56" name="Google Shape;56;p34"/>
          <p:cNvSpPr txBox="1">
            <a:spLocks noGrp="1"/>
          </p:cNvSpPr>
          <p:nvPr>
            <p:ph type="body" idx="1"/>
          </p:nvPr>
        </p:nvSpPr>
        <p:spPr>
          <a:xfrm>
            <a:off x="457200" y="1219200"/>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7" name="Google Shape;57;p34"/>
          <p:cNvSpPr txBox="1">
            <a:spLocks noGrp="1"/>
          </p:cNvSpPr>
          <p:nvPr>
            <p:ph type="body" idx="2"/>
          </p:nvPr>
        </p:nvSpPr>
        <p:spPr>
          <a:xfrm>
            <a:off x="4632198" y="1216152"/>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5"/>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en-US" smtClean="0"/>
              <a:pPr/>
              <a:t>‹#›</a:t>
            </a:fld>
            <a:endParaRPr lang="en-US"/>
          </a:p>
        </p:txBody>
      </p:sp>
      <p:sp>
        <p:nvSpPr>
          <p:cNvPr id="63" name="Google Shape;63;p35"/>
          <p:cNvSpPr/>
          <p:nvPr/>
        </p:nvSpPr>
        <p:spPr>
          <a:xfrm rot="5400000">
            <a:off x="419101" y="6467476"/>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4"/>
        <p:cNvGrpSpPr/>
        <p:nvPr/>
      </p:nvGrpSpPr>
      <p:grpSpPr>
        <a:xfrm>
          <a:off x="0" y="0"/>
          <a:ext cx="0" cy="0"/>
          <a:chOff x="0" y="0"/>
          <a:chExt cx="0" cy="0"/>
        </a:xfrm>
      </p:grpSpPr>
      <p:sp>
        <p:nvSpPr>
          <p:cNvPr id="65" name="Google Shape;65;p3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6"/>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en-US" smtClean="0"/>
              <a:pPr/>
              <a:t>‹#›</a:t>
            </a:fld>
            <a:endParaRPr lang="en-US"/>
          </a:p>
        </p:txBody>
      </p:sp>
      <p:cxnSp>
        <p:nvCxnSpPr>
          <p:cNvPr id="68" name="Google Shape;68;p36"/>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36"/>
          <p:cNvSpPr/>
          <p:nvPr/>
        </p:nvSpPr>
        <p:spPr>
          <a:xfrm rot="5400000">
            <a:off x="419101" y="6467476"/>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0"/>
        <p:cNvGrpSpPr/>
        <p:nvPr/>
      </p:nvGrpSpPr>
      <p:grpSpPr>
        <a:xfrm>
          <a:off x="0" y="0"/>
          <a:ext cx="0" cy="0"/>
          <a:chOff x="0" y="0"/>
          <a:chExt cx="0" cy="0"/>
        </a:xfrm>
      </p:grpSpPr>
      <p:sp>
        <p:nvSpPr>
          <p:cNvPr id="71" name="Google Shape;71;p37"/>
          <p:cNvSpPr txBox="1">
            <a:spLocks noGrp="1"/>
          </p:cNvSpPr>
          <p:nvPr>
            <p:ph type="title"/>
          </p:nvPr>
        </p:nvSpPr>
        <p:spPr>
          <a:xfrm>
            <a:off x="6324600" y="304800"/>
            <a:ext cx="2514600"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37"/>
          <p:cNvSpPr txBox="1">
            <a:spLocks noGrp="1"/>
          </p:cNvSpPr>
          <p:nvPr>
            <p:ph type="body" idx="1"/>
          </p:nvPr>
        </p:nvSpPr>
        <p:spPr>
          <a:xfrm>
            <a:off x="6324600" y="1219202"/>
            <a:ext cx="2514600" cy="4843463"/>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spcBef>
                <a:spcPts val="1000"/>
              </a:spcBef>
              <a:spcAft>
                <a:spcPts val="0"/>
              </a:spcAft>
              <a:buSzPts val="912"/>
              <a:buNone/>
              <a:defRPr sz="1200"/>
            </a:lvl2pPr>
            <a:lvl3pPr marL="1371600" lvl="2" indent="-228600" algn="l">
              <a:spcBef>
                <a:spcPts val="500"/>
              </a:spcBef>
              <a:spcAft>
                <a:spcPts val="0"/>
              </a:spcAft>
              <a:buSzPts val="760"/>
              <a:buNone/>
              <a:defRPr sz="1000"/>
            </a:lvl3pPr>
            <a:lvl4pPr marL="1828800" lvl="3" indent="-228600" algn="l">
              <a:spcBef>
                <a:spcPts val="400"/>
              </a:spcBef>
              <a:spcAft>
                <a:spcPts val="0"/>
              </a:spcAft>
              <a:buSzPts val="630"/>
              <a:buNone/>
              <a:defRPr sz="900"/>
            </a:lvl4pPr>
            <a:lvl5pPr marL="2286000" lvl="4" indent="-228600" algn="l">
              <a:spcBef>
                <a:spcPts val="300"/>
              </a:spcBef>
              <a:spcAft>
                <a:spcPts val="0"/>
              </a:spcAft>
              <a:buSzPts val="630"/>
              <a:buNone/>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73" name="Google Shape;73;p37"/>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7"/>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en-US" smtClean="0"/>
              <a:pPr/>
              <a:t>‹#›</a:t>
            </a:fld>
            <a:endParaRPr lang="en-US"/>
          </a:p>
        </p:txBody>
      </p:sp>
      <p:cxnSp>
        <p:nvCxnSpPr>
          <p:cNvPr id="76" name="Google Shape;76;p37"/>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37"/>
          <p:cNvCxnSpPr/>
          <p:nvPr/>
        </p:nvCxnSpPr>
        <p:spPr>
          <a:xfrm rot="5400000">
            <a:off x="3160645" y="3324225"/>
            <a:ext cx="603504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37"/>
          <p:cNvSpPr/>
          <p:nvPr/>
        </p:nvSpPr>
        <p:spPr>
          <a:xfrm rot="5400000">
            <a:off x="419101" y="6467476"/>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79" name="Google Shape;79;p37"/>
          <p:cNvSpPr txBox="1">
            <a:spLocks noGrp="1"/>
          </p:cNvSpPr>
          <p:nvPr>
            <p:ph type="body" idx="2"/>
          </p:nvPr>
        </p:nvSpPr>
        <p:spPr>
          <a:xfrm>
            <a:off x="304800" y="304800"/>
            <a:ext cx="5715000" cy="57150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0"/>
        <p:cNvGrpSpPr/>
        <p:nvPr/>
      </p:nvGrpSpPr>
      <p:grpSpPr>
        <a:xfrm>
          <a:off x="0" y="0"/>
          <a:ext cx="0" cy="0"/>
          <a:chOff x="0" y="0"/>
          <a:chExt cx="0" cy="0"/>
        </a:xfrm>
      </p:grpSpPr>
      <p:sp>
        <p:nvSpPr>
          <p:cNvPr id="81" name="Google Shape;81;p38"/>
          <p:cNvSpPr txBox="1">
            <a:spLocks noGrp="1"/>
          </p:cNvSpPr>
          <p:nvPr>
            <p:ph type="title"/>
          </p:nvPr>
        </p:nvSpPr>
        <p:spPr>
          <a:xfrm>
            <a:off x="457200" y="500856"/>
            <a:ext cx="8229600" cy="674688"/>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spcBef>
                <a:spcPts val="0"/>
              </a:spcBef>
              <a:spcAft>
                <a:spcPts val="0"/>
              </a:spcAft>
              <a:buClr>
                <a:schemeClr val="dk1"/>
              </a:buClr>
              <a:buSzPts val="2000"/>
              <a:buFont typeface="Bookman Old Style"/>
              <a:buNone/>
              <a:defRPr sz="2000" b="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38"/>
          <p:cNvSpPr>
            <a:spLocks noGrp="1"/>
          </p:cNvSpPr>
          <p:nvPr>
            <p:ph type="pic" idx="2"/>
          </p:nvPr>
        </p:nvSpPr>
        <p:spPr>
          <a:xfrm>
            <a:off x="457200" y="1905000"/>
            <a:ext cx="8229600" cy="4270248"/>
          </a:xfrm>
          <a:prstGeom prst="rect">
            <a:avLst/>
          </a:prstGeom>
          <a:solidFill>
            <a:schemeClr val="dk1"/>
          </a:solidFill>
          <a:ln>
            <a:noFill/>
          </a:ln>
        </p:spPr>
      </p:sp>
      <p:sp>
        <p:nvSpPr>
          <p:cNvPr id="83" name="Google Shape;83;p38"/>
          <p:cNvSpPr txBox="1">
            <a:spLocks noGrp="1"/>
          </p:cNvSpPr>
          <p:nvPr>
            <p:ph type="body" idx="1"/>
          </p:nvPr>
        </p:nvSpPr>
        <p:spPr>
          <a:xfrm>
            <a:off x="457200" y="1219200"/>
            <a:ext cx="8229600" cy="533400"/>
          </a:xfrm>
          <a:prstGeom prst="rect">
            <a:avLst/>
          </a:prstGeom>
          <a:noFill/>
          <a:ln>
            <a:noFill/>
          </a:ln>
        </p:spPr>
        <p:txBody>
          <a:bodyPr spcFirstLastPara="1" wrap="square" lIns="91425" tIns="45700" rIns="91425" bIns="45700" anchor="ctr" anchorCtr="0">
            <a:normAutofit/>
          </a:bodyPr>
          <a:lstStyle>
            <a:lvl1pPr marL="457200" lvl="0" indent="-228600" algn="l">
              <a:spcBef>
                <a:spcPts val="600"/>
              </a:spcBef>
              <a:spcAft>
                <a:spcPts val="0"/>
              </a:spcAft>
              <a:buSzPts val="1064"/>
              <a:buFont typeface="Gill Sans"/>
              <a:buNone/>
              <a:defRPr sz="1400"/>
            </a:lvl1pPr>
            <a:lvl2pPr marL="914400" lvl="1" indent="-286512" algn="l">
              <a:spcBef>
                <a:spcPts val="500"/>
              </a:spcBef>
              <a:spcAft>
                <a:spcPts val="0"/>
              </a:spcAft>
              <a:buSzPts val="912"/>
              <a:buChar char="🞂"/>
              <a:defRPr sz="1200"/>
            </a:lvl2pPr>
            <a:lvl3pPr marL="1371600" lvl="2" indent="-276860" algn="l">
              <a:spcBef>
                <a:spcPts val="500"/>
              </a:spcBef>
              <a:spcAft>
                <a:spcPts val="0"/>
              </a:spcAft>
              <a:buSzPts val="760"/>
              <a:buChar char="🞂"/>
              <a:defRPr sz="1000"/>
            </a:lvl3pPr>
            <a:lvl4pPr marL="1828800" lvl="3" indent="-268605" algn="l">
              <a:spcBef>
                <a:spcPts val="400"/>
              </a:spcBef>
              <a:spcAft>
                <a:spcPts val="0"/>
              </a:spcAft>
              <a:buSzPts val="630"/>
              <a:buChar char="◻"/>
              <a:defRPr sz="900"/>
            </a:lvl4pPr>
            <a:lvl5pPr marL="2286000" lvl="4" indent="-268604" algn="l">
              <a:spcBef>
                <a:spcPts val="300"/>
              </a:spcBef>
              <a:spcAft>
                <a:spcPts val="0"/>
              </a:spcAft>
              <a:buSzPts val="630"/>
              <a:buChar char="◻"/>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84" name="Google Shape;84;p3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8"/>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en-US" smtClean="0"/>
              <a:pPr/>
              <a:t>‹#›</a:t>
            </a:fld>
            <a:endParaRPr lang="en-US"/>
          </a:p>
        </p:txBody>
      </p:sp>
      <p:cxnSp>
        <p:nvCxnSpPr>
          <p:cNvPr id="87" name="Google Shape;87;p38"/>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38"/>
          <p:cNvSpPr/>
          <p:nvPr/>
        </p:nvSpPr>
        <p:spPr>
          <a:xfrm rot="5400000">
            <a:off x="419101" y="6467476"/>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9" name="Google Shape;89;p38"/>
          <p:cNvSpPr/>
          <p:nvPr/>
        </p:nvSpPr>
        <p:spPr>
          <a:xfrm>
            <a:off x="457200" y="500856"/>
            <a:ext cx="18288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9"/>
          <p:cNvSpPr txBox="1">
            <a:spLocks noGrp="1"/>
          </p:cNvSpPr>
          <p:nvPr>
            <p:ph type="body" idx="1"/>
          </p:nvPr>
        </p:nvSpPr>
        <p:spPr>
          <a:xfrm rot="5400000">
            <a:off x="2116836" y="-440436"/>
            <a:ext cx="4910328" cy="8229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3" name="Google Shape;93;p3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40"/>
          <p:cNvSpPr txBox="1">
            <a:spLocks noGrp="1"/>
          </p:cNvSpPr>
          <p:nvPr>
            <p:ph type="title"/>
          </p:nvPr>
        </p:nvSpPr>
        <p:spPr>
          <a:xfrm rot="5400000">
            <a:off x="4732339" y="2171701"/>
            <a:ext cx="5851525"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40"/>
          <p:cNvSpPr txBox="1">
            <a:spLocks noGrp="1"/>
          </p:cNvSpPr>
          <p:nvPr>
            <p:ph type="body" idx="1"/>
          </p:nvPr>
        </p:nvSpPr>
        <p:spPr>
          <a:xfrm rot="5400000">
            <a:off x="541339" y="190500"/>
            <a:ext cx="5851525" cy="60198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9" name="Google Shape;99;p4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0"/>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fld id="{00000000-1234-1234-1234-123412341234}" type="slidenum">
              <a:rPr lang="en-US" smtClean="0"/>
              <a:pPr/>
              <a:t>‹#›</a:t>
            </a:fld>
            <a:endParaRPr lang="en-US"/>
          </a:p>
        </p:txBody>
      </p:sp>
      <p:cxnSp>
        <p:nvCxnSpPr>
          <p:cNvPr id="102" name="Google Shape;102;p40"/>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40"/>
          <p:cNvSpPr/>
          <p:nvPr/>
        </p:nvSpPr>
        <p:spPr>
          <a:xfrm rot="5400000">
            <a:off x="419101" y="6467476"/>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104" name="Google Shape;104;p40"/>
          <p:cNvCxnSpPr/>
          <p:nvPr/>
        </p:nvCxnSpPr>
        <p:spPr>
          <a:xfrm rot="5400000">
            <a:off x="3629607" y="3201952"/>
            <a:ext cx="585216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9"/>
          <p:cNvSpPr txBox="1">
            <a:spLocks noGrp="1"/>
          </p:cNvSpPr>
          <p:nvPr>
            <p:ph type="body" idx="1"/>
          </p:nvPr>
        </p:nvSpPr>
        <p:spPr>
          <a:xfrm>
            <a:off x="457200" y="1219200"/>
            <a:ext cx="8229600" cy="4910328"/>
          </a:xfrm>
          <a:prstGeom prst="rect">
            <a:avLst/>
          </a:prstGeom>
          <a:noFill/>
          <a:ln>
            <a:noFill/>
          </a:ln>
        </p:spPr>
        <p:txBody>
          <a:bodyPr spcFirstLastPara="1" wrap="square" lIns="91425" tIns="45700" rIns="91425" bIns="45700" anchor="t" anchorCtr="0">
            <a:normAutofit/>
          </a:bodyPr>
          <a:lstStyle>
            <a:lvl1pPr marL="457200" marR="0" lvl="0" indent="-354076" algn="l" rtl="0">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2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2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8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2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chemeClr val="dk2"/>
                </a:solidFill>
                <a:latin typeface="Gill Sans"/>
                <a:ea typeface="Gill Sans"/>
                <a:cs typeface="Gill Sans"/>
                <a:sym typeface="Gill Sans"/>
              </a:defRPr>
            </a:lvl1pPr>
            <a:lvl2pPr marL="0" marR="0" lvl="1" indent="0" algn="l" rtl="0">
              <a:spcBef>
                <a:spcPts val="0"/>
              </a:spcBef>
              <a:buNone/>
              <a:defRPr sz="1400" b="0" i="0" u="none" strike="noStrike" cap="none">
                <a:solidFill>
                  <a:schemeClr val="dk2"/>
                </a:solidFill>
                <a:latin typeface="Gill Sans"/>
                <a:ea typeface="Gill Sans"/>
                <a:cs typeface="Gill Sans"/>
                <a:sym typeface="Gill Sans"/>
              </a:defRPr>
            </a:lvl2pPr>
            <a:lvl3pPr marL="0" marR="0" lvl="2" indent="0" algn="l" rtl="0">
              <a:spcBef>
                <a:spcPts val="0"/>
              </a:spcBef>
              <a:buNone/>
              <a:defRPr sz="1400" b="0" i="0" u="none" strike="noStrike" cap="none">
                <a:solidFill>
                  <a:schemeClr val="dk2"/>
                </a:solidFill>
                <a:latin typeface="Gill Sans"/>
                <a:ea typeface="Gill Sans"/>
                <a:cs typeface="Gill Sans"/>
                <a:sym typeface="Gill Sans"/>
              </a:defRPr>
            </a:lvl3pPr>
            <a:lvl4pPr marL="0" marR="0" lvl="3" indent="0" algn="l" rtl="0">
              <a:spcBef>
                <a:spcPts val="0"/>
              </a:spcBef>
              <a:buNone/>
              <a:defRPr sz="1400" b="0" i="0" u="none" strike="noStrike" cap="none">
                <a:solidFill>
                  <a:schemeClr val="dk2"/>
                </a:solidFill>
                <a:latin typeface="Gill Sans"/>
                <a:ea typeface="Gill Sans"/>
                <a:cs typeface="Gill Sans"/>
                <a:sym typeface="Gill Sans"/>
              </a:defRPr>
            </a:lvl4pPr>
            <a:lvl5pPr marL="0" marR="0" lvl="4" indent="0" algn="l" rtl="0">
              <a:spcBef>
                <a:spcPts val="0"/>
              </a:spcBef>
              <a:buNone/>
              <a:defRPr sz="1400" b="0" i="0" u="none" strike="noStrike" cap="none">
                <a:solidFill>
                  <a:schemeClr val="dk2"/>
                </a:solidFill>
                <a:latin typeface="Gill Sans"/>
                <a:ea typeface="Gill Sans"/>
                <a:cs typeface="Gill Sans"/>
                <a:sym typeface="Gill Sans"/>
              </a:defRPr>
            </a:lvl5pPr>
            <a:lvl6pPr marL="0" marR="0" lvl="5" indent="0" algn="l" rtl="0">
              <a:spcBef>
                <a:spcPts val="0"/>
              </a:spcBef>
              <a:buNone/>
              <a:defRPr sz="1400" b="0" i="0" u="none" strike="noStrike" cap="none">
                <a:solidFill>
                  <a:schemeClr val="dk2"/>
                </a:solidFill>
                <a:latin typeface="Gill Sans"/>
                <a:ea typeface="Gill Sans"/>
                <a:cs typeface="Gill Sans"/>
                <a:sym typeface="Gill Sans"/>
              </a:defRPr>
            </a:lvl6pPr>
            <a:lvl7pPr marL="0" marR="0" lvl="6" indent="0" algn="l" rtl="0">
              <a:spcBef>
                <a:spcPts val="0"/>
              </a:spcBef>
              <a:buNone/>
              <a:defRPr sz="1400" b="0" i="0" u="none" strike="noStrike" cap="none">
                <a:solidFill>
                  <a:schemeClr val="dk2"/>
                </a:solidFill>
                <a:latin typeface="Gill Sans"/>
                <a:ea typeface="Gill Sans"/>
                <a:cs typeface="Gill Sans"/>
                <a:sym typeface="Gill Sans"/>
              </a:defRPr>
            </a:lvl7pPr>
            <a:lvl8pPr marL="0" marR="0" lvl="7" indent="0" algn="l" rtl="0">
              <a:spcBef>
                <a:spcPts val="0"/>
              </a:spcBef>
              <a:buNone/>
              <a:defRPr sz="1400" b="0" i="0" u="none" strike="noStrike" cap="none">
                <a:solidFill>
                  <a:schemeClr val="dk2"/>
                </a:solidFill>
                <a:latin typeface="Gill Sans"/>
                <a:ea typeface="Gill Sans"/>
                <a:cs typeface="Gill Sans"/>
                <a:sym typeface="Gill Sans"/>
              </a:defRPr>
            </a:lvl8pPr>
            <a:lvl9pPr marL="0" marR="0" lvl="8" indent="0" algn="l" rtl="0">
              <a:spcBef>
                <a:spcPts val="0"/>
              </a:spcBef>
              <a:buNone/>
              <a:defRPr sz="1400" b="0" i="0" u="none" strike="noStrike" cap="none">
                <a:solidFill>
                  <a:schemeClr val="dk2"/>
                </a:solidFill>
                <a:latin typeface="Gill Sans"/>
                <a:ea typeface="Gill Sans"/>
                <a:cs typeface="Gill Sans"/>
                <a:sym typeface="Gill Sans"/>
              </a:defRPr>
            </a:lvl9pPr>
          </a:lstStyle>
          <a:p>
            <a:fld id="{00000000-1234-1234-1234-123412341234}" type="slidenum">
              <a:rPr lang="en-US" smtClean="0"/>
              <a:pPr/>
              <a:t>‹#›</a:t>
            </a:fld>
            <a:endParaRPr lang="en-US"/>
          </a:p>
        </p:txBody>
      </p:sp>
      <p:cxnSp>
        <p:nvCxnSpPr>
          <p:cNvPr id="15" name="Google Shape;15;p29"/>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29"/>
          <p:cNvCxnSpPr/>
          <p:nvPr/>
        </p:nvCxnSpPr>
        <p:spPr>
          <a:xfrm>
            <a:off x="457200" y="114300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29"/>
          <p:cNvSpPr/>
          <p:nvPr/>
        </p:nvSpPr>
        <p:spPr>
          <a:xfrm rot="5400000">
            <a:off x="419101" y="6467476"/>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ctrTitle"/>
          </p:nvPr>
        </p:nvSpPr>
        <p:spPr>
          <a:xfrm>
            <a:off x="1219200" y="3886200"/>
            <a:ext cx="6934200" cy="990600"/>
          </a:xfrm>
          <a:prstGeom prst="rect">
            <a:avLst/>
          </a:prstGeom>
          <a:noFill/>
          <a:ln>
            <a:noFill/>
          </a:ln>
        </p:spPr>
        <p:txBody>
          <a:bodyPr spcFirstLastPara="1" wrap="square" lIns="91425" tIns="45700" rIns="91425" bIns="45700" anchor="t" anchorCtr="0">
            <a:noAutofit/>
          </a:bodyPr>
          <a:lstStyle/>
          <a:p>
            <a:pPr lvl="0">
              <a:buSzPts val="3000"/>
            </a:pPr>
            <a:r>
              <a:rPr lang="en-US" sz="2800" dirty="0"/>
              <a:t>INT 7021- Tin </a:t>
            </a:r>
            <a:r>
              <a:rPr lang="en-US" sz="2800" dirty="0" err="1"/>
              <a:t>sinh</a:t>
            </a:r>
            <a:r>
              <a:rPr lang="en-US" sz="2800" dirty="0"/>
              <a:t> </a:t>
            </a:r>
            <a:r>
              <a:rPr lang="en-US" sz="2800" dirty="0" err="1"/>
              <a:t>học</a:t>
            </a:r>
            <a:r>
              <a:rPr lang="en-US" sz="2800" dirty="0"/>
              <a:t> </a:t>
            </a:r>
            <a:r>
              <a:rPr lang="en-US" sz="2800" dirty="0" err="1"/>
              <a:t>cho</a:t>
            </a:r>
            <a:r>
              <a:rPr lang="en-US" sz="2800" dirty="0"/>
              <a:t> </a:t>
            </a:r>
            <a:r>
              <a:rPr lang="en-US" sz="2800" dirty="0" err="1"/>
              <a:t>dữ</a:t>
            </a:r>
            <a:r>
              <a:rPr lang="en-US" sz="2800" dirty="0"/>
              <a:t> </a:t>
            </a:r>
            <a:r>
              <a:rPr lang="en-US" sz="2800" dirty="0" err="1"/>
              <a:t>liệu</a:t>
            </a:r>
            <a:r>
              <a:rPr lang="en-US" sz="2800" dirty="0"/>
              <a:t> </a:t>
            </a:r>
            <a:r>
              <a:rPr lang="en-US" sz="2800" dirty="0" err="1"/>
              <a:t>lớn</a:t>
            </a:r>
            <a:r>
              <a:rPr lang="en-US" sz="2800" dirty="0"/>
              <a:t> </a:t>
            </a:r>
            <a:br>
              <a:rPr lang="en-US" sz="2800" dirty="0"/>
            </a:br>
            <a:r>
              <a:rPr lang="en-US" sz="2400" dirty="0" err="1"/>
              <a:t>Nhóm</a:t>
            </a:r>
            <a:r>
              <a:rPr lang="en-US" sz="2400" dirty="0"/>
              <a:t> 2 – </a:t>
            </a:r>
            <a:r>
              <a:rPr lang="en-US" sz="2400" dirty="0" err="1"/>
              <a:t>Sắp</a:t>
            </a:r>
            <a:r>
              <a:rPr lang="en-US" sz="2400" dirty="0"/>
              <a:t> </a:t>
            </a:r>
            <a:r>
              <a:rPr lang="en-US" sz="2400" dirty="0" err="1"/>
              <a:t>hàng</a:t>
            </a:r>
            <a:r>
              <a:rPr lang="en-US" sz="2400" dirty="0"/>
              <a:t> </a:t>
            </a:r>
            <a:r>
              <a:rPr lang="en-US" sz="2400" dirty="0" err="1"/>
              <a:t>trình</a:t>
            </a:r>
            <a:r>
              <a:rPr lang="en-US" sz="2400" dirty="0"/>
              <a:t> </a:t>
            </a:r>
            <a:r>
              <a:rPr lang="en-US" sz="2400" dirty="0" err="1"/>
              <a:t>tự</a:t>
            </a:r>
            <a:r>
              <a:rPr lang="en-US" sz="2400" dirty="0"/>
              <a:t> </a:t>
            </a:r>
            <a:endParaRPr sz="2900" dirty="0"/>
          </a:p>
        </p:txBody>
      </p:sp>
      <p:sp>
        <p:nvSpPr>
          <p:cNvPr id="112" name="Google Shape;112;p1"/>
          <p:cNvSpPr txBox="1">
            <a:spLocks noGrp="1"/>
          </p:cNvSpPr>
          <p:nvPr>
            <p:ph type="subTitle" idx="1"/>
          </p:nvPr>
        </p:nvSpPr>
        <p:spPr>
          <a:xfrm>
            <a:off x="1143000" y="5029200"/>
            <a:ext cx="7086600" cy="6858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dirty="0">
                <a:solidFill>
                  <a:schemeClr val="dk1"/>
                </a:solidFill>
                <a:latin typeface="Cambria"/>
                <a:ea typeface="Cambria"/>
                <a:cs typeface="Cambria"/>
                <a:sym typeface="Cambria"/>
              </a:rPr>
              <a:t>TRƯỜNG ĐẠI HỌC CÔNG NGHỆ</a:t>
            </a:r>
          </a:p>
          <a:p>
            <a:pPr marL="0" indent="0"/>
            <a:r>
              <a:rPr lang="en-US" dirty="0">
                <a:solidFill>
                  <a:schemeClr val="dk1"/>
                </a:solidFill>
                <a:latin typeface="Cambria"/>
                <a:ea typeface="Cambria"/>
                <a:sym typeface="Cambria"/>
              </a:rPr>
              <a:t>ĐẠI HỌC QUỐC GIA HÀ NỘI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8848204ce3_0_96"/>
          <p:cNvSpPr txBox="1">
            <a:spLocks noGrp="1"/>
          </p:cNvSpPr>
          <p:nvPr>
            <p:ph type="title"/>
          </p:nvPr>
        </p:nvSpPr>
        <p:spPr>
          <a:xfrm>
            <a:off x="457200" y="152400"/>
            <a:ext cx="8229600" cy="990600"/>
          </a:xfrm>
          <a:prstGeom prst="rect">
            <a:avLst/>
          </a:prstGeom>
        </p:spPr>
        <p:txBody>
          <a:bodyPr spcFirstLastPara="1" wrap="square" lIns="91425" tIns="45700" rIns="91425" bIns="45700" anchor="b" anchorCtr="0">
            <a:normAutofit/>
          </a:bodyPr>
          <a:lstStyle/>
          <a:p>
            <a:r>
              <a:rPr lang="en-US" dirty="0" err="1"/>
              <a:t>Mục</a:t>
            </a:r>
            <a:r>
              <a:rPr lang="en-US" dirty="0"/>
              <a:t> </a:t>
            </a:r>
            <a:r>
              <a:rPr lang="en-US" dirty="0" err="1"/>
              <a:t>lục</a:t>
            </a:r>
            <a:endParaRPr dirty="0"/>
          </a:p>
        </p:txBody>
      </p:sp>
      <p:sp>
        <p:nvSpPr>
          <p:cNvPr id="119" name="Google Shape;119;g38848204ce3_0_96"/>
          <p:cNvSpPr txBox="1">
            <a:spLocks noGrp="1"/>
          </p:cNvSpPr>
          <p:nvPr>
            <p:ph type="body" idx="1"/>
          </p:nvPr>
        </p:nvSpPr>
        <p:spPr>
          <a:xfrm>
            <a:off x="457200" y="1219200"/>
            <a:ext cx="8229600" cy="4937700"/>
          </a:xfrm>
          <a:prstGeom prst="rect">
            <a:avLst/>
          </a:prstGeom>
        </p:spPr>
        <p:txBody>
          <a:bodyPr spcFirstLastPara="1" wrap="square" lIns="91425" tIns="45700" rIns="91425" bIns="45700" anchor="t" anchorCtr="0">
            <a:normAutofit/>
          </a:bodyPr>
          <a:lstStyle/>
          <a:p>
            <a:pPr marL="141732" indent="0">
              <a:spcBef>
                <a:spcPts val="0"/>
              </a:spcBef>
              <a:buNone/>
            </a:pPr>
            <a:r>
              <a:rPr lang="en-US" sz="2000" b="1" dirty="0" err="1">
                <a:latin typeface="Gill Sans" panose="020B0604020202020204" charset="0"/>
                <a:ea typeface="Cambria" panose="02040503050406030204" pitchFamily="18" charset="0"/>
              </a:rPr>
              <a:t>Giới</a:t>
            </a:r>
            <a:r>
              <a:rPr lang="en-US" sz="2000" b="1" dirty="0">
                <a:latin typeface="Gill Sans" panose="020B0604020202020204" charset="0"/>
                <a:ea typeface="Cambria" panose="02040503050406030204" pitchFamily="18" charset="0"/>
              </a:rPr>
              <a:t> </a:t>
            </a:r>
            <a:r>
              <a:rPr lang="en-US" sz="2000" b="1" dirty="0" err="1">
                <a:latin typeface="Gill Sans" panose="020B0604020202020204" charset="0"/>
                <a:ea typeface="Cambria" panose="02040503050406030204" pitchFamily="18" charset="0"/>
              </a:rPr>
              <a:t>thiệu</a:t>
            </a:r>
            <a:r>
              <a:rPr lang="en-US" sz="2000" b="1" dirty="0">
                <a:latin typeface="Gill Sans" panose="020B0604020202020204" charset="0"/>
                <a:ea typeface="Cambria" panose="02040503050406030204" pitchFamily="18" charset="0"/>
              </a:rPr>
              <a:t> </a:t>
            </a:r>
            <a:r>
              <a:rPr lang="en-US" sz="2000" b="1" dirty="0" err="1">
                <a:latin typeface="Gill Sans" panose="020B0604020202020204" charset="0"/>
                <a:ea typeface="Cambria" panose="02040503050406030204" pitchFamily="18" charset="0"/>
              </a:rPr>
              <a:t>bài</a:t>
            </a:r>
            <a:r>
              <a:rPr lang="en-US" sz="2000" b="1" dirty="0">
                <a:latin typeface="Gill Sans" panose="020B0604020202020204" charset="0"/>
                <a:ea typeface="Cambria" panose="02040503050406030204" pitchFamily="18" charset="0"/>
              </a:rPr>
              <a:t> </a:t>
            </a:r>
            <a:r>
              <a:rPr lang="en-US" sz="2000" b="1" dirty="0" err="1">
                <a:latin typeface="Gill Sans" panose="020B0604020202020204" charset="0"/>
                <a:ea typeface="Cambria" panose="02040503050406030204" pitchFamily="18" charset="0"/>
              </a:rPr>
              <a:t>toán</a:t>
            </a:r>
            <a:endParaRPr lang="en-US" sz="2000" dirty="0">
              <a:latin typeface="Gill Sans" panose="020B0604020202020204" charset="0"/>
              <a:ea typeface="Cambria" panose="02040503050406030204" pitchFamily="18" charset="0"/>
            </a:endParaRPr>
          </a:p>
          <a:p>
            <a:pPr lvl="1">
              <a:spcBef>
                <a:spcPts val="0"/>
              </a:spcBef>
              <a:buClrTx/>
              <a:buSzPct val="100000"/>
              <a:buFont typeface="Arial" panose="020B0604020202020204" pitchFamily="34" charset="0"/>
              <a:buChar char="•"/>
            </a:pPr>
            <a:r>
              <a:rPr lang="en-US" sz="1800" dirty="0" err="1">
                <a:latin typeface="Gill Sans" panose="020B0604020202020204" charset="0"/>
                <a:ea typeface="Cambria" panose="02040503050406030204" pitchFamily="18" charset="0"/>
              </a:rPr>
              <a:t>Sắp</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hàng</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trình</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tự</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là</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gì</a:t>
            </a:r>
            <a:r>
              <a:rPr lang="en-US" sz="1800" dirty="0">
                <a:latin typeface="Gill Sans" panose="020B0604020202020204" charset="0"/>
                <a:ea typeface="Cambria" panose="02040503050406030204" pitchFamily="18" charset="0"/>
              </a:rPr>
              <a:t>?</a:t>
            </a:r>
          </a:p>
          <a:p>
            <a:pPr lvl="1">
              <a:spcBef>
                <a:spcPts val="0"/>
              </a:spcBef>
              <a:buClrTx/>
              <a:buSzPct val="100000"/>
              <a:buFont typeface="Arial" panose="020B0604020202020204" pitchFamily="34" charset="0"/>
              <a:buChar char="•"/>
            </a:pPr>
            <a:r>
              <a:rPr lang="en-US" sz="1800" dirty="0" err="1">
                <a:latin typeface="Gill Sans" panose="020B0604020202020204" charset="0"/>
                <a:ea typeface="Cambria" panose="02040503050406030204" pitchFamily="18" charset="0"/>
              </a:rPr>
              <a:t>Tại</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sao</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cần</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giải</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quyết</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bài</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toán</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này</a:t>
            </a:r>
            <a:r>
              <a:rPr lang="en-US" sz="1800" dirty="0">
                <a:latin typeface="Gill Sans" panose="020B0604020202020204" charset="0"/>
                <a:ea typeface="Cambria" panose="02040503050406030204" pitchFamily="18" charset="0"/>
              </a:rPr>
              <a:t>?</a:t>
            </a:r>
          </a:p>
          <a:p>
            <a:pPr lvl="1">
              <a:spcBef>
                <a:spcPts val="0"/>
              </a:spcBef>
              <a:buClrTx/>
              <a:buSzPct val="100000"/>
              <a:buFont typeface="Arial" panose="020B0604020202020204" pitchFamily="34" charset="0"/>
              <a:buChar char="•"/>
            </a:pPr>
            <a:r>
              <a:rPr lang="en-US" sz="1800" dirty="0">
                <a:latin typeface="Gill Sans" panose="020B0604020202020204" charset="0"/>
                <a:ea typeface="Cambria" panose="02040503050406030204" pitchFamily="18" charset="0"/>
              </a:rPr>
              <a:t>Các </a:t>
            </a:r>
            <a:r>
              <a:rPr lang="en-US" sz="1800" dirty="0" err="1">
                <a:latin typeface="Gill Sans" panose="020B0604020202020204" charset="0"/>
                <a:ea typeface="Cambria" panose="02040503050406030204" pitchFamily="18" charset="0"/>
              </a:rPr>
              <a:t>chiến</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lược</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cốt</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lõi</a:t>
            </a:r>
            <a:endParaRPr lang="en-US" sz="1800" dirty="0">
              <a:latin typeface="Gill Sans" panose="020B0604020202020204" charset="0"/>
              <a:ea typeface="Cambria" panose="02040503050406030204" pitchFamily="18" charset="0"/>
            </a:endParaRPr>
          </a:p>
          <a:p>
            <a:pPr lvl="1">
              <a:spcBef>
                <a:spcPts val="0"/>
              </a:spcBef>
              <a:buClrTx/>
              <a:buSzPct val="100000"/>
              <a:buFont typeface="Arial" panose="020B0604020202020204" pitchFamily="34" charset="0"/>
              <a:buChar char="•"/>
            </a:pPr>
            <a:r>
              <a:rPr lang="en-US" sz="1800" dirty="0" err="1">
                <a:latin typeface="Gill Sans" panose="020B0604020202020204" charset="0"/>
                <a:ea typeface="Cambria" panose="02040503050406030204" pitchFamily="18" charset="0"/>
              </a:rPr>
              <a:t>Phân</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loại</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theo</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quy</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mô</a:t>
            </a:r>
            <a:endParaRPr lang="en-US" sz="1800" dirty="0">
              <a:latin typeface="Gill Sans" panose="020B0604020202020204" charset="0"/>
              <a:ea typeface="Cambria" panose="02040503050406030204" pitchFamily="18" charset="0"/>
            </a:endParaRPr>
          </a:p>
          <a:p>
            <a:pPr lvl="1">
              <a:spcBef>
                <a:spcPts val="0"/>
              </a:spcBef>
              <a:buClrTx/>
              <a:buSzPct val="100000"/>
              <a:buFont typeface="Arial" panose="020B0604020202020204" pitchFamily="34" charset="0"/>
              <a:buChar char="•"/>
            </a:pPr>
            <a:r>
              <a:rPr lang="en-US" sz="1800" dirty="0" err="1">
                <a:latin typeface="Gill Sans" panose="020B0604020202020204" charset="0"/>
                <a:ea typeface="Cambria" panose="02040503050406030204" pitchFamily="18" charset="0"/>
              </a:rPr>
              <a:t>Biểu</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diễn</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bài</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toán</a:t>
            </a:r>
            <a:endParaRPr lang="en-US" sz="1800" dirty="0">
              <a:latin typeface="Gill Sans" panose="020B0604020202020204" charset="0"/>
              <a:ea typeface="Cambria" panose="02040503050406030204" pitchFamily="18" charset="0"/>
            </a:endParaRPr>
          </a:p>
          <a:p>
            <a:pPr marL="141732" indent="0">
              <a:spcBef>
                <a:spcPts val="0"/>
              </a:spcBef>
              <a:buNone/>
            </a:pPr>
            <a:r>
              <a:rPr lang="en-US" sz="1900" b="1" dirty="0" err="1">
                <a:latin typeface="Gill Sans" panose="020B0604020202020204" charset="0"/>
                <a:ea typeface="Cambria" panose="02040503050406030204" pitchFamily="18" charset="0"/>
              </a:rPr>
              <a:t>Sắp</a:t>
            </a:r>
            <a:r>
              <a:rPr lang="en-US" sz="1900" b="1" dirty="0">
                <a:latin typeface="Gill Sans" panose="020B0604020202020204" charset="0"/>
                <a:ea typeface="Cambria" panose="02040503050406030204" pitchFamily="18" charset="0"/>
              </a:rPr>
              <a:t> </a:t>
            </a:r>
            <a:r>
              <a:rPr lang="en-US" sz="1900" b="1" dirty="0" err="1">
                <a:latin typeface="Gill Sans" panose="020B0604020202020204" charset="0"/>
                <a:ea typeface="Cambria" panose="02040503050406030204" pitchFamily="18" charset="0"/>
              </a:rPr>
              <a:t>hàng</a:t>
            </a:r>
            <a:r>
              <a:rPr lang="en-US" sz="1900" b="1" dirty="0">
                <a:latin typeface="Gill Sans" panose="020B0604020202020204" charset="0"/>
                <a:ea typeface="Cambria" panose="02040503050406030204" pitchFamily="18" charset="0"/>
              </a:rPr>
              <a:t> </a:t>
            </a:r>
            <a:r>
              <a:rPr lang="en-US" sz="1900" b="1" dirty="0" err="1">
                <a:latin typeface="Gill Sans" panose="020B0604020202020204" charset="0"/>
                <a:ea typeface="Cambria" panose="02040503050406030204" pitchFamily="18" charset="0"/>
              </a:rPr>
              <a:t>hai</a:t>
            </a:r>
            <a:r>
              <a:rPr lang="en-US" sz="1900" b="1" dirty="0">
                <a:latin typeface="Gill Sans" panose="020B0604020202020204" charset="0"/>
                <a:ea typeface="Cambria" panose="02040503050406030204" pitchFamily="18" charset="0"/>
              </a:rPr>
              <a:t> </a:t>
            </a:r>
            <a:r>
              <a:rPr lang="en-US" sz="1900" b="1" dirty="0" err="1">
                <a:latin typeface="Gill Sans" panose="020B0604020202020204" charset="0"/>
                <a:ea typeface="Cambria" panose="02040503050406030204" pitchFamily="18" charset="0"/>
              </a:rPr>
              <a:t>trình</a:t>
            </a:r>
            <a:r>
              <a:rPr lang="en-US" sz="1900" b="1" dirty="0">
                <a:latin typeface="Gill Sans" panose="020B0604020202020204" charset="0"/>
                <a:ea typeface="Cambria" panose="02040503050406030204" pitchFamily="18" charset="0"/>
              </a:rPr>
              <a:t> </a:t>
            </a:r>
            <a:r>
              <a:rPr lang="en-US" sz="1900" b="1" dirty="0" err="1">
                <a:latin typeface="Gill Sans" panose="020B0604020202020204" charset="0"/>
                <a:ea typeface="Cambria" panose="02040503050406030204" pitchFamily="18" charset="0"/>
              </a:rPr>
              <a:t>tự</a:t>
            </a:r>
            <a:endParaRPr lang="en-US" sz="1900" b="1" dirty="0">
              <a:latin typeface="Gill Sans" panose="020B0604020202020204" charset="0"/>
              <a:ea typeface="Cambria" panose="02040503050406030204" pitchFamily="18" charset="0"/>
            </a:endParaRPr>
          </a:p>
          <a:p>
            <a:pPr lvl="1">
              <a:spcBef>
                <a:spcPts val="0"/>
              </a:spcBef>
              <a:buClrTx/>
              <a:buSzPct val="100000"/>
              <a:buFont typeface="Arial" panose="020B0604020202020204" pitchFamily="34" charset="0"/>
              <a:buChar char="•"/>
            </a:pPr>
            <a:r>
              <a:rPr lang="en-US" sz="1800" dirty="0">
                <a:latin typeface="Gill Sans" panose="020B0604020202020204" charset="0"/>
                <a:ea typeface="Cambria" panose="02040503050406030204" pitchFamily="18" charset="0"/>
              </a:rPr>
              <a:t>Phương </a:t>
            </a:r>
            <a:r>
              <a:rPr lang="en-US" sz="1800" dirty="0" err="1">
                <a:latin typeface="Gill Sans" panose="020B0604020202020204" charset="0"/>
                <a:ea typeface="Cambria" panose="02040503050406030204" pitchFamily="18" charset="0"/>
              </a:rPr>
              <a:t>pháp</a:t>
            </a:r>
            <a:r>
              <a:rPr lang="en-US" sz="1800" dirty="0">
                <a:latin typeface="Gill Sans" panose="020B0604020202020204" charset="0"/>
                <a:ea typeface="Cambria" panose="02040503050406030204" pitchFamily="18" charset="0"/>
              </a:rPr>
              <a:t> Dot-Matrix</a:t>
            </a:r>
          </a:p>
          <a:p>
            <a:pPr lvl="1">
              <a:spcBef>
                <a:spcPts val="0"/>
              </a:spcBef>
              <a:buClrTx/>
              <a:buSzPct val="100000"/>
              <a:buFont typeface="Arial" panose="020B0604020202020204" pitchFamily="34" charset="0"/>
              <a:buChar char="•"/>
            </a:pPr>
            <a:r>
              <a:rPr lang="en-US" sz="1800" dirty="0">
                <a:latin typeface="Gill Sans" panose="020B0604020202020204" charset="0"/>
                <a:ea typeface="Cambria" panose="02040503050406030204" pitchFamily="18" charset="0"/>
              </a:rPr>
              <a:t>Các </a:t>
            </a:r>
            <a:r>
              <a:rPr lang="en-US" sz="1800" dirty="0" err="1">
                <a:latin typeface="Gill Sans" panose="020B0604020202020204" charset="0"/>
                <a:ea typeface="Cambria" panose="02040503050406030204" pitchFamily="18" charset="0"/>
              </a:rPr>
              <a:t>phương</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pháp</a:t>
            </a:r>
            <a:r>
              <a:rPr lang="en-US" sz="1800" dirty="0">
                <a:latin typeface="Gill Sans" panose="020B0604020202020204" charset="0"/>
                <a:ea typeface="Cambria" panose="02040503050406030204" pitchFamily="18" charset="0"/>
              </a:rPr>
              <a:t> Quy </a:t>
            </a:r>
            <a:r>
              <a:rPr lang="en-US" sz="1800" dirty="0" err="1">
                <a:latin typeface="Gill Sans" panose="020B0604020202020204" charset="0"/>
                <a:ea typeface="Cambria" panose="02040503050406030204" pitchFamily="18" charset="0"/>
              </a:rPr>
              <a:t>hoạch</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động</a:t>
            </a:r>
            <a:r>
              <a:rPr lang="en-US" sz="1800" dirty="0">
                <a:latin typeface="Gill Sans" panose="020B0604020202020204" charset="0"/>
                <a:ea typeface="Cambria" panose="02040503050406030204" pitchFamily="18" charset="0"/>
              </a:rPr>
              <a:t> (Dynamic Programming – DP)</a:t>
            </a:r>
          </a:p>
          <a:p>
            <a:pPr lvl="1">
              <a:spcBef>
                <a:spcPts val="0"/>
              </a:spcBef>
              <a:buClrTx/>
              <a:buSzPct val="100000"/>
              <a:buFont typeface="Arial" panose="020B0604020202020204" pitchFamily="34" charset="0"/>
              <a:buChar char="•"/>
            </a:pPr>
            <a:r>
              <a:rPr lang="en-US" sz="1800" dirty="0">
                <a:latin typeface="Gill Sans" panose="020B0604020202020204" charset="0"/>
                <a:ea typeface="Cambria" panose="02040503050406030204" pitchFamily="18" charset="0"/>
              </a:rPr>
              <a:t>Các </a:t>
            </a:r>
            <a:r>
              <a:rPr lang="en-US" sz="1800" dirty="0" err="1">
                <a:latin typeface="Gill Sans" panose="020B0604020202020204" charset="0"/>
                <a:ea typeface="Cambria" panose="02040503050406030204" pitchFamily="18" charset="0"/>
              </a:rPr>
              <a:t>phương</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pháp</a:t>
            </a:r>
            <a:r>
              <a:rPr lang="en-US" sz="1800" dirty="0">
                <a:latin typeface="Gill Sans" panose="020B0604020202020204" charset="0"/>
                <a:ea typeface="Cambria" panose="02040503050406030204" pitchFamily="18" charset="0"/>
              </a:rPr>
              <a:t> Seed-and-extend</a:t>
            </a:r>
          </a:p>
          <a:p>
            <a:pPr marL="141732" indent="0">
              <a:spcBef>
                <a:spcPts val="0"/>
              </a:spcBef>
              <a:buNone/>
            </a:pPr>
            <a:r>
              <a:rPr lang="en-US" sz="1900" b="1" dirty="0" err="1">
                <a:latin typeface="Gill Sans" panose="020B0604020202020204" charset="0"/>
                <a:ea typeface="Cambria" panose="02040503050406030204" pitchFamily="18" charset="0"/>
              </a:rPr>
              <a:t>Sắp</a:t>
            </a:r>
            <a:r>
              <a:rPr lang="en-US" sz="1900" b="1" dirty="0">
                <a:latin typeface="Gill Sans" panose="020B0604020202020204" charset="0"/>
                <a:ea typeface="Cambria" panose="02040503050406030204" pitchFamily="18" charset="0"/>
              </a:rPr>
              <a:t> </a:t>
            </a:r>
            <a:r>
              <a:rPr lang="en-US" sz="1900" b="1" dirty="0" err="1">
                <a:latin typeface="Gill Sans" panose="020B0604020202020204" charset="0"/>
                <a:ea typeface="Cambria" panose="02040503050406030204" pitchFamily="18" charset="0"/>
              </a:rPr>
              <a:t>hàng</a:t>
            </a:r>
            <a:r>
              <a:rPr lang="en-US" sz="1900" b="1" dirty="0">
                <a:latin typeface="Gill Sans" panose="020B0604020202020204" charset="0"/>
                <a:ea typeface="Cambria" panose="02040503050406030204" pitchFamily="18" charset="0"/>
              </a:rPr>
              <a:t> </a:t>
            </a:r>
            <a:r>
              <a:rPr lang="en-US" sz="1900" b="1" dirty="0" err="1">
                <a:latin typeface="Gill Sans" panose="020B0604020202020204" charset="0"/>
                <a:ea typeface="Cambria" panose="02040503050406030204" pitchFamily="18" charset="0"/>
              </a:rPr>
              <a:t>đa</a:t>
            </a:r>
            <a:r>
              <a:rPr lang="en-US" sz="1900" b="1" dirty="0">
                <a:latin typeface="Gill Sans" panose="020B0604020202020204" charset="0"/>
                <a:ea typeface="Cambria" panose="02040503050406030204" pitchFamily="18" charset="0"/>
              </a:rPr>
              <a:t> </a:t>
            </a:r>
            <a:r>
              <a:rPr lang="en-US" sz="1900" b="1" dirty="0" err="1">
                <a:latin typeface="Gill Sans" panose="020B0604020202020204" charset="0"/>
                <a:ea typeface="Cambria" panose="02040503050406030204" pitchFamily="18" charset="0"/>
              </a:rPr>
              <a:t>trình</a:t>
            </a:r>
            <a:r>
              <a:rPr lang="en-US" sz="1900" b="1" dirty="0">
                <a:latin typeface="Gill Sans" panose="020B0604020202020204" charset="0"/>
                <a:ea typeface="Cambria" panose="02040503050406030204" pitchFamily="18" charset="0"/>
              </a:rPr>
              <a:t> </a:t>
            </a:r>
            <a:r>
              <a:rPr lang="en-US" sz="1900" b="1" dirty="0" err="1">
                <a:latin typeface="Gill Sans" panose="020B0604020202020204" charset="0"/>
                <a:ea typeface="Cambria" panose="02040503050406030204" pitchFamily="18" charset="0"/>
              </a:rPr>
              <a:t>tự</a:t>
            </a:r>
            <a:endParaRPr lang="en-US" sz="1900" b="1" dirty="0">
              <a:latin typeface="Gill Sans" panose="020B0604020202020204" charset="0"/>
              <a:ea typeface="Cambria" panose="02040503050406030204" pitchFamily="18" charset="0"/>
            </a:endParaRPr>
          </a:p>
          <a:p>
            <a:pPr lvl="1">
              <a:spcBef>
                <a:spcPts val="0"/>
              </a:spcBef>
              <a:buClrTx/>
              <a:buSzPct val="100000"/>
              <a:buFont typeface="Arial" panose="020B0604020202020204" pitchFamily="34" charset="0"/>
              <a:buChar char="•"/>
            </a:pPr>
            <a:r>
              <a:rPr lang="en-US" sz="1800" dirty="0">
                <a:latin typeface="Gill Sans" panose="020B0604020202020204" charset="0"/>
                <a:ea typeface="Cambria" panose="02040503050406030204" pitchFamily="18" charset="0"/>
              </a:rPr>
              <a:t>Các </a:t>
            </a:r>
            <a:r>
              <a:rPr lang="en-US" sz="1800" dirty="0" err="1">
                <a:latin typeface="Gill Sans" panose="020B0604020202020204" charset="0"/>
                <a:ea typeface="Cambria" panose="02040503050406030204" pitchFamily="18" charset="0"/>
              </a:rPr>
              <a:t>họ</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thuật</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toán</a:t>
            </a:r>
            <a:r>
              <a:rPr lang="en-US" sz="1800" dirty="0">
                <a:latin typeface="Gill Sans" panose="020B0604020202020204" charset="0"/>
                <a:ea typeface="Cambria" panose="02040503050406030204" pitchFamily="18" charset="0"/>
              </a:rPr>
              <a:t> MSA</a:t>
            </a:r>
          </a:p>
          <a:p>
            <a:pPr lvl="1">
              <a:spcBef>
                <a:spcPts val="0"/>
              </a:spcBef>
              <a:buClrTx/>
              <a:buSzPct val="100000"/>
              <a:buFont typeface="Arial" panose="020B0604020202020204" pitchFamily="34" charset="0"/>
              <a:buChar char="•"/>
            </a:pPr>
            <a:r>
              <a:rPr lang="en-US" sz="1800" dirty="0">
                <a:latin typeface="Gill Sans" panose="020B0604020202020204" charset="0"/>
                <a:ea typeface="Cambria" panose="02040503050406030204" pitchFamily="18" charset="0"/>
              </a:rPr>
              <a:t>Các </a:t>
            </a:r>
            <a:r>
              <a:rPr lang="en-US" sz="1800" dirty="0" err="1">
                <a:latin typeface="Gill Sans" panose="020B0604020202020204" charset="0"/>
                <a:ea typeface="Cambria" panose="02040503050406030204" pitchFamily="18" charset="0"/>
              </a:rPr>
              <a:t>thuật</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toán</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sử</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dụng</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phổ</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biến</a:t>
            </a:r>
            <a:endParaRPr lang="en-US" sz="1800" dirty="0">
              <a:latin typeface="Gill Sans" panose="020B0604020202020204" charset="0"/>
              <a:ea typeface="Cambria" panose="02040503050406030204" pitchFamily="18" charset="0"/>
            </a:endParaRPr>
          </a:p>
          <a:p>
            <a:pPr lvl="1">
              <a:spcBef>
                <a:spcPts val="0"/>
              </a:spcBef>
              <a:buClrTx/>
              <a:buSzPct val="100000"/>
              <a:buFont typeface="Arial" panose="020B0604020202020204" pitchFamily="34" charset="0"/>
              <a:buChar char="•"/>
            </a:pPr>
            <a:r>
              <a:rPr lang="en-US" sz="1800" dirty="0" err="1">
                <a:latin typeface="Gill Sans" panose="020B0604020202020204" charset="0"/>
                <a:ea typeface="Cambria" panose="02040503050406030204" pitchFamily="18" charset="0"/>
              </a:rPr>
              <a:t>Ứng</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dụng</a:t>
            </a:r>
            <a:r>
              <a:rPr lang="en-US" sz="1800" dirty="0">
                <a:latin typeface="Gill Sans" panose="020B0604020202020204" charset="0"/>
                <a:ea typeface="Cambria" panose="02040503050406030204" pitchFamily="18" charset="0"/>
              </a:rPr>
              <a:t> ML </a:t>
            </a:r>
            <a:r>
              <a:rPr lang="en-US" sz="1800" dirty="0" err="1">
                <a:latin typeface="Gill Sans" panose="020B0604020202020204" charset="0"/>
                <a:ea typeface="Cambria" panose="02040503050406030204" pitchFamily="18" charset="0"/>
              </a:rPr>
              <a:t>trong</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bài</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toán</a:t>
            </a:r>
            <a:r>
              <a:rPr lang="en-US" sz="1800" dirty="0">
                <a:latin typeface="Gill Sans" panose="020B0604020202020204" charset="0"/>
                <a:ea typeface="Cambria" panose="02040503050406030204" pitchFamily="18" charset="0"/>
              </a:rPr>
              <a:t> MSA</a:t>
            </a:r>
          </a:p>
          <a:p>
            <a:pPr lvl="1">
              <a:spcBef>
                <a:spcPts val="0"/>
              </a:spcBef>
              <a:buClrTx/>
              <a:buSzPct val="100000"/>
              <a:buFont typeface="Arial" panose="020B0604020202020204" pitchFamily="34" charset="0"/>
              <a:buChar char="•"/>
            </a:pPr>
            <a:r>
              <a:rPr lang="en-US" sz="1800" dirty="0">
                <a:latin typeface="Gill Sans" panose="020B0604020202020204" charset="0"/>
                <a:ea typeface="Cambria" panose="02040503050406030204" pitchFamily="18" charset="0"/>
              </a:rPr>
              <a:t>Các </a:t>
            </a:r>
            <a:r>
              <a:rPr lang="en-US" sz="1800" dirty="0" err="1">
                <a:latin typeface="Gill Sans" panose="020B0604020202020204" charset="0"/>
                <a:ea typeface="Cambria" panose="02040503050406030204" pitchFamily="18" charset="0"/>
              </a:rPr>
              <a:t>kiến</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trúc</a:t>
            </a:r>
            <a:r>
              <a:rPr lang="en-US" sz="1800" dirty="0">
                <a:latin typeface="Gill Sans" panose="020B0604020202020204" charset="0"/>
                <a:ea typeface="Cambria" panose="02040503050406030204" pitchFamily="18" charset="0"/>
              </a:rPr>
              <a:t> ML </a:t>
            </a:r>
            <a:r>
              <a:rPr lang="en-US" sz="1800" dirty="0" err="1">
                <a:latin typeface="Gill Sans" panose="020B0604020202020204" charset="0"/>
                <a:ea typeface="Cambria" panose="02040503050406030204" pitchFamily="18" charset="0"/>
              </a:rPr>
              <a:t>tiêu</a:t>
            </a:r>
            <a:r>
              <a:rPr lang="en-US" sz="1800" dirty="0">
                <a:latin typeface="Gill Sans" panose="020B0604020202020204" charset="0"/>
                <a:ea typeface="Cambria" panose="02040503050406030204" pitchFamily="18" charset="0"/>
              </a:rPr>
              <a:t> </a:t>
            </a:r>
            <a:r>
              <a:rPr lang="en-US" sz="1800" dirty="0" err="1">
                <a:latin typeface="Gill Sans" panose="020B0604020202020204" charset="0"/>
                <a:ea typeface="Cambria" panose="02040503050406030204" pitchFamily="18" charset="0"/>
              </a:rPr>
              <a:t>biểu</a:t>
            </a:r>
            <a:endParaRPr lang="en-US" sz="1800" dirty="0">
              <a:latin typeface="Gill Sans" panose="020B0604020202020204" charset="0"/>
              <a:ea typeface="Cambria" panose="02040503050406030204" pitchFamily="18" charset="0"/>
            </a:endParaRPr>
          </a:p>
          <a:p>
            <a:pPr lvl="1">
              <a:spcBef>
                <a:spcPts val="0"/>
              </a:spcBef>
            </a:pPr>
            <a:endParaRPr lang="en-US" sz="2100" dirty="0"/>
          </a:p>
        </p:txBody>
      </p:sp>
      <p:sp>
        <p:nvSpPr>
          <p:cNvPr id="3" name="Slide Number Placeholder 2">
            <a:extLst>
              <a:ext uri="{FF2B5EF4-FFF2-40B4-BE49-F238E27FC236}">
                <a16:creationId xmlns:a16="http://schemas.microsoft.com/office/drawing/2014/main" id="{74317003-EBEA-9A4F-45E5-043B1E3A5283}"/>
              </a:ext>
            </a:extLst>
          </p:cNvPr>
          <p:cNvSpPr>
            <a:spLocks noGrp="1"/>
          </p:cNvSpPr>
          <p:nvPr>
            <p:ph type="sldNum" idx="12"/>
          </p:nvPr>
        </p:nvSpPr>
        <p:spPr/>
        <p:txBody>
          <a:bodyPr/>
          <a:lstStyle/>
          <a:p>
            <a:r>
              <a:rPr lang="en-US"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B71CDE8D-0AB8-F4B6-B5DC-B89DBC4DB41F}"/>
            </a:ext>
          </a:extLst>
        </p:cNvPr>
        <p:cNvGrpSpPr/>
        <p:nvPr/>
      </p:nvGrpSpPr>
      <p:grpSpPr>
        <a:xfrm>
          <a:off x="0" y="0"/>
          <a:ext cx="0" cy="0"/>
          <a:chOff x="0" y="0"/>
          <a:chExt cx="0" cy="0"/>
        </a:xfrm>
      </p:grpSpPr>
      <p:sp>
        <p:nvSpPr>
          <p:cNvPr id="125" name="Google Shape;125;p2">
            <a:extLst>
              <a:ext uri="{FF2B5EF4-FFF2-40B4-BE49-F238E27FC236}">
                <a16:creationId xmlns:a16="http://schemas.microsoft.com/office/drawing/2014/main" id="{6A082B44-AD99-4326-7163-8925182B5DD4}"/>
              </a:ext>
            </a:extLst>
          </p:cNvPr>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p>
            <a:r>
              <a:rPr lang="en-US" dirty="0" err="1"/>
              <a:t>Giới</a:t>
            </a:r>
            <a:r>
              <a:rPr lang="en-US" dirty="0"/>
              <a:t> </a:t>
            </a:r>
            <a:r>
              <a:rPr lang="en-US" dirty="0" err="1"/>
              <a:t>thiệu</a:t>
            </a:r>
            <a:r>
              <a:rPr lang="en-US" dirty="0"/>
              <a:t> </a:t>
            </a:r>
            <a:r>
              <a:rPr lang="en-US" dirty="0" err="1"/>
              <a:t>bài</a:t>
            </a:r>
            <a:r>
              <a:rPr lang="en-US" dirty="0"/>
              <a:t> </a:t>
            </a:r>
            <a:r>
              <a:rPr lang="en-US" dirty="0" err="1"/>
              <a:t>toán</a:t>
            </a:r>
            <a:endParaRPr dirty="0"/>
          </a:p>
        </p:txBody>
      </p:sp>
      <p:sp>
        <p:nvSpPr>
          <p:cNvPr id="126" name="Google Shape;126;p2">
            <a:extLst>
              <a:ext uri="{FF2B5EF4-FFF2-40B4-BE49-F238E27FC236}">
                <a16:creationId xmlns:a16="http://schemas.microsoft.com/office/drawing/2014/main" id="{9BAD3AD8-3231-B169-F538-D9951DEF3F5A}"/>
              </a:ext>
            </a:extLst>
          </p:cNvPr>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p>
            <a:pPr marL="0" indent="0">
              <a:spcBef>
                <a:spcPts val="0"/>
              </a:spcBef>
            </a:pPr>
            <a:endParaRPr/>
          </a:p>
        </p:txBody>
      </p:sp>
      <p:sp>
        <p:nvSpPr>
          <p:cNvPr id="4" name="Slide Number Placeholder 3">
            <a:extLst>
              <a:ext uri="{FF2B5EF4-FFF2-40B4-BE49-F238E27FC236}">
                <a16:creationId xmlns:a16="http://schemas.microsoft.com/office/drawing/2014/main" id="{4CFA1DE5-9444-E256-9F4D-E48C5397ADA6}"/>
              </a:ext>
            </a:extLst>
          </p:cNvPr>
          <p:cNvSpPr>
            <a:spLocks noGrp="1"/>
          </p:cNvSpPr>
          <p:nvPr>
            <p:ph type="sldNum" idx="12"/>
          </p:nvPr>
        </p:nvSpPr>
        <p:spPr/>
        <p:txBody>
          <a:bodyPr/>
          <a:lstStyle/>
          <a:p>
            <a:fld id="{00000000-1234-1234-1234-123412341234}" type="slidenum">
              <a:rPr lang="en-US" smtClean="0"/>
              <a:pPr/>
              <a:t>2</a:t>
            </a:fld>
            <a:endParaRPr lang="en-US"/>
          </a:p>
        </p:txBody>
      </p:sp>
    </p:spTree>
    <p:extLst>
      <p:ext uri="{BB962C8B-B14F-4D97-AF65-F5344CB8AC3E}">
        <p14:creationId xmlns:p14="http://schemas.microsoft.com/office/powerpoint/2010/main" val="3737972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CFBEC042-C78A-D878-6FD8-A5F3950A90EB}"/>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85BD617B-9F2E-8257-C23A-6A56D5592C89}"/>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err="1"/>
              <a:t>Sắp</a:t>
            </a:r>
            <a:r>
              <a:rPr lang="en-US" dirty="0"/>
              <a:t> </a:t>
            </a:r>
            <a:r>
              <a:rPr lang="en-US" dirty="0" err="1"/>
              <a:t>hàng</a:t>
            </a:r>
            <a:r>
              <a:rPr lang="en-US" dirty="0"/>
              <a:t> </a:t>
            </a:r>
            <a:r>
              <a:rPr lang="en-US" dirty="0" err="1"/>
              <a:t>trình</a:t>
            </a:r>
            <a:r>
              <a:rPr lang="en-US" dirty="0"/>
              <a:t> </a:t>
            </a:r>
            <a:r>
              <a:rPr lang="en-US" dirty="0" err="1"/>
              <a:t>tự</a:t>
            </a:r>
            <a:r>
              <a:rPr lang="en-US" dirty="0"/>
              <a:t> </a:t>
            </a:r>
            <a:r>
              <a:rPr lang="en-US" dirty="0" err="1"/>
              <a:t>là</a:t>
            </a:r>
            <a:r>
              <a:rPr lang="en-US" dirty="0"/>
              <a:t> </a:t>
            </a:r>
            <a:r>
              <a:rPr lang="en-US" dirty="0" err="1"/>
              <a:t>gì</a:t>
            </a:r>
            <a:r>
              <a:rPr lang="en-US" dirty="0"/>
              <a:t>?</a:t>
            </a:r>
            <a:endParaRPr dirty="0"/>
          </a:p>
        </p:txBody>
      </p:sp>
      <p:sp>
        <p:nvSpPr>
          <p:cNvPr id="3" name="Slide Number Placeholder 2">
            <a:extLst>
              <a:ext uri="{FF2B5EF4-FFF2-40B4-BE49-F238E27FC236}">
                <a16:creationId xmlns:a16="http://schemas.microsoft.com/office/drawing/2014/main" id="{852559E0-AF50-DD29-5621-C1947D014504}"/>
              </a:ext>
            </a:extLst>
          </p:cNvPr>
          <p:cNvSpPr>
            <a:spLocks noGrp="1"/>
          </p:cNvSpPr>
          <p:nvPr>
            <p:ph type="sldNum" idx="12"/>
          </p:nvPr>
        </p:nvSpPr>
        <p:spPr/>
        <p:txBody>
          <a:bodyPr/>
          <a:lstStyle/>
          <a:p>
            <a:r>
              <a:rPr lang="en-US" dirty="0"/>
              <a:t>3</a:t>
            </a:r>
          </a:p>
        </p:txBody>
      </p:sp>
      <p:sp>
        <p:nvSpPr>
          <p:cNvPr id="2" name="Google Shape;138;p3">
            <a:extLst>
              <a:ext uri="{FF2B5EF4-FFF2-40B4-BE49-F238E27FC236}">
                <a16:creationId xmlns:a16="http://schemas.microsoft.com/office/drawing/2014/main" id="{5BE2CFEF-8294-6B3A-60B3-CB193990BAA8}"/>
              </a:ext>
            </a:extLst>
          </p:cNvPr>
          <p:cNvSpPr txBox="1">
            <a:spLocks noGrp="1"/>
          </p:cNvSpPr>
          <p:nvPr>
            <p:ph type="body" idx="1"/>
          </p:nvPr>
        </p:nvSpPr>
        <p:spPr>
          <a:xfrm>
            <a:off x="457200" y="1219200"/>
            <a:ext cx="8229600" cy="1154723"/>
          </a:xfrm>
          <a:prstGeom prst="rect">
            <a:avLst/>
          </a:prstGeom>
          <a:noFill/>
          <a:ln>
            <a:noFill/>
          </a:ln>
        </p:spPr>
        <p:txBody>
          <a:bodyPr spcFirstLastPara="1" wrap="square" lIns="91425" tIns="45700" rIns="91425" bIns="45700" anchor="t" anchorCtr="0">
            <a:noAutofit/>
          </a:bodyPr>
          <a:lstStyle/>
          <a:p>
            <a:pPr lvl="0" indent="-457200" algn="just">
              <a:lnSpc>
                <a:spcPct val="130000"/>
              </a:lnSpc>
              <a:buClr>
                <a:schemeClr val="accent4">
                  <a:lumMod val="75000"/>
                </a:schemeClr>
              </a:buClr>
              <a:buSzPts val="1976"/>
              <a:buFont typeface="Wingdings" panose="05000000000000000000" pitchFamily="2" charset="2"/>
              <a:buChar char="q"/>
            </a:pPr>
            <a:r>
              <a:rPr lang="en-US" sz="1800" dirty="0" err="1"/>
              <a:t>Là</a:t>
            </a:r>
            <a:r>
              <a:rPr lang="en-US" sz="1800" dirty="0"/>
              <a:t> </a:t>
            </a:r>
            <a:r>
              <a:rPr lang="en-US" sz="1800" dirty="0" err="1"/>
              <a:t>phương</a:t>
            </a:r>
            <a:r>
              <a:rPr lang="en-US" sz="1800" dirty="0"/>
              <a:t> </a:t>
            </a:r>
            <a:r>
              <a:rPr lang="en-US" sz="1800" dirty="0" err="1"/>
              <a:t>pháp</a:t>
            </a:r>
            <a:r>
              <a:rPr lang="en-US" sz="1800" dirty="0"/>
              <a:t> </a:t>
            </a:r>
            <a:r>
              <a:rPr lang="en-US" sz="1800" dirty="0" err="1"/>
              <a:t>sắp</a:t>
            </a:r>
            <a:r>
              <a:rPr lang="en-US" sz="1800" dirty="0"/>
              <a:t> </a:t>
            </a:r>
            <a:r>
              <a:rPr lang="en-US" sz="1800" dirty="0" err="1"/>
              <a:t>xếp</a:t>
            </a:r>
            <a:r>
              <a:rPr lang="en-US" sz="1800" dirty="0"/>
              <a:t> </a:t>
            </a:r>
            <a:r>
              <a:rPr lang="en-US" sz="1800" dirty="0" err="1"/>
              <a:t>các</a:t>
            </a:r>
            <a:r>
              <a:rPr lang="en-US" sz="1800" dirty="0"/>
              <a:t> </a:t>
            </a:r>
            <a:r>
              <a:rPr lang="en-US" sz="1800" dirty="0" err="1"/>
              <a:t>chuỗi</a:t>
            </a:r>
            <a:r>
              <a:rPr lang="en-US" sz="1800" dirty="0"/>
              <a:t> </a:t>
            </a:r>
            <a:r>
              <a:rPr lang="en-US" sz="1800" dirty="0" err="1"/>
              <a:t>sinh</a:t>
            </a:r>
            <a:r>
              <a:rPr lang="en-US" sz="1800" dirty="0"/>
              <a:t> </a:t>
            </a:r>
            <a:r>
              <a:rPr lang="en-US" sz="1800" dirty="0" err="1"/>
              <a:t>học</a:t>
            </a:r>
            <a:r>
              <a:rPr lang="en-US" sz="1800" dirty="0"/>
              <a:t> (DNA, RNA, </a:t>
            </a:r>
            <a:r>
              <a:rPr lang="en-US" sz="1800" dirty="0" err="1"/>
              <a:t>hoặc</a:t>
            </a:r>
            <a:r>
              <a:rPr lang="en-US" sz="1800" dirty="0"/>
              <a:t> Protein) </a:t>
            </a:r>
            <a:r>
              <a:rPr lang="en-US" sz="1800" dirty="0" err="1"/>
              <a:t>để</a:t>
            </a:r>
            <a:r>
              <a:rPr lang="en-US" sz="1800" dirty="0"/>
              <a:t> </a:t>
            </a:r>
            <a:r>
              <a:rPr lang="en-US" sz="1800" dirty="0" err="1"/>
              <a:t>đối</a:t>
            </a:r>
            <a:r>
              <a:rPr lang="en-US" sz="1800" dirty="0"/>
              <a:t> </a:t>
            </a:r>
            <a:r>
              <a:rPr lang="en-US" sz="1800" dirty="0" err="1"/>
              <a:t>chiếu</a:t>
            </a:r>
            <a:r>
              <a:rPr lang="en-US" sz="1800" dirty="0"/>
              <a:t> </a:t>
            </a:r>
            <a:r>
              <a:rPr lang="en-US" sz="1800" dirty="0" err="1"/>
              <a:t>và</a:t>
            </a:r>
            <a:r>
              <a:rPr lang="en-US" sz="1800" dirty="0"/>
              <a:t> </a:t>
            </a:r>
            <a:r>
              <a:rPr lang="en-US" sz="1800" dirty="0" err="1"/>
              <a:t>xác</a:t>
            </a:r>
            <a:r>
              <a:rPr lang="en-US" sz="1800" dirty="0"/>
              <a:t> </a:t>
            </a:r>
            <a:r>
              <a:rPr lang="en-US" sz="1800" dirty="0" err="1"/>
              <a:t>định</a:t>
            </a:r>
            <a:r>
              <a:rPr lang="en-US" sz="1800" dirty="0"/>
              <a:t> </a:t>
            </a:r>
            <a:r>
              <a:rPr lang="en-US" sz="1800" dirty="0" err="1"/>
              <a:t>các</a:t>
            </a:r>
            <a:r>
              <a:rPr lang="en-US" sz="1800" dirty="0"/>
              <a:t> </a:t>
            </a:r>
            <a:r>
              <a:rPr lang="en-US" sz="1800" dirty="0" err="1"/>
              <a:t>vùng</a:t>
            </a:r>
            <a:r>
              <a:rPr lang="en-US" sz="1800" dirty="0"/>
              <a:t> </a:t>
            </a:r>
            <a:r>
              <a:rPr lang="en-US" sz="1800" dirty="0" err="1"/>
              <a:t>có</a:t>
            </a:r>
            <a:r>
              <a:rPr lang="en-US" sz="1800" dirty="0"/>
              <a:t> </a:t>
            </a:r>
            <a:r>
              <a:rPr lang="en-US" sz="1800" dirty="0" err="1"/>
              <a:t>cấu</a:t>
            </a:r>
            <a:r>
              <a:rPr lang="en-US" sz="1800" dirty="0"/>
              <a:t> </a:t>
            </a:r>
            <a:r>
              <a:rPr lang="en-US" sz="1800" dirty="0" err="1"/>
              <a:t>trúc</a:t>
            </a:r>
            <a:r>
              <a:rPr lang="en-US" sz="1800" dirty="0"/>
              <a:t> </a:t>
            </a:r>
            <a:r>
              <a:rPr lang="en-US" sz="1800" dirty="0" err="1"/>
              <a:t>tương</a:t>
            </a:r>
            <a:r>
              <a:rPr lang="en-US" sz="1800" dirty="0"/>
              <a:t> </a:t>
            </a:r>
            <a:r>
              <a:rPr lang="en-US" sz="1800" dirty="0" err="1"/>
              <a:t>đồng</a:t>
            </a:r>
            <a:r>
              <a:rPr lang="en-US" sz="1800" dirty="0"/>
              <a:t>.</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800" dirty="0" err="1"/>
              <a:t>Dữ</a:t>
            </a:r>
            <a:r>
              <a:rPr lang="en-US" sz="1800" dirty="0"/>
              <a:t> </a:t>
            </a:r>
            <a:r>
              <a:rPr lang="en-US" sz="1800" dirty="0" err="1"/>
              <a:t>liệu</a:t>
            </a:r>
            <a:r>
              <a:rPr lang="en-US" sz="1800" dirty="0"/>
              <a:t> </a:t>
            </a:r>
            <a:r>
              <a:rPr lang="en-US" sz="1800" dirty="0" err="1"/>
              <a:t>đầu</a:t>
            </a:r>
            <a:r>
              <a:rPr lang="en-US" sz="1800" dirty="0"/>
              <a:t> </a:t>
            </a:r>
            <a:r>
              <a:rPr lang="en-US" sz="1800" dirty="0" err="1"/>
              <a:t>vào</a:t>
            </a:r>
            <a:r>
              <a:rPr lang="en-US" sz="1800" dirty="0"/>
              <a:t>:</a:t>
            </a:r>
          </a:p>
          <a:p>
            <a:pPr lvl="0" indent="-457200" algn="just" rtl="0">
              <a:lnSpc>
                <a:spcPct val="150000"/>
              </a:lnSpc>
              <a:spcAft>
                <a:spcPts val="0"/>
              </a:spcAft>
              <a:buClr>
                <a:schemeClr val="accent4">
                  <a:lumMod val="75000"/>
                </a:schemeClr>
              </a:buClr>
              <a:buSzPts val="1976"/>
              <a:buFont typeface="Wingdings" panose="05000000000000000000" pitchFamily="2" charset="2"/>
              <a:buChar char="q"/>
            </a:pPr>
            <a:endParaRPr lang="en-US" sz="2000" dirty="0"/>
          </a:p>
          <a:p>
            <a:pPr marL="0" lvl="0" indent="0" algn="just" rtl="0">
              <a:lnSpc>
                <a:spcPct val="150000"/>
              </a:lnSpc>
              <a:spcAft>
                <a:spcPts val="0"/>
              </a:spcAft>
              <a:buClr>
                <a:schemeClr val="accent4">
                  <a:lumMod val="75000"/>
                </a:schemeClr>
              </a:buClr>
              <a:buSzPts val="1976"/>
              <a:buNone/>
            </a:pPr>
            <a:endParaRPr lang="en-US" sz="2000" dirty="0"/>
          </a:p>
        </p:txBody>
      </p:sp>
      <p:pic>
        <p:nvPicPr>
          <p:cNvPr id="5" name="Picture 4">
            <a:extLst>
              <a:ext uri="{FF2B5EF4-FFF2-40B4-BE49-F238E27FC236}">
                <a16:creationId xmlns:a16="http://schemas.microsoft.com/office/drawing/2014/main" id="{56F2274E-5EA5-FFC6-D6C7-2EF467629BF3}"/>
              </a:ext>
            </a:extLst>
          </p:cNvPr>
          <p:cNvPicPr>
            <a:picLocks noChangeAspect="1"/>
          </p:cNvPicPr>
          <p:nvPr/>
        </p:nvPicPr>
        <p:blipFill>
          <a:blip r:embed="rId3"/>
          <a:stretch>
            <a:fillRect/>
          </a:stretch>
        </p:blipFill>
        <p:spPr>
          <a:xfrm>
            <a:off x="972000" y="2541732"/>
            <a:ext cx="7200000" cy="3151887"/>
          </a:xfrm>
          <a:prstGeom prst="rect">
            <a:avLst/>
          </a:prstGeom>
        </p:spPr>
      </p:pic>
      <p:sp>
        <p:nvSpPr>
          <p:cNvPr id="6" name="Rectangle 5">
            <a:extLst>
              <a:ext uri="{FF2B5EF4-FFF2-40B4-BE49-F238E27FC236}">
                <a16:creationId xmlns:a16="http://schemas.microsoft.com/office/drawing/2014/main" id="{7817069F-0161-6FA1-DA22-50EE94AC6D73}"/>
              </a:ext>
            </a:extLst>
          </p:cNvPr>
          <p:cNvSpPr/>
          <p:nvPr/>
        </p:nvSpPr>
        <p:spPr>
          <a:xfrm>
            <a:off x="972000" y="5653378"/>
            <a:ext cx="3176942" cy="5105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err="1">
                <a:solidFill>
                  <a:schemeClr val="tx1"/>
                </a:solidFill>
                <a:latin typeface="Gill Sans" panose="020B0604020202020204" charset="0"/>
              </a:rPr>
              <a:t>Trình</a:t>
            </a:r>
            <a:r>
              <a:rPr lang="en-US" b="1" dirty="0">
                <a:solidFill>
                  <a:schemeClr val="tx1"/>
                </a:solidFill>
                <a:latin typeface="Gill Sans" panose="020B0604020202020204" charset="0"/>
              </a:rPr>
              <a:t> </a:t>
            </a:r>
            <a:r>
              <a:rPr lang="en-US" b="1" dirty="0" err="1">
                <a:solidFill>
                  <a:schemeClr val="tx1"/>
                </a:solidFill>
                <a:latin typeface="Gill Sans" panose="020B0604020202020204" charset="0"/>
              </a:rPr>
              <a:t>tự</a:t>
            </a:r>
            <a:r>
              <a:rPr lang="en-US" b="1" dirty="0">
                <a:solidFill>
                  <a:schemeClr val="tx1"/>
                </a:solidFill>
                <a:latin typeface="Gill Sans" panose="020B0604020202020204" charset="0"/>
              </a:rPr>
              <a:t> </a:t>
            </a:r>
            <a:r>
              <a:rPr lang="en-US" b="1" dirty="0" err="1">
                <a:solidFill>
                  <a:schemeClr val="tx1"/>
                </a:solidFill>
                <a:latin typeface="Gill Sans" panose="020B0604020202020204" charset="0"/>
              </a:rPr>
              <a:t>truy</a:t>
            </a:r>
            <a:r>
              <a:rPr lang="en-US" b="1" dirty="0">
                <a:solidFill>
                  <a:schemeClr val="tx1"/>
                </a:solidFill>
                <a:latin typeface="Gill Sans" panose="020B0604020202020204" charset="0"/>
              </a:rPr>
              <a:t> </a:t>
            </a:r>
            <a:r>
              <a:rPr lang="en-US" b="1" dirty="0" err="1">
                <a:solidFill>
                  <a:schemeClr val="tx1"/>
                </a:solidFill>
                <a:latin typeface="Gill Sans" panose="020B0604020202020204" charset="0"/>
              </a:rPr>
              <a:t>vấn</a:t>
            </a:r>
            <a:r>
              <a:rPr lang="en-US" b="1" dirty="0">
                <a:solidFill>
                  <a:schemeClr val="tx1"/>
                </a:solidFill>
                <a:latin typeface="Gill Sans" panose="020B0604020202020204" charset="0"/>
              </a:rPr>
              <a:t> (Query Sequence)</a:t>
            </a:r>
          </a:p>
          <a:p>
            <a:pPr algn="just"/>
            <a:r>
              <a:rPr lang="en-US" dirty="0">
                <a:solidFill>
                  <a:schemeClr val="tx1"/>
                </a:solidFill>
                <a:latin typeface="Gill Sans" panose="020B0604020202020204" charset="0"/>
              </a:rPr>
              <a:t>Thường </a:t>
            </a:r>
            <a:r>
              <a:rPr lang="en-US" dirty="0" err="1">
                <a:solidFill>
                  <a:schemeClr val="tx1"/>
                </a:solidFill>
                <a:latin typeface="Gill Sans" panose="020B0604020202020204" charset="0"/>
              </a:rPr>
              <a:t>là</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trình</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tự</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mục</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tiêu</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có</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kích</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thước</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nhỏ</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hơn</a:t>
            </a:r>
            <a:r>
              <a:rPr lang="en-US" b="1" dirty="0">
                <a:solidFill>
                  <a:schemeClr val="tx1"/>
                </a:solidFill>
                <a:latin typeface="Gill Sans" panose="020B0604020202020204" charset="0"/>
              </a:rPr>
              <a:t> </a:t>
            </a:r>
          </a:p>
        </p:txBody>
      </p:sp>
      <p:sp>
        <p:nvSpPr>
          <p:cNvPr id="8" name="Rectangle 7">
            <a:extLst>
              <a:ext uri="{FF2B5EF4-FFF2-40B4-BE49-F238E27FC236}">
                <a16:creationId xmlns:a16="http://schemas.microsoft.com/office/drawing/2014/main" id="{2753CAD6-79F9-6E6E-0DF3-6DC303D784CE}"/>
              </a:ext>
            </a:extLst>
          </p:cNvPr>
          <p:cNvSpPr/>
          <p:nvPr/>
        </p:nvSpPr>
        <p:spPr>
          <a:xfrm>
            <a:off x="4859214" y="5600092"/>
            <a:ext cx="3802185" cy="7562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b="1" dirty="0" err="1">
                <a:solidFill>
                  <a:schemeClr val="tx1"/>
                </a:solidFill>
                <a:latin typeface="Gill Sans" panose="020B0604020202020204" charset="0"/>
              </a:rPr>
              <a:t>Trình</a:t>
            </a:r>
            <a:r>
              <a:rPr lang="en-US" b="1" dirty="0">
                <a:solidFill>
                  <a:schemeClr val="tx1"/>
                </a:solidFill>
                <a:latin typeface="Gill Sans" panose="020B0604020202020204" charset="0"/>
              </a:rPr>
              <a:t> </a:t>
            </a:r>
            <a:r>
              <a:rPr lang="en-US" b="1" dirty="0" err="1">
                <a:solidFill>
                  <a:schemeClr val="tx1"/>
                </a:solidFill>
                <a:latin typeface="Gill Sans" panose="020B0604020202020204" charset="0"/>
              </a:rPr>
              <a:t>tự</a:t>
            </a:r>
            <a:r>
              <a:rPr lang="en-US" b="1" dirty="0">
                <a:solidFill>
                  <a:schemeClr val="tx1"/>
                </a:solidFill>
                <a:latin typeface="Gill Sans" panose="020B0604020202020204" charset="0"/>
              </a:rPr>
              <a:t> </a:t>
            </a:r>
            <a:r>
              <a:rPr lang="en-US" b="1" dirty="0" err="1">
                <a:solidFill>
                  <a:schemeClr val="tx1"/>
                </a:solidFill>
                <a:latin typeface="Gill Sans" panose="020B0604020202020204" charset="0"/>
              </a:rPr>
              <a:t>tham</a:t>
            </a:r>
            <a:r>
              <a:rPr lang="en-US" b="1" dirty="0">
                <a:solidFill>
                  <a:schemeClr val="tx1"/>
                </a:solidFill>
                <a:latin typeface="Gill Sans" panose="020B0604020202020204" charset="0"/>
              </a:rPr>
              <a:t> </a:t>
            </a:r>
            <a:r>
              <a:rPr lang="en-US" b="1" dirty="0" err="1">
                <a:solidFill>
                  <a:schemeClr val="tx1"/>
                </a:solidFill>
                <a:latin typeface="Gill Sans" panose="020B0604020202020204" charset="0"/>
              </a:rPr>
              <a:t>chiếu</a:t>
            </a:r>
            <a:r>
              <a:rPr lang="en-US" b="1" dirty="0">
                <a:solidFill>
                  <a:schemeClr val="tx1"/>
                </a:solidFill>
                <a:latin typeface="Gill Sans" panose="020B0604020202020204" charset="0"/>
              </a:rPr>
              <a:t> (Reference Sequence)</a:t>
            </a:r>
          </a:p>
          <a:p>
            <a:pPr algn="just"/>
            <a:r>
              <a:rPr lang="en-US" dirty="0">
                <a:solidFill>
                  <a:schemeClr val="tx1"/>
                </a:solidFill>
                <a:latin typeface="Gill Sans" panose="020B0604020202020204" charset="0"/>
              </a:rPr>
              <a:t>Thường </a:t>
            </a:r>
            <a:r>
              <a:rPr lang="en-US" dirty="0" err="1">
                <a:solidFill>
                  <a:schemeClr val="tx1"/>
                </a:solidFill>
                <a:latin typeface="Gill Sans" panose="020B0604020202020204" charset="0"/>
              </a:rPr>
              <a:t>là</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một</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trình</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tự</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đầy</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đủ</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hoặc</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một</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cơ</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sở</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dữ</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liệu</a:t>
            </a:r>
            <a:r>
              <a:rPr lang="en-US" dirty="0">
                <a:solidFill>
                  <a:schemeClr val="tx1"/>
                </a:solidFill>
                <a:latin typeface="Gill Sans" panose="020B0604020202020204" charset="0"/>
              </a:rPr>
              <a:t> </a:t>
            </a:r>
            <a:r>
              <a:rPr lang="en-US" dirty="0" err="1">
                <a:solidFill>
                  <a:schemeClr val="tx1"/>
                </a:solidFill>
                <a:latin typeface="Gill Sans" panose="020B0604020202020204" charset="0"/>
              </a:rPr>
              <a:t>lớn</a:t>
            </a:r>
            <a:r>
              <a:rPr lang="en-US" dirty="0">
                <a:solidFill>
                  <a:schemeClr val="tx1"/>
                </a:solidFill>
                <a:latin typeface="Gill Sans" panose="020B0604020202020204" charset="0"/>
              </a:rPr>
              <a:t> (VD: NCBI)</a:t>
            </a:r>
          </a:p>
        </p:txBody>
      </p:sp>
    </p:spTree>
    <p:extLst>
      <p:ext uri="{BB962C8B-B14F-4D97-AF65-F5344CB8AC3E}">
        <p14:creationId xmlns:p14="http://schemas.microsoft.com/office/powerpoint/2010/main" val="2326734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EF039324-9B43-F2AE-67CB-56B64C79215E}"/>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B873D605-D0F4-2EDD-C5A3-524CF60AC775}"/>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err="1"/>
              <a:t>Sắp</a:t>
            </a:r>
            <a:r>
              <a:rPr lang="en-US" dirty="0"/>
              <a:t> </a:t>
            </a:r>
            <a:r>
              <a:rPr lang="en-US" dirty="0" err="1"/>
              <a:t>hàng</a:t>
            </a:r>
            <a:r>
              <a:rPr lang="en-US" dirty="0"/>
              <a:t> </a:t>
            </a:r>
            <a:r>
              <a:rPr lang="en-US" dirty="0" err="1"/>
              <a:t>trình</a:t>
            </a:r>
            <a:r>
              <a:rPr lang="en-US" dirty="0"/>
              <a:t> </a:t>
            </a:r>
            <a:r>
              <a:rPr lang="en-US" dirty="0" err="1"/>
              <a:t>tự</a:t>
            </a:r>
            <a:r>
              <a:rPr lang="en-US" dirty="0"/>
              <a:t> </a:t>
            </a:r>
            <a:r>
              <a:rPr lang="en-US" dirty="0" err="1"/>
              <a:t>là</a:t>
            </a:r>
            <a:r>
              <a:rPr lang="en-US" dirty="0"/>
              <a:t> </a:t>
            </a:r>
            <a:r>
              <a:rPr lang="en-US" dirty="0" err="1"/>
              <a:t>gì</a:t>
            </a:r>
            <a:r>
              <a:rPr lang="en-US" dirty="0"/>
              <a:t>?</a:t>
            </a:r>
            <a:endParaRPr dirty="0"/>
          </a:p>
        </p:txBody>
      </p:sp>
      <p:sp>
        <p:nvSpPr>
          <p:cNvPr id="3" name="Slide Number Placeholder 2">
            <a:extLst>
              <a:ext uri="{FF2B5EF4-FFF2-40B4-BE49-F238E27FC236}">
                <a16:creationId xmlns:a16="http://schemas.microsoft.com/office/drawing/2014/main" id="{71120C1D-0606-742F-EADA-2FC1C52EA1F5}"/>
              </a:ext>
            </a:extLst>
          </p:cNvPr>
          <p:cNvSpPr>
            <a:spLocks noGrp="1"/>
          </p:cNvSpPr>
          <p:nvPr>
            <p:ph type="sldNum" idx="12"/>
          </p:nvPr>
        </p:nvSpPr>
        <p:spPr/>
        <p:txBody>
          <a:bodyPr/>
          <a:lstStyle/>
          <a:p>
            <a:r>
              <a:rPr lang="en-US" dirty="0"/>
              <a:t>4</a:t>
            </a:r>
          </a:p>
        </p:txBody>
      </p:sp>
      <p:sp>
        <p:nvSpPr>
          <p:cNvPr id="2" name="Google Shape;138;p3">
            <a:extLst>
              <a:ext uri="{FF2B5EF4-FFF2-40B4-BE49-F238E27FC236}">
                <a16:creationId xmlns:a16="http://schemas.microsoft.com/office/drawing/2014/main" id="{4F2322B1-237A-12B8-FB4A-351489FB6712}"/>
              </a:ext>
            </a:extLst>
          </p:cNvPr>
          <p:cNvSpPr txBox="1">
            <a:spLocks noGrp="1"/>
          </p:cNvSpPr>
          <p:nvPr>
            <p:ph type="body" idx="1"/>
          </p:nvPr>
        </p:nvSpPr>
        <p:spPr>
          <a:xfrm>
            <a:off x="457200" y="1219200"/>
            <a:ext cx="8229600" cy="644769"/>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Aft>
                <a:spcPts val="0"/>
              </a:spcAft>
              <a:buClr>
                <a:schemeClr val="accent4">
                  <a:lumMod val="75000"/>
                </a:schemeClr>
              </a:buClr>
              <a:buSzPts val="1976"/>
              <a:buNone/>
            </a:pPr>
            <a:r>
              <a:rPr lang="en-US" sz="2000" dirty="0"/>
              <a:t>Khi so </a:t>
            </a:r>
            <a:r>
              <a:rPr lang="en-US" sz="2000" dirty="0" err="1"/>
              <a:t>sánh</a:t>
            </a:r>
            <a:r>
              <a:rPr lang="en-US" sz="2000" dirty="0"/>
              <a:t>, </a:t>
            </a:r>
            <a:r>
              <a:rPr lang="en-US" sz="2000" dirty="0" err="1"/>
              <a:t>các</a:t>
            </a:r>
            <a:r>
              <a:rPr lang="en-US" sz="2000" dirty="0"/>
              <a:t> </a:t>
            </a:r>
            <a:r>
              <a:rPr lang="en-US" sz="2000" dirty="0" err="1"/>
              <a:t>thuật</a:t>
            </a:r>
            <a:r>
              <a:rPr lang="en-US" sz="2000" dirty="0"/>
              <a:t> </a:t>
            </a:r>
            <a:r>
              <a:rPr lang="en-US" sz="2000" dirty="0" err="1"/>
              <a:t>toán</a:t>
            </a:r>
            <a:r>
              <a:rPr lang="en-US" sz="2000" dirty="0"/>
              <a:t> </a:t>
            </a:r>
            <a:r>
              <a:rPr lang="en-US" sz="2000" dirty="0" err="1"/>
              <a:t>sẽ</a:t>
            </a:r>
            <a:r>
              <a:rPr lang="en-US" sz="2000" dirty="0"/>
              <a:t> </a:t>
            </a:r>
            <a:r>
              <a:rPr lang="en-US" sz="2000" dirty="0" err="1"/>
              <a:t>đánh</a:t>
            </a:r>
            <a:r>
              <a:rPr lang="en-US" sz="2000" dirty="0"/>
              <a:t> </a:t>
            </a:r>
            <a:r>
              <a:rPr lang="en-US" sz="2000" dirty="0" err="1"/>
              <a:t>giá</a:t>
            </a:r>
            <a:r>
              <a:rPr lang="en-US" sz="2000" dirty="0"/>
              <a:t> 3 </a:t>
            </a:r>
            <a:r>
              <a:rPr lang="en-US" sz="2000" dirty="0" err="1"/>
              <a:t>trạng</a:t>
            </a:r>
            <a:r>
              <a:rPr lang="en-US" sz="2000" dirty="0"/>
              <a:t> </a:t>
            </a:r>
            <a:r>
              <a:rPr lang="en-US" sz="2000" dirty="0" err="1"/>
              <a:t>thái</a:t>
            </a:r>
            <a:r>
              <a:rPr lang="en-US" sz="2000" dirty="0"/>
              <a:t> </a:t>
            </a:r>
            <a:r>
              <a:rPr lang="en-US" sz="2000" dirty="0" err="1"/>
              <a:t>cơ</a:t>
            </a:r>
            <a:r>
              <a:rPr lang="en-US" sz="2000" dirty="0"/>
              <a:t> </a:t>
            </a:r>
            <a:r>
              <a:rPr lang="en-US" sz="2000" dirty="0" err="1"/>
              <a:t>bản</a:t>
            </a:r>
            <a:r>
              <a:rPr lang="en-US" sz="2000" dirty="0"/>
              <a:t> </a:t>
            </a:r>
            <a:r>
              <a:rPr lang="en-US" sz="2000" dirty="0" err="1"/>
              <a:t>tại</a:t>
            </a:r>
            <a:r>
              <a:rPr lang="en-US" sz="2000" dirty="0"/>
              <a:t> </a:t>
            </a:r>
            <a:r>
              <a:rPr lang="en-US" sz="2000" dirty="0" err="1"/>
              <a:t>mỗi</a:t>
            </a:r>
            <a:r>
              <a:rPr lang="en-US" sz="2000" dirty="0"/>
              <a:t> </a:t>
            </a:r>
            <a:r>
              <a:rPr lang="en-US" sz="2000" dirty="0" err="1"/>
              <a:t>vị</a:t>
            </a:r>
            <a:r>
              <a:rPr lang="en-US" sz="2000" dirty="0"/>
              <a:t> </a:t>
            </a:r>
            <a:r>
              <a:rPr lang="en-US" sz="2000" dirty="0" err="1"/>
              <a:t>trí</a:t>
            </a:r>
            <a:r>
              <a:rPr lang="en-US" sz="2000" dirty="0"/>
              <a:t>:</a:t>
            </a:r>
          </a:p>
          <a:p>
            <a:pPr marL="0" lvl="0" indent="0" algn="just" rtl="0">
              <a:lnSpc>
                <a:spcPct val="150000"/>
              </a:lnSpc>
              <a:spcAft>
                <a:spcPts val="0"/>
              </a:spcAft>
              <a:buClr>
                <a:schemeClr val="accent4">
                  <a:lumMod val="75000"/>
                </a:schemeClr>
              </a:buClr>
              <a:buSzPts val="1976"/>
              <a:buNone/>
            </a:pPr>
            <a:endParaRPr lang="en-US" sz="2000" dirty="0"/>
          </a:p>
        </p:txBody>
      </p:sp>
      <p:sp>
        <p:nvSpPr>
          <p:cNvPr id="6" name="Rectangle 5">
            <a:extLst>
              <a:ext uri="{FF2B5EF4-FFF2-40B4-BE49-F238E27FC236}">
                <a16:creationId xmlns:a16="http://schemas.microsoft.com/office/drawing/2014/main" id="{DCEC682F-D2E7-B51E-D5E3-477A66FE683D}"/>
              </a:ext>
            </a:extLst>
          </p:cNvPr>
          <p:cNvSpPr/>
          <p:nvPr/>
        </p:nvSpPr>
        <p:spPr>
          <a:xfrm>
            <a:off x="4668184" y="2152113"/>
            <a:ext cx="3176942" cy="5105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err="1">
                <a:solidFill>
                  <a:schemeClr val="tx1"/>
                </a:solidFill>
                <a:latin typeface="Gill Sans" panose="020B0604020202020204" charset="0"/>
              </a:rPr>
              <a:t>Khớp</a:t>
            </a:r>
            <a:r>
              <a:rPr lang="en-US" sz="1800" b="1" dirty="0">
                <a:solidFill>
                  <a:schemeClr val="tx1"/>
                </a:solidFill>
                <a:latin typeface="Gill Sans" panose="020B0604020202020204" charset="0"/>
              </a:rPr>
              <a:t> (Match)</a:t>
            </a:r>
          </a:p>
          <a:p>
            <a:pPr algn="just"/>
            <a:r>
              <a:rPr lang="en-US" sz="1800" dirty="0">
                <a:solidFill>
                  <a:schemeClr val="tx1"/>
                </a:solidFill>
                <a:latin typeface="Gill Sans" panose="020B0604020202020204" charset="0"/>
              </a:rPr>
              <a:t>Hai </a:t>
            </a:r>
            <a:r>
              <a:rPr lang="en-US" sz="1800" dirty="0" err="1">
                <a:solidFill>
                  <a:schemeClr val="tx1"/>
                </a:solidFill>
                <a:latin typeface="Gill Sans" panose="020B0604020202020204" charset="0"/>
              </a:rPr>
              <a:t>ký</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tự</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giống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nhau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tuyệt</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đối</a:t>
            </a:r>
            <a:endParaRPr lang="en-US" sz="1800" b="1" dirty="0">
              <a:solidFill>
                <a:schemeClr val="tx1"/>
              </a:solidFill>
              <a:latin typeface="Gill Sans" panose="020B0604020202020204" charset="0"/>
            </a:endParaRPr>
          </a:p>
        </p:txBody>
      </p:sp>
      <p:pic>
        <p:nvPicPr>
          <p:cNvPr id="10" name="Picture 9">
            <a:extLst>
              <a:ext uri="{FF2B5EF4-FFF2-40B4-BE49-F238E27FC236}">
                <a16:creationId xmlns:a16="http://schemas.microsoft.com/office/drawing/2014/main" id="{F57F755F-6571-29B4-40FB-D416F093C308}"/>
              </a:ext>
            </a:extLst>
          </p:cNvPr>
          <p:cNvPicPr>
            <a:picLocks noChangeAspect="1"/>
          </p:cNvPicPr>
          <p:nvPr/>
        </p:nvPicPr>
        <p:blipFill>
          <a:blip r:embed="rId3"/>
          <a:srcRect t="11319" r="5440" b="4206"/>
          <a:stretch>
            <a:fillRect/>
          </a:stretch>
        </p:blipFill>
        <p:spPr>
          <a:xfrm>
            <a:off x="611843" y="3416670"/>
            <a:ext cx="3200545" cy="720000"/>
          </a:xfrm>
          <a:prstGeom prst="rect">
            <a:avLst/>
          </a:prstGeom>
        </p:spPr>
      </p:pic>
      <p:sp>
        <p:nvSpPr>
          <p:cNvPr id="11" name="Rectangle 10">
            <a:extLst>
              <a:ext uri="{FF2B5EF4-FFF2-40B4-BE49-F238E27FC236}">
                <a16:creationId xmlns:a16="http://schemas.microsoft.com/office/drawing/2014/main" id="{EF8BEB1C-0A0F-9718-0797-DA8E57470256}"/>
              </a:ext>
            </a:extLst>
          </p:cNvPr>
          <p:cNvSpPr/>
          <p:nvPr/>
        </p:nvSpPr>
        <p:spPr>
          <a:xfrm>
            <a:off x="4652330" y="3194537"/>
            <a:ext cx="4106539" cy="11642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err="1">
                <a:solidFill>
                  <a:schemeClr val="tx1"/>
                </a:solidFill>
                <a:latin typeface="Gill Sans" panose="020B0604020202020204" charset="0"/>
              </a:rPr>
              <a:t>Khoảng</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trống</a:t>
            </a:r>
            <a:r>
              <a:rPr lang="en-US" sz="1800" b="1" dirty="0">
                <a:solidFill>
                  <a:schemeClr val="tx1"/>
                </a:solidFill>
                <a:latin typeface="Gill Sans" panose="020B0604020202020204" charset="0"/>
              </a:rPr>
              <a:t> (Gap / Indel)</a:t>
            </a:r>
          </a:p>
          <a:p>
            <a:pPr algn="just"/>
            <a:r>
              <a:rPr lang="en-US" sz="1800" dirty="0">
                <a:solidFill>
                  <a:schemeClr val="tx1"/>
                </a:solidFill>
                <a:latin typeface="Gill Sans" panose="020B0604020202020204" charset="0"/>
              </a:rPr>
              <a:t>Các </a:t>
            </a:r>
            <a:r>
              <a:rPr lang="en-US" sz="1800" dirty="0" err="1">
                <a:solidFill>
                  <a:schemeClr val="tx1"/>
                </a:solidFill>
                <a:latin typeface="Gill Sans" panose="020B0604020202020204" charset="0"/>
              </a:rPr>
              <a:t>thuật</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toán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sẽ</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chèn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các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khoảng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trống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đại</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diện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cho</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sự</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chèn</a:t>
            </a:r>
            <a:r>
              <a:rPr lang="en-US" sz="1800" dirty="0">
                <a:solidFill>
                  <a:schemeClr val="tx1"/>
                </a:solidFill>
                <a:latin typeface="Gill Sans" panose="020B0604020202020204" charset="0"/>
              </a:rPr>
              <a:t> / </a:t>
            </a:r>
            <a:r>
              <a:rPr lang="en-US" sz="1800" dirty="0" err="1">
                <a:solidFill>
                  <a:schemeClr val="tx1"/>
                </a:solidFill>
                <a:latin typeface="Gill Sans" panose="020B0604020202020204" charset="0"/>
              </a:rPr>
              <a:t>xóa</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ký</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tự</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trong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tiến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hóa</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để</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tối</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ưu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mức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độ</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trùng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khớp</a:t>
            </a:r>
            <a:endParaRPr lang="en-US" sz="1800" b="1" dirty="0">
              <a:solidFill>
                <a:schemeClr val="tx1"/>
              </a:solidFill>
              <a:latin typeface="Gill Sans" panose="020B0604020202020204" charset="0"/>
            </a:endParaRPr>
          </a:p>
        </p:txBody>
      </p:sp>
      <p:sp>
        <p:nvSpPr>
          <p:cNvPr id="12" name="Rectangle 11">
            <a:extLst>
              <a:ext uri="{FF2B5EF4-FFF2-40B4-BE49-F238E27FC236}">
                <a16:creationId xmlns:a16="http://schemas.microsoft.com/office/drawing/2014/main" id="{9AAFF0AA-C2FF-769C-1EE4-1A276F5AC5F7}"/>
              </a:ext>
            </a:extLst>
          </p:cNvPr>
          <p:cNvSpPr/>
          <p:nvPr/>
        </p:nvSpPr>
        <p:spPr>
          <a:xfrm>
            <a:off x="4668184" y="4890659"/>
            <a:ext cx="3176942" cy="7940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err="1">
                <a:solidFill>
                  <a:schemeClr val="tx1"/>
                </a:solidFill>
                <a:latin typeface="Gill Sans" panose="020B0604020202020204" charset="0"/>
              </a:rPr>
              <a:t>Không</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Khớp</a:t>
            </a:r>
            <a:r>
              <a:rPr lang="en-US" sz="1800" b="1" dirty="0">
                <a:solidFill>
                  <a:schemeClr val="tx1"/>
                </a:solidFill>
                <a:latin typeface="Gill Sans" panose="020B0604020202020204" charset="0"/>
              </a:rPr>
              <a:t> (Mismatch)</a:t>
            </a:r>
          </a:p>
          <a:p>
            <a:pPr algn="just"/>
            <a:r>
              <a:rPr lang="en-US" sz="1800" dirty="0">
                <a:solidFill>
                  <a:schemeClr val="tx1"/>
                </a:solidFill>
                <a:latin typeface="Gill Sans" panose="020B0604020202020204" charset="0"/>
              </a:rPr>
              <a:t>Hai </a:t>
            </a:r>
            <a:r>
              <a:rPr lang="en-US" sz="1800" dirty="0" err="1">
                <a:solidFill>
                  <a:schemeClr val="tx1"/>
                </a:solidFill>
                <a:latin typeface="Gill Sans" panose="020B0604020202020204" charset="0"/>
              </a:rPr>
              <a:t>ký</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tự</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khác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nhau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biểu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thị</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sự</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đột</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biến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thay</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thế</a:t>
            </a:r>
            <a:r>
              <a:rPr lang="en-US" sz="1800" dirty="0">
                <a:solidFill>
                  <a:schemeClr val="tx1"/>
                </a:solidFill>
                <a:latin typeface="Gill Sans" panose="020B0604020202020204" charset="0"/>
              </a:rPr>
              <a:t>.</a:t>
            </a:r>
          </a:p>
        </p:txBody>
      </p:sp>
      <p:cxnSp>
        <p:nvCxnSpPr>
          <p:cNvPr id="14" name="Connector: Elbow 13">
            <a:extLst>
              <a:ext uri="{FF2B5EF4-FFF2-40B4-BE49-F238E27FC236}">
                <a16:creationId xmlns:a16="http://schemas.microsoft.com/office/drawing/2014/main" id="{BECE7F3C-37F1-2AE3-B5BC-C29D863545BA}"/>
              </a:ext>
            </a:extLst>
          </p:cNvPr>
          <p:cNvCxnSpPr>
            <a:cxnSpLocks/>
            <a:stCxn id="6" idx="1"/>
            <a:endCxn id="10" idx="0"/>
          </p:cNvCxnSpPr>
          <p:nvPr/>
        </p:nvCxnSpPr>
        <p:spPr>
          <a:xfrm rot="10800000" flipV="1">
            <a:off x="2212116" y="2407396"/>
            <a:ext cx="2456068" cy="1009273"/>
          </a:xfrm>
          <a:prstGeom prst="bentConnector2">
            <a:avLst/>
          </a:prstGeom>
          <a:ln w="19050">
            <a:solidFill>
              <a:srgbClr val="16AD58"/>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72204184-8AE3-E3C4-D8CD-E0A545DD52F2}"/>
              </a:ext>
            </a:extLst>
          </p:cNvPr>
          <p:cNvCxnSpPr>
            <a:cxnSpLocks/>
            <a:stCxn id="12" idx="1"/>
          </p:cNvCxnSpPr>
          <p:nvPr/>
        </p:nvCxnSpPr>
        <p:spPr>
          <a:xfrm rot="10800000">
            <a:off x="3370386" y="4215382"/>
            <a:ext cx="1297799" cy="1072306"/>
          </a:xfrm>
          <a:prstGeom prst="bentConnector3">
            <a:avLst>
              <a:gd name="adj1" fmla="val 100058"/>
            </a:avLst>
          </a:prstGeom>
          <a:ln w="19050">
            <a:solidFill>
              <a:srgbClr val="D21A25"/>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64B0948-EC82-2B29-E678-3DE46A2F86DE}"/>
              </a:ext>
            </a:extLst>
          </p:cNvPr>
          <p:cNvCxnSpPr/>
          <p:nvPr/>
        </p:nvCxnSpPr>
        <p:spPr>
          <a:xfrm>
            <a:off x="1875692" y="4160447"/>
            <a:ext cx="0" cy="409372"/>
          </a:xfrm>
          <a:prstGeom prst="straightConnector1">
            <a:avLst/>
          </a:prstGeom>
          <a:ln w="19050">
            <a:solidFill>
              <a:srgbClr val="919AA3"/>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405D293-9ABF-8B74-9BCE-D6665C25A85B}"/>
              </a:ext>
            </a:extLst>
          </p:cNvPr>
          <p:cNvCxnSpPr>
            <a:cxnSpLocks/>
          </p:cNvCxnSpPr>
          <p:nvPr/>
        </p:nvCxnSpPr>
        <p:spPr>
          <a:xfrm flipH="1">
            <a:off x="1875692" y="4569819"/>
            <a:ext cx="2421988" cy="0"/>
          </a:xfrm>
          <a:prstGeom prst="straightConnector1">
            <a:avLst/>
          </a:prstGeom>
          <a:ln w="19050">
            <a:solidFill>
              <a:srgbClr val="919AA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31A1DF1-8EDC-1A79-E991-9DC1972AF630}"/>
              </a:ext>
            </a:extLst>
          </p:cNvPr>
          <p:cNvCxnSpPr>
            <a:cxnSpLocks/>
          </p:cNvCxnSpPr>
          <p:nvPr/>
        </p:nvCxnSpPr>
        <p:spPr>
          <a:xfrm flipV="1">
            <a:off x="4297680" y="3776670"/>
            <a:ext cx="0" cy="793149"/>
          </a:xfrm>
          <a:prstGeom prst="straightConnector1">
            <a:avLst/>
          </a:prstGeom>
          <a:ln w="19050">
            <a:solidFill>
              <a:srgbClr val="919AA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A4C9C27-AC76-98B0-4145-21019F41DB56}"/>
              </a:ext>
            </a:extLst>
          </p:cNvPr>
          <p:cNvCxnSpPr>
            <a:cxnSpLocks/>
            <a:stCxn id="11" idx="1"/>
          </p:cNvCxnSpPr>
          <p:nvPr/>
        </p:nvCxnSpPr>
        <p:spPr>
          <a:xfrm flipH="1">
            <a:off x="4297680" y="3776670"/>
            <a:ext cx="354650" cy="0"/>
          </a:xfrm>
          <a:prstGeom prst="straightConnector1">
            <a:avLst/>
          </a:prstGeom>
          <a:ln w="19050">
            <a:solidFill>
              <a:srgbClr val="919AA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3278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28E64955-F162-CE4A-D9C3-B58C69DDC7DC}"/>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B68D4D46-9C5A-2DE3-8CD5-F6CDE0095E84}"/>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err="1"/>
              <a:t>Tại</a:t>
            </a:r>
            <a:r>
              <a:rPr lang="en-US" dirty="0"/>
              <a:t> </a:t>
            </a:r>
            <a:r>
              <a:rPr lang="en-US" dirty="0" err="1"/>
              <a:t>sao</a:t>
            </a:r>
            <a:r>
              <a:rPr lang="en-US" dirty="0"/>
              <a:t> </a:t>
            </a:r>
            <a:r>
              <a:rPr lang="en-US" dirty="0" err="1"/>
              <a:t>cần</a:t>
            </a:r>
            <a:r>
              <a:rPr lang="en-US" dirty="0"/>
              <a:t> </a:t>
            </a:r>
            <a:r>
              <a:rPr lang="en-US" dirty="0" err="1"/>
              <a:t>giải</a:t>
            </a:r>
            <a:r>
              <a:rPr lang="en-US" dirty="0"/>
              <a:t> </a:t>
            </a:r>
            <a:r>
              <a:rPr lang="en-US" dirty="0" err="1"/>
              <a:t>quyết</a:t>
            </a:r>
            <a:r>
              <a:rPr lang="en-US" dirty="0"/>
              <a:t> </a:t>
            </a:r>
            <a:r>
              <a:rPr lang="en-US" dirty="0" err="1"/>
              <a:t>bài</a:t>
            </a:r>
            <a:r>
              <a:rPr lang="en-US" dirty="0"/>
              <a:t> </a:t>
            </a:r>
            <a:r>
              <a:rPr lang="en-US" dirty="0" err="1"/>
              <a:t>toán</a:t>
            </a:r>
            <a:r>
              <a:rPr lang="en-US" dirty="0"/>
              <a:t> </a:t>
            </a:r>
            <a:r>
              <a:rPr lang="en-US" dirty="0" err="1"/>
              <a:t>này</a:t>
            </a:r>
            <a:r>
              <a:rPr lang="en-US" dirty="0"/>
              <a:t>?</a:t>
            </a:r>
            <a:endParaRPr dirty="0"/>
          </a:p>
        </p:txBody>
      </p:sp>
      <p:sp>
        <p:nvSpPr>
          <p:cNvPr id="3" name="Slide Number Placeholder 2">
            <a:extLst>
              <a:ext uri="{FF2B5EF4-FFF2-40B4-BE49-F238E27FC236}">
                <a16:creationId xmlns:a16="http://schemas.microsoft.com/office/drawing/2014/main" id="{1DBE6C75-EE78-6B08-58C1-4098A476CB03}"/>
              </a:ext>
            </a:extLst>
          </p:cNvPr>
          <p:cNvSpPr>
            <a:spLocks noGrp="1"/>
          </p:cNvSpPr>
          <p:nvPr>
            <p:ph type="sldNum" idx="12"/>
          </p:nvPr>
        </p:nvSpPr>
        <p:spPr/>
        <p:txBody>
          <a:bodyPr/>
          <a:lstStyle/>
          <a:p>
            <a:r>
              <a:rPr lang="en-US" dirty="0"/>
              <a:t>5</a:t>
            </a:r>
          </a:p>
        </p:txBody>
      </p:sp>
      <p:sp>
        <p:nvSpPr>
          <p:cNvPr id="2" name="Google Shape;138;p3">
            <a:extLst>
              <a:ext uri="{FF2B5EF4-FFF2-40B4-BE49-F238E27FC236}">
                <a16:creationId xmlns:a16="http://schemas.microsoft.com/office/drawing/2014/main" id="{F23B7440-6A5C-631E-8BEC-A1A16E326996}"/>
              </a:ext>
            </a:extLst>
          </p:cNvPr>
          <p:cNvSpPr txBox="1">
            <a:spLocks noGrp="1"/>
          </p:cNvSpPr>
          <p:nvPr>
            <p:ph type="body" idx="1"/>
          </p:nvPr>
        </p:nvSpPr>
        <p:spPr>
          <a:xfrm>
            <a:off x="457200" y="1219200"/>
            <a:ext cx="8229600" cy="644769"/>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Aft>
                <a:spcPts val="0"/>
              </a:spcAft>
              <a:buClr>
                <a:schemeClr val="accent4">
                  <a:lumMod val="75000"/>
                </a:schemeClr>
              </a:buClr>
              <a:buSzPts val="1976"/>
              <a:buNone/>
            </a:pPr>
            <a:r>
              <a:rPr lang="en-US" sz="1800" dirty="0" err="1"/>
              <a:t>Sắp</a:t>
            </a:r>
            <a:r>
              <a:rPr lang="en-US" sz="1800" dirty="0"/>
              <a:t> </a:t>
            </a:r>
            <a:r>
              <a:rPr lang="en-US" sz="1800" dirty="0" err="1"/>
              <a:t>hàng</a:t>
            </a:r>
            <a:r>
              <a:rPr lang="en-US" sz="1800" dirty="0"/>
              <a:t> </a:t>
            </a:r>
            <a:r>
              <a:rPr lang="en-US" sz="1800" dirty="0" err="1"/>
              <a:t>trình</a:t>
            </a:r>
            <a:r>
              <a:rPr lang="en-US" sz="1800" dirty="0"/>
              <a:t> </a:t>
            </a:r>
            <a:r>
              <a:rPr lang="en-US" sz="1800" dirty="0" err="1"/>
              <a:t>tự</a:t>
            </a:r>
            <a:r>
              <a:rPr lang="en-US" sz="1800" dirty="0"/>
              <a:t> </a:t>
            </a:r>
            <a:r>
              <a:rPr lang="en-US" sz="1800" dirty="0" err="1"/>
              <a:t>là</a:t>
            </a:r>
            <a:r>
              <a:rPr lang="en-US" sz="1800" dirty="0"/>
              <a:t> </a:t>
            </a:r>
            <a:r>
              <a:rPr lang="en-US" sz="1800" dirty="0" err="1"/>
              <a:t>cầu</a:t>
            </a:r>
            <a:r>
              <a:rPr lang="en-US" sz="1800" dirty="0"/>
              <a:t> </a:t>
            </a:r>
            <a:r>
              <a:rPr lang="en-US" sz="1800" dirty="0" err="1"/>
              <a:t>nối</a:t>
            </a:r>
            <a:r>
              <a:rPr lang="en-US" sz="1800" dirty="0"/>
              <a:t> </a:t>
            </a:r>
            <a:r>
              <a:rPr lang="en-US" sz="1800" dirty="0" err="1"/>
              <a:t>giữa</a:t>
            </a:r>
            <a:r>
              <a:rPr lang="en-US" sz="1800" dirty="0"/>
              <a:t> </a:t>
            </a:r>
            <a:r>
              <a:rPr lang="en-US" sz="1800" dirty="0" err="1"/>
              <a:t>dữ</a:t>
            </a:r>
            <a:r>
              <a:rPr lang="en-US" sz="1800" dirty="0"/>
              <a:t> </a:t>
            </a:r>
            <a:r>
              <a:rPr lang="en-US" sz="1800" dirty="0" err="1"/>
              <a:t>liệu</a:t>
            </a:r>
            <a:r>
              <a:rPr lang="en-US" sz="1800" dirty="0"/>
              <a:t> </a:t>
            </a:r>
            <a:r>
              <a:rPr lang="en-US" sz="1800" dirty="0" err="1"/>
              <a:t>thô</a:t>
            </a:r>
            <a:r>
              <a:rPr lang="en-US" sz="1800" dirty="0"/>
              <a:t> (text-based sequences) </a:t>
            </a:r>
            <a:r>
              <a:rPr lang="en-US" sz="1800" dirty="0" err="1"/>
              <a:t>và</a:t>
            </a:r>
            <a:r>
              <a:rPr lang="en-US" sz="1800" dirty="0"/>
              <a:t> ý </a:t>
            </a:r>
            <a:r>
              <a:rPr lang="en-US" sz="1800" dirty="0" err="1"/>
              <a:t>nghĩa</a:t>
            </a:r>
            <a:r>
              <a:rPr lang="en-US" sz="1800" dirty="0"/>
              <a:t> </a:t>
            </a:r>
            <a:r>
              <a:rPr lang="en-US" sz="1800" dirty="0" err="1"/>
              <a:t>sinh</a:t>
            </a:r>
            <a:r>
              <a:rPr lang="en-US" sz="1800" dirty="0"/>
              <a:t> </a:t>
            </a:r>
            <a:r>
              <a:rPr lang="en-US" sz="1800" dirty="0" err="1"/>
              <a:t>học</a:t>
            </a:r>
            <a:r>
              <a:rPr lang="en-US" sz="1800" dirty="0"/>
              <a:t> </a:t>
            </a:r>
            <a:r>
              <a:rPr lang="en-US" sz="1800" dirty="0" err="1"/>
              <a:t>như</a:t>
            </a:r>
            <a:r>
              <a:rPr lang="en-US" sz="1800" dirty="0"/>
              <a:t> </a:t>
            </a:r>
            <a:r>
              <a:rPr lang="en-US" sz="1800" dirty="0" err="1"/>
              <a:t>sự</a:t>
            </a:r>
            <a:r>
              <a:rPr lang="en-US" sz="1800" dirty="0"/>
              <a:t> </a:t>
            </a:r>
            <a:r>
              <a:rPr lang="en-US" sz="1800" dirty="0" err="1"/>
              <a:t>tương</a:t>
            </a:r>
            <a:r>
              <a:rPr lang="en-US" sz="1800" dirty="0"/>
              <a:t> </a:t>
            </a:r>
            <a:r>
              <a:rPr lang="en-US" sz="1800" dirty="0" err="1"/>
              <a:t>đồng</a:t>
            </a:r>
            <a:r>
              <a:rPr lang="en-US" sz="1800" dirty="0"/>
              <a:t> </a:t>
            </a:r>
            <a:r>
              <a:rPr lang="en-US" sz="1800" dirty="0" err="1"/>
              <a:t>về</a:t>
            </a:r>
            <a:r>
              <a:rPr lang="en-US" sz="1800" dirty="0"/>
              <a:t> </a:t>
            </a:r>
            <a:r>
              <a:rPr lang="en-US" sz="1800" dirty="0" err="1"/>
              <a:t>chức</a:t>
            </a:r>
            <a:r>
              <a:rPr lang="en-US" sz="1800" dirty="0"/>
              <a:t> </a:t>
            </a:r>
            <a:r>
              <a:rPr lang="en-US" sz="1800" dirty="0" err="1"/>
              <a:t>năng</a:t>
            </a:r>
            <a:r>
              <a:rPr lang="en-US" sz="1800" dirty="0"/>
              <a:t>, </a:t>
            </a:r>
            <a:r>
              <a:rPr lang="en-US" sz="1800" dirty="0" err="1"/>
              <a:t>mối</a:t>
            </a:r>
            <a:r>
              <a:rPr lang="en-US" sz="1800" dirty="0"/>
              <a:t> </a:t>
            </a:r>
            <a:r>
              <a:rPr lang="en-US" sz="1800" dirty="0" err="1"/>
              <a:t>quan</a:t>
            </a:r>
            <a:r>
              <a:rPr lang="en-US" sz="1800" dirty="0"/>
              <a:t> </a:t>
            </a:r>
            <a:r>
              <a:rPr lang="en-US" sz="1800" dirty="0" err="1"/>
              <a:t>hệ</a:t>
            </a:r>
            <a:r>
              <a:rPr lang="en-US" sz="1800" dirty="0"/>
              <a:t> </a:t>
            </a:r>
            <a:r>
              <a:rPr lang="en-US" sz="1800" dirty="0" err="1"/>
              <a:t>trong</a:t>
            </a:r>
            <a:r>
              <a:rPr lang="en-US" sz="1800" dirty="0"/>
              <a:t> </a:t>
            </a:r>
            <a:r>
              <a:rPr lang="en-US" sz="1800" dirty="0" err="1"/>
              <a:t>quá</a:t>
            </a:r>
            <a:r>
              <a:rPr lang="en-US" sz="1800" dirty="0"/>
              <a:t> </a:t>
            </a:r>
            <a:r>
              <a:rPr lang="en-US" sz="1800" dirty="0" err="1"/>
              <a:t>trình</a:t>
            </a:r>
            <a:r>
              <a:rPr lang="en-US" sz="1800" dirty="0"/>
              <a:t> </a:t>
            </a:r>
            <a:r>
              <a:rPr lang="en-US" sz="1800" dirty="0" err="1"/>
              <a:t>tiến</a:t>
            </a:r>
            <a:r>
              <a:rPr lang="en-US" sz="1800" dirty="0"/>
              <a:t> </a:t>
            </a:r>
            <a:r>
              <a:rPr lang="en-US" sz="1800" dirty="0" err="1"/>
              <a:t>hóa</a:t>
            </a:r>
            <a:r>
              <a:rPr lang="en-US" sz="1800" dirty="0"/>
              <a:t>, …. </a:t>
            </a:r>
          </a:p>
        </p:txBody>
      </p:sp>
      <p:sp>
        <p:nvSpPr>
          <p:cNvPr id="6" name="Rectangle 5">
            <a:extLst>
              <a:ext uri="{FF2B5EF4-FFF2-40B4-BE49-F238E27FC236}">
                <a16:creationId xmlns:a16="http://schemas.microsoft.com/office/drawing/2014/main" id="{E7F9164D-5184-8D3F-237E-8689EDAADB07}"/>
              </a:ext>
            </a:extLst>
          </p:cNvPr>
          <p:cNvSpPr/>
          <p:nvPr/>
        </p:nvSpPr>
        <p:spPr>
          <a:xfrm>
            <a:off x="907178" y="2197831"/>
            <a:ext cx="1374476" cy="5105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err="1">
                <a:solidFill>
                  <a:schemeClr val="tx1"/>
                </a:solidFill>
                <a:latin typeface="Gill Sans" panose="020B0604020202020204" charset="0"/>
              </a:rPr>
              <a:t>Dữ</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liệu</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thô</a:t>
            </a:r>
            <a:endParaRPr lang="en-US" sz="1800" b="1" dirty="0">
              <a:solidFill>
                <a:schemeClr val="tx1"/>
              </a:solidFill>
              <a:latin typeface="Gill Sans" panose="020B0604020202020204" charset="0"/>
            </a:endParaRPr>
          </a:p>
        </p:txBody>
      </p:sp>
      <p:sp>
        <p:nvSpPr>
          <p:cNvPr id="11" name="Rectangle 10">
            <a:extLst>
              <a:ext uri="{FF2B5EF4-FFF2-40B4-BE49-F238E27FC236}">
                <a16:creationId xmlns:a16="http://schemas.microsoft.com/office/drawing/2014/main" id="{0AD6663F-8564-CF8A-36B2-DA04E97244C9}"/>
              </a:ext>
            </a:extLst>
          </p:cNvPr>
          <p:cNvSpPr/>
          <p:nvPr/>
        </p:nvSpPr>
        <p:spPr>
          <a:xfrm>
            <a:off x="4025425" y="2267305"/>
            <a:ext cx="1093150" cy="3716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Gill Sans" panose="020B0604020202020204" charset="0"/>
              </a:rPr>
              <a:t>Công </a:t>
            </a:r>
            <a:r>
              <a:rPr lang="en-US" sz="1800" b="1" dirty="0" err="1">
                <a:solidFill>
                  <a:schemeClr val="tx1"/>
                </a:solidFill>
                <a:latin typeface="Gill Sans" panose="020B0604020202020204" charset="0"/>
              </a:rPr>
              <a:t>cụ</a:t>
            </a:r>
            <a:endParaRPr lang="en-US" sz="1800" b="1" dirty="0">
              <a:solidFill>
                <a:schemeClr val="tx1"/>
              </a:solidFill>
              <a:latin typeface="Gill Sans" panose="020B0604020202020204" charset="0"/>
            </a:endParaRPr>
          </a:p>
        </p:txBody>
      </p:sp>
      <p:sp>
        <p:nvSpPr>
          <p:cNvPr id="12" name="Rectangle 11">
            <a:extLst>
              <a:ext uri="{FF2B5EF4-FFF2-40B4-BE49-F238E27FC236}">
                <a16:creationId xmlns:a16="http://schemas.microsoft.com/office/drawing/2014/main" id="{624F2828-BEF2-54FA-ECA8-EAFDE3C13F52}"/>
              </a:ext>
            </a:extLst>
          </p:cNvPr>
          <p:cNvSpPr/>
          <p:nvPr/>
        </p:nvSpPr>
        <p:spPr>
          <a:xfrm>
            <a:off x="6727022" y="2216342"/>
            <a:ext cx="1938356" cy="4585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Gill Sans" panose="020B0604020202020204" charset="0"/>
              </a:rPr>
              <a:t>Ý </a:t>
            </a:r>
            <a:r>
              <a:rPr lang="en-US" sz="1800" b="1" dirty="0" err="1">
                <a:solidFill>
                  <a:schemeClr val="tx1"/>
                </a:solidFill>
                <a:latin typeface="Gill Sans" panose="020B0604020202020204" charset="0"/>
              </a:rPr>
              <a:t>nghĩa</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sinh</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học</a:t>
            </a:r>
            <a:endParaRPr lang="en-US" sz="1800" b="1" dirty="0">
              <a:solidFill>
                <a:schemeClr val="tx1"/>
              </a:solidFill>
              <a:latin typeface="Gill Sans" panose="020B0604020202020204" charset="0"/>
            </a:endParaRPr>
          </a:p>
        </p:txBody>
      </p:sp>
      <p:pic>
        <p:nvPicPr>
          <p:cNvPr id="8" name="Picture 7">
            <a:extLst>
              <a:ext uri="{FF2B5EF4-FFF2-40B4-BE49-F238E27FC236}">
                <a16:creationId xmlns:a16="http://schemas.microsoft.com/office/drawing/2014/main" id="{76D1B9B8-EDCA-4953-47C4-5AF851450788}"/>
              </a:ext>
            </a:extLst>
          </p:cNvPr>
          <p:cNvPicPr>
            <a:picLocks noChangeAspect="1"/>
          </p:cNvPicPr>
          <p:nvPr/>
        </p:nvPicPr>
        <p:blipFill>
          <a:blip r:embed="rId3"/>
          <a:stretch>
            <a:fillRect/>
          </a:stretch>
        </p:blipFill>
        <p:spPr>
          <a:xfrm>
            <a:off x="3329714" y="3162240"/>
            <a:ext cx="2644369" cy="1386960"/>
          </a:xfrm>
          <a:prstGeom prst="rect">
            <a:avLst/>
          </a:prstGeom>
        </p:spPr>
      </p:pic>
      <p:cxnSp>
        <p:nvCxnSpPr>
          <p:cNvPr id="13" name="Straight Arrow Connector 12">
            <a:extLst>
              <a:ext uri="{FF2B5EF4-FFF2-40B4-BE49-F238E27FC236}">
                <a16:creationId xmlns:a16="http://schemas.microsoft.com/office/drawing/2014/main" id="{BA8C7C9F-AB4A-EAB9-0211-33E423C9006E}"/>
              </a:ext>
            </a:extLst>
          </p:cNvPr>
          <p:cNvCxnSpPr>
            <a:cxnSpLocks/>
            <a:endCxn id="8" idx="1"/>
          </p:cNvCxnSpPr>
          <p:nvPr/>
        </p:nvCxnSpPr>
        <p:spPr>
          <a:xfrm>
            <a:off x="2667001" y="3855720"/>
            <a:ext cx="662713" cy="0"/>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9E99B018-CA3F-CE29-D0DE-99C116C24080}"/>
              </a:ext>
            </a:extLst>
          </p:cNvPr>
          <p:cNvCxnSpPr>
            <a:cxnSpLocks/>
            <a:stCxn id="8" idx="3"/>
          </p:cNvCxnSpPr>
          <p:nvPr/>
        </p:nvCxnSpPr>
        <p:spPr>
          <a:xfrm>
            <a:off x="5974083" y="3855720"/>
            <a:ext cx="720000" cy="0"/>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id="{6963FFD1-3EAA-494E-D4F0-AC4F8C6A7C02}"/>
              </a:ext>
            </a:extLst>
          </p:cNvPr>
          <p:cNvSpPr/>
          <p:nvPr/>
        </p:nvSpPr>
        <p:spPr>
          <a:xfrm>
            <a:off x="6727022" y="2967479"/>
            <a:ext cx="2333158" cy="20954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lnSpc>
                <a:spcPct val="150000"/>
              </a:lnSpc>
              <a:buFont typeface="Arial" panose="020B0604020202020204" pitchFamily="34" charset="0"/>
              <a:buChar char="•"/>
            </a:pPr>
            <a:r>
              <a:rPr lang="en-US" sz="1800" dirty="0" err="1">
                <a:solidFill>
                  <a:schemeClr val="tx1"/>
                </a:solidFill>
                <a:latin typeface="Gill Sans" panose="020B0604020202020204" charset="0"/>
              </a:rPr>
              <a:t>Chức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năng</a:t>
            </a:r>
            <a:endParaRPr lang="en-US" sz="1800" dirty="0">
              <a:solidFill>
                <a:schemeClr val="tx1"/>
              </a:solidFill>
              <a:latin typeface="Gill Sans" panose="020B0604020202020204" charset="0"/>
            </a:endParaRPr>
          </a:p>
          <a:p>
            <a:pPr marL="285750" indent="-285750" algn="just">
              <a:lnSpc>
                <a:spcPct val="150000"/>
              </a:lnSpc>
              <a:buFont typeface="Arial" panose="020B0604020202020204" pitchFamily="34" charset="0"/>
              <a:buChar char="•"/>
            </a:pPr>
            <a:r>
              <a:rPr lang="en-US" sz="1800" dirty="0" err="1">
                <a:solidFill>
                  <a:schemeClr val="tx1"/>
                </a:solidFill>
                <a:latin typeface="Gill Sans" panose="020B0604020202020204" charset="0"/>
              </a:rPr>
              <a:t>Cấu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trúc</a:t>
            </a:r>
            <a:endParaRPr lang="en-US" sz="1800" dirty="0">
              <a:solidFill>
                <a:schemeClr val="tx1"/>
              </a:solidFill>
              <a:latin typeface="Gill Sans" panose="020B0604020202020204" charset="0"/>
            </a:endParaRPr>
          </a:p>
          <a:p>
            <a:pPr marL="285750" indent="-285750" algn="just">
              <a:lnSpc>
                <a:spcPct val="150000"/>
              </a:lnSpc>
              <a:buFont typeface="Arial" panose="020B0604020202020204" pitchFamily="34" charset="0"/>
              <a:buChar char="•"/>
            </a:pPr>
            <a:r>
              <a:rPr lang="en-US" sz="1800" dirty="0">
                <a:solidFill>
                  <a:schemeClr val="tx1"/>
                </a:solidFill>
                <a:latin typeface="Gill Sans" panose="020B0604020202020204" charset="0"/>
              </a:rPr>
              <a:t>Quan </a:t>
            </a:r>
            <a:r>
              <a:rPr lang="en-US" sz="1800" dirty="0" err="1">
                <a:solidFill>
                  <a:schemeClr val="tx1"/>
                </a:solidFill>
                <a:latin typeface="Gill Sans" panose="020B0604020202020204" charset="0"/>
              </a:rPr>
              <a:t>hệ</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trong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quá</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trình</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tiến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hóa</a:t>
            </a:r>
            <a:endParaRPr lang="en-US" sz="1800" dirty="0">
              <a:solidFill>
                <a:schemeClr val="tx1"/>
              </a:solidFill>
              <a:latin typeface="Gill Sans" panose="020B0604020202020204" charset="0"/>
            </a:endParaRPr>
          </a:p>
          <a:p>
            <a:pPr marL="285750" indent="-285750" algn="just">
              <a:lnSpc>
                <a:spcPct val="150000"/>
              </a:lnSpc>
              <a:buFont typeface="Arial" panose="020B0604020202020204" pitchFamily="34" charset="0"/>
              <a:buChar char="•"/>
            </a:pPr>
            <a:r>
              <a:rPr lang="en-US" sz="1800" dirty="0">
                <a:solidFill>
                  <a:schemeClr val="tx1"/>
                </a:solidFill>
                <a:latin typeface="Gill Sans" panose="020B0604020202020204" charset="0"/>
              </a:rPr>
              <a:t>Y </a:t>
            </a:r>
            <a:r>
              <a:rPr lang="en-US" sz="1800" dirty="0" err="1">
                <a:solidFill>
                  <a:schemeClr val="tx1"/>
                </a:solidFill>
                <a:latin typeface="Gill Sans" panose="020B0604020202020204" charset="0"/>
              </a:rPr>
              <a:t>học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cá</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nhân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hóa</a:t>
            </a:r>
            <a:endParaRPr lang="en-US" sz="1800" dirty="0">
              <a:solidFill>
                <a:schemeClr val="tx1"/>
              </a:solidFill>
              <a:latin typeface="Gill Sans" panose="020B0604020202020204" charset="0"/>
            </a:endParaRPr>
          </a:p>
        </p:txBody>
      </p:sp>
      <p:pic>
        <p:nvPicPr>
          <p:cNvPr id="21" name="Picture 20">
            <a:extLst>
              <a:ext uri="{FF2B5EF4-FFF2-40B4-BE49-F238E27FC236}">
                <a16:creationId xmlns:a16="http://schemas.microsoft.com/office/drawing/2014/main" id="{F6295340-C99E-9670-9F47-44DAFDC758D7}"/>
              </a:ext>
            </a:extLst>
          </p:cNvPr>
          <p:cNvPicPr>
            <a:picLocks noChangeAspect="1"/>
          </p:cNvPicPr>
          <p:nvPr/>
        </p:nvPicPr>
        <p:blipFill>
          <a:blip r:embed="rId4">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510840" y="3031341"/>
            <a:ext cx="2156161" cy="1718362"/>
          </a:xfrm>
          <a:prstGeom prst="rect">
            <a:avLst/>
          </a:prstGeom>
        </p:spPr>
      </p:pic>
      <p:pic>
        <p:nvPicPr>
          <p:cNvPr id="23" name="Picture 22">
            <a:extLst>
              <a:ext uri="{FF2B5EF4-FFF2-40B4-BE49-F238E27FC236}">
                <a16:creationId xmlns:a16="http://schemas.microsoft.com/office/drawing/2014/main" id="{0D115089-EEFA-BB1A-C37D-811C0F5278F9}"/>
              </a:ext>
            </a:extLst>
          </p:cNvPr>
          <p:cNvPicPr>
            <a:picLocks noChangeAspect="1"/>
          </p:cNvPicPr>
          <p:nvPr/>
        </p:nvPicPr>
        <p:blipFill>
          <a:blip r:embed="rId6">
            <a:extLst>
              <a:ext uri="{BEBA8EAE-BF5A-486C-A8C5-ECC9F3942E4B}">
                <a14:imgProps xmlns:a14="http://schemas.microsoft.com/office/drawing/2010/main">
                  <a14:imgLayer r:embed="rId7">
                    <a14:imgEffect>
                      <a14:saturation sat="400000"/>
                    </a14:imgEffect>
                  </a14:imgLayer>
                </a14:imgProps>
              </a:ext>
            </a:extLst>
          </a:blip>
          <a:stretch>
            <a:fillRect/>
          </a:stretch>
        </p:blipFill>
        <p:spPr>
          <a:xfrm>
            <a:off x="3231513" y="4749703"/>
            <a:ext cx="2528573" cy="1473068"/>
          </a:xfrm>
          <a:prstGeom prst="rect">
            <a:avLst/>
          </a:prstGeom>
        </p:spPr>
      </p:pic>
      <p:sp>
        <p:nvSpPr>
          <p:cNvPr id="24" name="Rectangle 23">
            <a:extLst>
              <a:ext uri="{FF2B5EF4-FFF2-40B4-BE49-F238E27FC236}">
                <a16:creationId xmlns:a16="http://schemas.microsoft.com/office/drawing/2014/main" id="{5CA623BF-B69B-0DF9-6E44-B40624728E73}"/>
              </a:ext>
            </a:extLst>
          </p:cNvPr>
          <p:cNvSpPr/>
          <p:nvPr/>
        </p:nvSpPr>
        <p:spPr>
          <a:xfrm>
            <a:off x="3682720" y="2757951"/>
            <a:ext cx="1938356" cy="4585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err="1">
                <a:solidFill>
                  <a:schemeClr val="tx1"/>
                </a:solidFill>
                <a:latin typeface="Gill Sans" panose="020B0604020202020204" charset="0"/>
              </a:rPr>
              <a:t>Sắp</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hàng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trình</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tự</a:t>
            </a:r>
            <a:endParaRPr lang="en-US" sz="1800" dirty="0">
              <a:solidFill>
                <a:schemeClr val="tx1"/>
              </a:solidFill>
              <a:latin typeface="Gill Sans" panose="020B0604020202020204" charset="0"/>
            </a:endParaRPr>
          </a:p>
        </p:txBody>
      </p:sp>
    </p:spTree>
    <p:extLst>
      <p:ext uri="{BB962C8B-B14F-4D97-AF65-F5344CB8AC3E}">
        <p14:creationId xmlns:p14="http://schemas.microsoft.com/office/powerpoint/2010/main" val="555624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0BFC38F8-760C-1AA3-264E-7994E317A75F}"/>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FCA9EF7F-D9B3-65D8-404A-27A559971A05}"/>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a:t>Các </a:t>
            </a:r>
            <a:r>
              <a:rPr lang="en-US" dirty="0" err="1"/>
              <a:t>chiến</a:t>
            </a:r>
            <a:r>
              <a:rPr lang="en-US" dirty="0"/>
              <a:t> </a:t>
            </a:r>
            <a:r>
              <a:rPr lang="en-US" dirty="0" err="1"/>
              <a:t>lược</a:t>
            </a:r>
            <a:r>
              <a:rPr lang="en-US" dirty="0"/>
              <a:t> </a:t>
            </a:r>
            <a:r>
              <a:rPr lang="en-US" dirty="0" err="1"/>
              <a:t>cốt</a:t>
            </a:r>
            <a:r>
              <a:rPr lang="en-US" dirty="0"/>
              <a:t> </a:t>
            </a:r>
            <a:r>
              <a:rPr lang="en-US" dirty="0" err="1"/>
              <a:t>lõi</a:t>
            </a:r>
            <a:endParaRPr dirty="0"/>
          </a:p>
        </p:txBody>
      </p:sp>
      <p:sp>
        <p:nvSpPr>
          <p:cNvPr id="3" name="Slide Number Placeholder 2">
            <a:extLst>
              <a:ext uri="{FF2B5EF4-FFF2-40B4-BE49-F238E27FC236}">
                <a16:creationId xmlns:a16="http://schemas.microsoft.com/office/drawing/2014/main" id="{8BD73C56-A549-AD3E-40BE-DB3FB12FA24C}"/>
              </a:ext>
            </a:extLst>
          </p:cNvPr>
          <p:cNvSpPr>
            <a:spLocks noGrp="1"/>
          </p:cNvSpPr>
          <p:nvPr>
            <p:ph type="sldNum" idx="12"/>
          </p:nvPr>
        </p:nvSpPr>
        <p:spPr/>
        <p:txBody>
          <a:bodyPr/>
          <a:lstStyle/>
          <a:p>
            <a:r>
              <a:rPr lang="en-US" dirty="0"/>
              <a:t>6</a:t>
            </a:r>
          </a:p>
        </p:txBody>
      </p:sp>
      <p:pic>
        <p:nvPicPr>
          <p:cNvPr id="5" name="Picture 4">
            <a:extLst>
              <a:ext uri="{FF2B5EF4-FFF2-40B4-BE49-F238E27FC236}">
                <a16:creationId xmlns:a16="http://schemas.microsoft.com/office/drawing/2014/main" id="{07B6C965-DC72-E6C0-1E64-67913C2C4E30}"/>
              </a:ext>
            </a:extLst>
          </p:cNvPr>
          <p:cNvPicPr>
            <a:picLocks noChangeAspect="1"/>
          </p:cNvPicPr>
          <p:nvPr/>
        </p:nvPicPr>
        <p:blipFill>
          <a:blip r:embed="rId3"/>
          <a:stretch>
            <a:fillRect/>
          </a:stretch>
        </p:blipFill>
        <p:spPr>
          <a:xfrm>
            <a:off x="457200" y="1512528"/>
            <a:ext cx="4320000" cy="611639"/>
          </a:xfrm>
          <a:prstGeom prst="rect">
            <a:avLst/>
          </a:prstGeom>
        </p:spPr>
      </p:pic>
      <p:sp>
        <p:nvSpPr>
          <p:cNvPr id="6" name="Rectangle 5">
            <a:extLst>
              <a:ext uri="{FF2B5EF4-FFF2-40B4-BE49-F238E27FC236}">
                <a16:creationId xmlns:a16="http://schemas.microsoft.com/office/drawing/2014/main" id="{15A67771-8C50-81FF-8890-CCB85A75731A}"/>
              </a:ext>
            </a:extLst>
          </p:cNvPr>
          <p:cNvSpPr/>
          <p:nvPr/>
        </p:nvSpPr>
        <p:spPr>
          <a:xfrm>
            <a:off x="4988224" y="1323047"/>
            <a:ext cx="3698576" cy="990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err="1">
                <a:solidFill>
                  <a:schemeClr val="tx1"/>
                </a:solidFill>
                <a:latin typeface="Gill Sans" panose="020B0604020202020204" charset="0"/>
              </a:rPr>
              <a:t>Toàn</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cục</a:t>
            </a:r>
            <a:r>
              <a:rPr lang="en-US" sz="1800" b="1" dirty="0">
                <a:solidFill>
                  <a:schemeClr val="tx1"/>
                </a:solidFill>
                <a:latin typeface="Gill Sans" panose="020B0604020202020204" charset="0"/>
              </a:rPr>
              <a:t> (Global Alignment)</a:t>
            </a:r>
          </a:p>
          <a:p>
            <a:pPr algn="just"/>
            <a:r>
              <a:rPr lang="en-US" sz="1800" dirty="0" err="1">
                <a:solidFill>
                  <a:schemeClr val="tx1"/>
                </a:solidFill>
                <a:latin typeface="Gill Sans" panose="020B0604020202020204" charset="0"/>
              </a:rPr>
              <a:t>Khớp</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toàn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bộ</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chiều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dài</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Phù</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hợp</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cho</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các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chuỗi</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có</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độ</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dài</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tương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đương</a:t>
            </a:r>
            <a:r>
              <a:rPr lang="en-US" sz="1800" dirty="0">
                <a:solidFill>
                  <a:schemeClr val="tx1"/>
                </a:solidFill>
                <a:latin typeface="Gill Sans" panose="020B0604020202020204" charset="0"/>
              </a:rPr>
              <a:t>.</a:t>
            </a:r>
          </a:p>
        </p:txBody>
      </p:sp>
      <p:pic>
        <p:nvPicPr>
          <p:cNvPr id="7" name="Picture 6">
            <a:extLst>
              <a:ext uri="{FF2B5EF4-FFF2-40B4-BE49-F238E27FC236}">
                <a16:creationId xmlns:a16="http://schemas.microsoft.com/office/drawing/2014/main" id="{D409A19C-BA71-A03F-F586-5E612E16C1D0}"/>
              </a:ext>
            </a:extLst>
          </p:cNvPr>
          <p:cNvPicPr>
            <a:picLocks noChangeAspect="1"/>
          </p:cNvPicPr>
          <p:nvPr/>
        </p:nvPicPr>
        <p:blipFill>
          <a:blip r:embed="rId4"/>
          <a:srcRect/>
          <a:stretch/>
        </p:blipFill>
        <p:spPr>
          <a:xfrm>
            <a:off x="457200" y="2932637"/>
            <a:ext cx="4320000" cy="606060"/>
          </a:xfrm>
          <a:prstGeom prst="rect">
            <a:avLst/>
          </a:prstGeom>
        </p:spPr>
      </p:pic>
      <p:sp>
        <p:nvSpPr>
          <p:cNvPr id="8" name="Rectangle 7">
            <a:extLst>
              <a:ext uri="{FF2B5EF4-FFF2-40B4-BE49-F238E27FC236}">
                <a16:creationId xmlns:a16="http://schemas.microsoft.com/office/drawing/2014/main" id="{E7F99348-AACB-6385-FECF-D0C30C261C8B}"/>
              </a:ext>
            </a:extLst>
          </p:cNvPr>
          <p:cNvSpPr/>
          <p:nvPr/>
        </p:nvSpPr>
        <p:spPr>
          <a:xfrm>
            <a:off x="4988224" y="2740366"/>
            <a:ext cx="3698576" cy="11001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err="1">
                <a:solidFill>
                  <a:schemeClr val="tx1"/>
                </a:solidFill>
                <a:latin typeface="Gill Sans" panose="020B0604020202020204" charset="0"/>
              </a:rPr>
              <a:t>Địa</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phương</a:t>
            </a:r>
            <a:r>
              <a:rPr lang="en-US" sz="1800" b="1" dirty="0">
                <a:solidFill>
                  <a:schemeClr val="tx1"/>
                </a:solidFill>
                <a:latin typeface="Gill Sans" panose="020B0604020202020204" charset="0"/>
              </a:rPr>
              <a:t> (Local Alignment)</a:t>
            </a:r>
          </a:p>
          <a:p>
            <a:pPr algn="just"/>
            <a:r>
              <a:rPr lang="en-US" sz="1800" dirty="0" err="1">
                <a:solidFill>
                  <a:schemeClr val="tx1"/>
                </a:solidFill>
                <a:latin typeface="Gill Sans" panose="020B0604020202020204" charset="0"/>
              </a:rPr>
              <a:t>Không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bắt</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buộc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sắp</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hàng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toàn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bộ</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chỉ</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tìm</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những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chuỗi</a:t>
            </a:r>
            <a:r>
              <a:rPr lang="en-US" sz="1800" dirty="0">
                <a:solidFill>
                  <a:schemeClr val="tx1"/>
                </a:solidFill>
                <a:latin typeface="Gill Sans" panose="020B0604020202020204" charset="0"/>
              </a:rPr>
              <a:t> con </a:t>
            </a:r>
            <a:r>
              <a:rPr lang="en-US" sz="1800" dirty="0" err="1">
                <a:solidFill>
                  <a:schemeClr val="tx1"/>
                </a:solidFill>
                <a:latin typeface="Gill Sans" panose="020B0604020202020204" charset="0"/>
              </a:rPr>
              <a:t>giống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nhau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nhất</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và</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bỏ</a:t>
            </a:r>
            <a:r>
              <a:rPr lang="en-US" sz="1800" dirty="0">
                <a:solidFill>
                  <a:schemeClr val="tx1"/>
                </a:solidFill>
                <a:latin typeface="Gill Sans" panose="020B0604020202020204" charset="0"/>
              </a:rPr>
              <a:t> qua </a:t>
            </a:r>
            <a:r>
              <a:rPr lang="en-US" sz="1800" dirty="0" err="1">
                <a:solidFill>
                  <a:schemeClr val="tx1"/>
                </a:solidFill>
                <a:latin typeface="Gill Sans" panose="020B0604020202020204" charset="0"/>
              </a:rPr>
              <a:t>các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phần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dư</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thừa</a:t>
            </a:r>
            <a:r>
              <a:rPr lang="en-US" sz="1800" dirty="0">
                <a:solidFill>
                  <a:schemeClr val="tx1"/>
                </a:solidFill>
                <a:latin typeface="Gill Sans" panose="020B0604020202020204" charset="0"/>
              </a:rPr>
              <a:t>.</a:t>
            </a:r>
          </a:p>
        </p:txBody>
      </p:sp>
      <p:pic>
        <p:nvPicPr>
          <p:cNvPr id="9" name="Picture 8">
            <a:extLst>
              <a:ext uri="{FF2B5EF4-FFF2-40B4-BE49-F238E27FC236}">
                <a16:creationId xmlns:a16="http://schemas.microsoft.com/office/drawing/2014/main" id="{94B82F36-5E0E-6BB3-8098-EBCFAADAE941}"/>
              </a:ext>
            </a:extLst>
          </p:cNvPr>
          <p:cNvPicPr>
            <a:picLocks noChangeAspect="1"/>
          </p:cNvPicPr>
          <p:nvPr/>
        </p:nvPicPr>
        <p:blipFill>
          <a:blip r:embed="rId5"/>
          <a:srcRect/>
          <a:stretch/>
        </p:blipFill>
        <p:spPr>
          <a:xfrm>
            <a:off x="396240" y="4546378"/>
            <a:ext cx="4320000" cy="592179"/>
          </a:xfrm>
          <a:prstGeom prst="rect">
            <a:avLst/>
          </a:prstGeom>
        </p:spPr>
      </p:pic>
      <p:sp>
        <p:nvSpPr>
          <p:cNvPr id="10" name="Rectangle 9">
            <a:extLst>
              <a:ext uri="{FF2B5EF4-FFF2-40B4-BE49-F238E27FC236}">
                <a16:creationId xmlns:a16="http://schemas.microsoft.com/office/drawing/2014/main" id="{DB1CDCE6-C9F9-F9F6-0351-0B9CA8F46CD0}"/>
              </a:ext>
            </a:extLst>
          </p:cNvPr>
          <p:cNvSpPr/>
          <p:nvPr/>
        </p:nvSpPr>
        <p:spPr>
          <a:xfrm>
            <a:off x="4988224" y="4342103"/>
            <a:ext cx="3759536" cy="15126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a:solidFill>
                  <a:schemeClr val="tx1"/>
                </a:solidFill>
                <a:latin typeface="Gill Sans" panose="020B0604020202020204" charset="0"/>
              </a:rPr>
              <a:t>Bán </a:t>
            </a:r>
            <a:r>
              <a:rPr lang="en-US" sz="1800" b="1" dirty="0" err="1">
                <a:solidFill>
                  <a:schemeClr val="tx1"/>
                </a:solidFill>
                <a:latin typeface="Gill Sans" panose="020B0604020202020204" charset="0"/>
              </a:rPr>
              <a:t>toàn</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cục</a:t>
            </a:r>
            <a:r>
              <a:rPr lang="en-US" sz="1800" b="1" dirty="0">
                <a:solidFill>
                  <a:schemeClr val="tx1"/>
                </a:solidFill>
                <a:latin typeface="Gill Sans" panose="020B0604020202020204" charset="0"/>
              </a:rPr>
              <a:t> (Semi-global Alignment)</a:t>
            </a:r>
          </a:p>
          <a:p>
            <a:pPr algn="just"/>
            <a:r>
              <a:rPr lang="en-US" sz="1800" dirty="0" err="1">
                <a:solidFill>
                  <a:schemeClr val="tx1"/>
                </a:solidFill>
                <a:latin typeface="Gill Sans" panose="020B0604020202020204" charset="0"/>
              </a:rPr>
              <a:t>Ép</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sắp</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hàng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toàn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bộ</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chiều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dài</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của</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trình</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tự</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truy</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vấn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vào</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trình</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tự</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tham</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chiếu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không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phạt</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những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phần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thừa</a:t>
            </a:r>
            <a:r>
              <a:rPr lang="en-US" sz="1800" dirty="0">
                <a:solidFill>
                  <a:schemeClr val="tx1"/>
                </a:solidFill>
                <a:latin typeface="Gill Sans" panose="020B0604020202020204" charset="0"/>
              </a:rPr>
              <a:t>.</a:t>
            </a:r>
          </a:p>
        </p:txBody>
      </p:sp>
    </p:spTree>
    <p:extLst>
      <p:ext uri="{BB962C8B-B14F-4D97-AF65-F5344CB8AC3E}">
        <p14:creationId xmlns:p14="http://schemas.microsoft.com/office/powerpoint/2010/main" val="3066328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01575899-1473-BFEA-ACDE-5E2405ECA1FD}"/>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BB495E9D-6D02-4054-283B-F54B04335BA4}"/>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err="1"/>
              <a:t>Phân</a:t>
            </a:r>
            <a:r>
              <a:rPr lang="en-US" dirty="0"/>
              <a:t> </a:t>
            </a:r>
            <a:r>
              <a:rPr lang="en-US" dirty="0" err="1"/>
              <a:t>loại</a:t>
            </a:r>
            <a:r>
              <a:rPr lang="en-US" dirty="0"/>
              <a:t> </a:t>
            </a:r>
            <a:r>
              <a:rPr lang="en-US" dirty="0" err="1"/>
              <a:t>theo</a:t>
            </a:r>
            <a:r>
              <a:rPr lang="en-US" dirty="0"/>
              <a:t> </a:t>
            </a:r>
            <a:r>
              <a:rPr lang="en-US" dirty="0" err="1"/>
              <a:t>quy</a:t>
            </a:r>
            <a:r>
              <a:rPr lang="en-US" dirty="0"/>
              <a:t> </a:t>
            </a:r>
            <a:r>
              <a:rPr lang="en-US" dirty="0" err="1"/>
              <a:t>mô</a:t>
            </a:r>
            <a:r>
              <a:rPr lang="en-US" dirty="0"/>
              <a:t>: PSA vs. MSA</a:t>
            </a:r>
            <a:endParaRPr dirty="0"/>
          </a:p>
        </p:txBody>
      </p:sp>
      <p:sp>
        <p:nvSpPr>
          <p:cNvPr id="3" name="Slide Number Placeholder 2">
            <a:extLst>
              <a:ext uri="{FF2B5EF4-FFF2-40B4-BE49-F238E27FC236}">
                <a16:creationId xmlns:a16="http://schemas.microsoft.com/office/drawing/2014/main" id="{35DFFFA6-CBF5-D872-48B0-ABD4198A8B83}"/>
              </a:ext>
            </a:extLst>
          </p:cNvPr>
          <p:cNvSpPr>
            <a:spLocks noGrp="1"/>
          </p:cNvSpPr>
          <p:nvPr>
            <p:ph type="sldNum" idx="12"/>
          </p:nvPr>
        </p:nvSpPr>
        <p:spPr/>
        <p:txBody>
          <a:bodyPr/>
          <a:lstStyle/>
          <a:p>
            <a:r>
              <a:rPr lang="en-US" dirty="0"/>
              <a:t>7</a:t>
            </a:r>
          </a:p>
        </p:txBody>
      </p:sp>
      <p:sp>
        <p:nvSpPr>
          <p:cNvPr id="2" name="Rectangle 1">
            <a:extLst>
              <a:ext uri="{FF2B5EF4-FFF2-40B4-BE49-F238E27FC236}">
                <a16:creationId xmlns:a16="http://schemas.microsoft.com/office/drawing/2014/main" id="{0C218DA9-9D2D-BA1E-2E14-62465EEA63BE}"/>
              </a:ext>
            </a:extLst>
          </p:cNvPr>
          <p:cNvSpPr/>
          <p:nvPr/>
        </p:nvSpPr>
        <p:spPr>
          <a:xfrm>
            <a:off x="1417320" y="3991620"/>
            <a:ext cx="6480000" cy="1080000"/>
          </a:xfrm>
          <a:prstGeom prst="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err="1">
                <a:solidFill>
                  <a:sysClr val="windowText" lastClr="000000"/>
                </a:solidFill>
              </a:rPr>
              <a:t>Tầng</a:t>
            </a:r>
            <a:r>
              <a:rPr lang="en-US" sz="1500" b="1" dirty="0">
                <a:solidFill>
                  <a:sysClr val="windowText" lastClr="000000"/>
                </a:solidFill>
              </a:rPr>
              <a:t> 1: </a:t>
            </a:r>
            <a:r>
              <a:rPr lang="en-US" sz="1500" b="1" dirty="0" err="1">
                <a:solidFill>
                  <a:sysClr val="windowText" lastClr="000000"/>
                </a:solidFill>
              </a:rPr>
              <a:t>Sắp</a:t>
            </a:r>
            <a:r>
              <a:rPr lang="en-US" sz="1500" b="1" dirty="0">
                <a:solidFill>
                  <a:sysClr val="windowText" lastClr="000000"/>
                </a:solidFill>
              </a:rPr>
              <a:t> </a:t>
            </a:r>
            <a:r>
              <a:rPr lang="en-US" sz="1500" b="1" dirty="0" err="1">
                <a:solidFill>
                  <a:sysClr val="windowText" lastClr="000000"/>
                </a:solidFill>
              </a:rPr>
              <a:t>hàng</a:t>
            </a:r>
            <a:r>
              <a:rPr lang="en-US" sz="1500" b="1" dirty="0">
                <a:solidFill>
                  <a:sysClr val="windowText" lastClr="000000"/>
                </a:solidFill>
              </a:rPr>
              <a:t> </a:t>
            </a:r>
            <a:r>
              <a:rPr lang="en-US" sz="1500" b="1" dirty="0" err="1">
                <a:solidFill>
                  <a:sysClr val="windowText" lastClr="000000"/>
                </a:solidFill>
              </a:rPr>
              <a:t>hai</a:t>
            </a:r>
            <a:r>
              <a:rPr lang="en-US" sz="1500" b="1" dirty="0">
                <a:solidFill>
                  <a:sysClr val="windowText" lastClr="000000"/>
                </a:solidFill>
              </a:rPr>
              <a:t> </a:t>
            </a:r>
            <a:r>
              <a:rPr lang="en-US" sz="1500" b="1" dirty="0" err="1">
                <a:solidFill>
                  <a:sysClr val="windowText" lastClr="000000"/>
                </a:solidFill>
              </a:rPr>
              <a:t>trình</a:t>
            </a:r>
            <a:r>
              <a:rPr lang="en-US" sz="1500" b="1" dirty="0">
                <a:solidFill>
                  <a:sysClr val="windowText" lastClr="000000"/>
                </a:solidFill>
              </a:rPr>
              <a:t> </a:t>
            </a:r>
            <a:r>
              <a:rPr lang="en-US" sz="1500" b="1" dirty="0" err="1">
                <a:solidFill>
                  <a:sysClr val="windowText" lastClr="000000"/>
                </a:solidFill>
              </a:rPr>
              <a:t>tự</a:t>
            </a:r>
            <a:r>
              <a:rPr lang="en-US" sz="1500" b="1" dirty="0">
                <a:solidFill>
                  <a:sysClr val="windowText" lastClr="000000"/>
                </a:solidFill>
              </a:rPr>
              <a:t> (Pairwise Sequence Alignment – PSA)</a:t>
            </a:r>
          </a:p>
          <a:p>
            <a:pPr algn="ctr"/>
            <a:r>
              <a:rPr lang="en-US" dirty="0" err="1">
                <a:solidFill>
                  <a:sysClr val="windowText" lastClr="000000"/>
                </a:solidFill>
              </a:rPr>
              <a:t>Nền</a:t>
            </a:r>
            <a:r>
              <a:rPr lang="en-US" dirty="0">
                <a:solidFill>
                  <a:sysClr val="windowText" lastClr="000000"/>
                </a:solidFill>
              </a:rPr>
              <a:t> </a:t>
            </a:r>
            <a:r>
              <a:rPr lang="en-US" dirty="0" err="1">
                <a:solidFill>
                  <a:sysClr val="windowText" lastClr="000000"/>
                </a:solidFill>
              </a:rPr>
              <a:t>tảng</a:t>
            </a:r>
            <a:r>
              <a:rPr lang="en-US" dirty="0">
                <a:solidFill>
                  <a:sysClr val="windowText" lastClr="000000"/>
                </a:solidFill>
              </a:rPr>
              <a:t> </a:t>
            </a:r>
            <a:r>
              <a:rPr lang="en-US" dirty="0" err="1">
                <a:solidFill>
                  <a:sysClr val="windowText" lastClr="000000"/>
                </a:solidFill>
              </a:rPr>
              <a:t>lõi</a:t>
            </a:r>
            <a:r>
              <a:rPr lang="en-US" dirty="0">
                <a:solidFill>
                  <a:sysClr val="windowText" lastClr="000000"/>
                </a:solidFill>
              </a:rPr>
              <a:t> – So </a:t>
            </a:r>
            <a:r>
              <a:rPr lang="en-US" dirty="0" err="1">
                <a:solidFill>
                  <a:sysClr val="windowText" lastClr="000000"/>
                </a:solidFill>
              </a:rPr>
              <a:t>sánh</a:t>
            </a:r>
            <a:r>
              <a:rPr lang="en-US" dirty="0">
                <a:solidFill>
                  <a:sysClr val="windowText" lastClr="000000"/>
                </a:solidFill>
              </a:rPr>
              <a:t> </a:t>
            </a:r>
            <a:r>
              <a:rPr lang="en-US" dirty="0" err="1">
                <a:solidFill>
                  <a:sysClr val="windowText" lastClr="000000"/>
                </a:solidFill>
              </a:rPr>
              <a:t>chính</a:t>
            </a:r>
            <a:r>
              <a:rPr lang="en-US" dirty="0">
                <a:solidFill>
                  <a:sysClr val="windowText" lastClr="000000"/>
                </a:solidFill>
              </a:rPr>
              <a:t> </a:t>
            </a:r>
            <a:r>
              <a:rPr lang="en-US" dirty="0" err="1">
                <a:solidFill>
                  <a:sysClr val="windowText" lastClr="000000"/>
                </a:solidFill>
              </a:rPr>
              <a:t>xác</a:t>
            </a:r>
            <a:r>
              <a:rPr lang="en-US" dirty="0">
                <a:solidFill>
                  <a:sysClr val="windowText" lastClr="000000"/>
                </a:solidFill>
              </a:rPr>
              <a:t> </a:t>
            </a:r>
            <a:r>
              <a:rPr lang="en-US" dirty="0" err="1">
                <a:solidFill>
                  <a:sysClr val="windowText" lastClr="000000"/>
                </a:solidFill>
              </a:rPr>
              <a:t>một</a:t>
            </a:r>
            <a:r>
              <a:rPr lang="en-US" dirty="0">
                <a:solidFill>
                  <a:sysClr val="windowText" lastClr="000000"/>
                </a:solidFill>
              </a:rPr>
              <a:t> </a:t>
            </a:r>
            <a:r>
              <a:rPr lang="en-US" dirty="0" err="1">
                <a:solidFill>
                  <a:sysClr val="windowText" lastClr="000000"/>
                </a:solidFill>
              </a:rPr>
              <a:t>cặp</a:t>
            </a:r>
            <a:r>
              <a:rPr lang="en-US" dirty="0">
                <a:solidFill>
                  <a:sysClr val="windowText" lastClr="000000"/>
                </a:solidFill>
              </a:rPr>
              <a:t> </a:t>
            </a:r>
            <a:r>
              <a:rPr lang="en-US" dirty="0" err="1">
                <a:solidFill>
                  <a:sysClr val="windowText" lastClr="000000"/>
                </a:solidFill>
              </a:rPr>
              <a:t>trình</a:t>
            </a:r>
            <a:r>
              <a:rPr lang="en-US" dirty="0">
                <a:solidFill>
                  <a:sysClr val="windowText" lastClr="000000"/>
                </a:solidFill>
              </a:rPr>
              <a:t> </a:t>
            </a:r>
            <a:r>
              <a:rPr lang="en-US" dirty="0" err="1">
                <a:solidFill>
                  <a:sysClr val="windowText" lastClr="000000"/>
                </a:solidFill>
              </a:rPr>
              <a:t>tự</a:t>
            </a:r>
            <a:r>
              <a:rPr lang="en-US" dirty="0">
                <a:solidFill>
                  <a:sysClr val="windowText" lastClr="000000"/>
                </a:solidFill>
              </a:rPr>
              <a:t> </a:t>
            </a:r>
            <a:r>
              <a:rPr lang="en-US" dirty="0" err="1">
                <a:solidFill>
                  <a:sysClr val="windowText" lastClr="000000"/>
                </a:solidFill>
              </a:rPr>
              <a:t>với</a:t>
            </a:r>
            <a:r>
              <a:rPr lang="en-US" dirty="0">
                <a:solidFill>
                  <a:sysClr val="windowText" lastClr="000000"/>
                </a:solidFill>
              </a:rPr>
              <a:t> </a:t>
            </a:r>
            <a:r>
              <a:rPr lang="en-US" dirty="0" err="1">
                <a:solidFill>
                  <a:sysClr val="windowText" lastClr="000000"/>
                </a:solidFill>
              </a:rPr>
              <a:t>nhau</a:t>
            </a:r>
            <a:r>
              <a:rPr lang="en-US" dirty="0">
                <a:solidFill>
                  <a:sysClr val="windowText" lastClr="000000"/>
                </a:solidFill>
              </a:rPr>
              <a:t>.</a:t>
            </a:r>
          </a:p>
        </p:txBody>
      </p:sp>
      <p:sp>
        <p:nvSpPr>
          <p:cNvPr id="4" name="Rectangle 3">
            <a:extLst>
              <a:ext uri="{FF2B5EF4-FFF2-40B4-BE49-F238E27FC236}">
                <a16:creationId xmlns:a16="http://schemas.microsoft.com/office/drawing/2014/main" id="{E9D953BB-882E-FBF6-F1A9-57B1380D6A8D}"/>
              </a:ext>
            </a:extLst>
          </p:cNvPr>
          <p:cNvSpPr/>
          <p:nvPr/>
        </p:nvSpPr>
        <p:spPr>
          <a:xfrm>
            <a:off x="2137320" y="2787660"/>
            <a:ext cx="5040000" cy="1080000"/>
          </a:xfrm>
          <a:prstGeom prst="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err="1">
                <a:solidFill>
                  <a:sysClr val="windowText" lastClr="000000"/>
                </a:solidFill>
              </a:rPr>
              <a:t>Tầng</a:t>
            </a:r>
            <a:r>
              <a:rPr lang="en-US" sz="1500" b="1" dirty="0">
                <a:solidFill>
                  <a:sysClr val="windowText" lastClr="000000"/>
                </a:solidFill>
              </a:rPr>
              <a:t> 2: </a:t>
            </a:r>
            <a:r>
              <a:rPr lang="en-US" sz="1500" b="1" dirty="0" err="1">
                <a:solidFill>
                  <a:sysClr val="windowText" lastClr="000000"/>
                </a:solidFill>
              </a:rPr>
              <a:t>Máy</a:t>
            </a:r>
            <a:r>
              <a:rPr lang="en-US" sz="1500" b="1" dirty="0">
                <a:solidFill>
                  <a:sysClr val="windowText" lastClr="000000"/>
                </a:solidFill>
              </a:rPr>
              <a:t> </a:t>
            </a:r>
            <a:r>
              <a:rPr lang="en-US" sz="1500" b="1" dirty="0" err="1">
                <a:solidFill>
                  <a:sysClr val="windowText" lastClr="000000"/>
                </a:solidFill>
              </a:rPr>
              <a:t>lặp</a:t>
            </a:r>
            <a:r>
              <a:rPr lang="en-US" sz="1500" b="1" dirty="0">
                <a:solidFill>
                  <a:sysClr val="windowText" lastClr="000000"/>
                </a:solidFill>
              </a:rPr>
              <a:t> (Iterative Engine)</a:t>
            </a:r>
          </a:p>
          <a:p>
            <a:pPr algn="ctr"/>
            <a:r>
              <a:rPr lang="en-US" dirty="0" err="1">
                <a:solidFill>
                  <a:sysClr val="windowText" lastClr="000000"/>
                </a:solidFill>
              </a:rPr>
              <a:t>Hệ</a:t>
            </a:r>
            <a:r>
              <a:rPr lang="en-US" dirty="0">
                <a:solidFill>
                  <a:sysClr val="windowText" lastClr="000000"/>
                </a:solidFill>
              </a:rPr>
              <a:t> </a:t>
            </a:r>
            <a:r>
              <a:rPr lang="en-US" dirty="0" err="1">
                <a:solidFill>
                  <a:sysClr val="windowText" lastClr="000000"/>
                </a:solidFill>
              </a:rPr>
              <a:t>thống</a:t>
            </a:r>
            <a:r>
              <a:rPr lang="en-US" dirty="0">
                <a:solidFill>
                  <a:sysClr val="windowText" lastClr="000000"/>
                </a:solidFill>
              </a:rPr>
              <a:t> </a:t>
            </a:r>
            <a:r>
              <a:rPr lang="en-US" dirty="0" err="1">
                <a:solidFill>
                  <a:sysClr val="windowText" lastClr="000000"/>
                </a:solidFill>
              </a:rPr>
              <a:t>liên</a:t>
            </a:r>
            <a:r>
              <a:rPr lang="en-US" dirty="0">
                <a:solidFill>
                  <a:sysClr val="windowText" lastClr="000000"/>
                </a:solidFill>
              </a:rPr>
              <a:t> </a:t>
            </a:r>
            <a:r>
              <a:rPr lang="en-US" dirty="0" err="1">
                <a:solidFill>
                  <a:sysClr val="windowText" lastClr="000000"/>
                </a:solidFill>
              </a:rPr>
              <a:t>tục</a:t>
            </a:r>
            <a:r>
              <a:rPr lang="en-US" dirty="0">
                <a:solidFill>
                  <a:sysClr val="windowText" lastClr="000000"/>
                </a:solidFill>
              </a:rPr>
              <a:t> so </a:t>
            </a:r>
            <a:r>
              <a:rPr lang="en-US" dirty="0" err="1">
                <a:solidFill>
                  <a:sysClr val="windowText" lastClr="000000"/>
                </a:solidFill>
              </a:rPr>
              <a:t>sánh</a:t>
            </a:r>
            <a:r>
              <a:rPr lang="en-US" dirty="0">
                <a:solidFill>
                  <a:sysClr val="windowText" lastClr="000000"/>
                </a:solidFill>
              </a:rPr>
              <a:t> </a:t>
            </a:r>
            <a:r>
              <a:rPr lang="en-US" dirty="0" err="1">
                <a:solidFill>
                  <a:sysClr val="windowText" lastClr="000000"/>
                </a:solidFill>
              </a:rPr>
              <a:t>chéo</a:t>
            </a:r>
            <a:r>
              <a:rPr lang="en-US" dirty="0">
                <a:solidFill>
                  <a:sysClr val="windowText" lastClr="000000"/>
                </a:solidFill>
              </a:rPr>
              <a:t> </a:t>
            </a:r>
            <a:r>
              <a:rPr lang="en-US" dirty="0" err="1">
                <a:solidFill>
                  <a:sysClr val="windowText" lastClr="000000"/>
                </a:solidFill>
              </a:rPr>
              <a:t>từng</a:t>
            </a:r>
            <a:r>
              <a:rPr lang="en-US" dirty="0">
                <a:solidFill>
                  <a:sysClr val="windowText" lastClr="000000"/>
                </a:solidFill>
              </a:rPr>
              <a:t> </a:t>
            </a:r>
            <a:r>
              <a:rPr lang="en-US" dirty="0" err="1">
                <a:solidFill>
                  <a:sysClr val="windowText" lastClr="000000"/>
                </a:solidFill>
              </a:rPr>
              <a:t>cặp</a:t>
            </a:r>
            <a:r>
              <a:rPr lang="en-US" dirty="0">
                <a:solidFill>
                  <a:sysClr val="windowText" lastClr="000000"/>
                </a:solidFill>
              </a:rPr>
              <a:t> </a:t>
            </a:r>
            <a:r>
              <a:rPr lang="en-US" dirty="0" err="1">
                <a:solidFill>
                  <a:sysClr val="windowText" lastClr="000000"/>
                </a:solidFill>
              </a:rPr>
              <a:t>để</a:t>
            </a:r>
            <a:r>
              <a:rPr lang="en-US" dirty="0">
                <a:solidFill>
                  <a:sysClr val="windowText" lastClr="000000"/>
                </a:solidFill>
              </a:rPr>
              <a:t> </a:t>
            </a:r>
            <a:r>
              <a:rPr lang="en-US" dirty="0" err="1">
                <a:solidFill>
                  <a:sysClr val="windowText" lastClr="000000"/>
                </a:solidFill>
              </a:rPr>
              <a:t>tạo</a:t>
            </a:r>
            <a:r>
              <a:rPr lang="en-US" dirty="0">
                <a:solidFill>
                  <a:sysClr val="windowText" lastClr="000000"/>
                </a:solidFill>
              </a:rPr>
              <a:t> </a:t>
            </a:r>
            <a:r>
              <a:rPr lang="en-US" dirty="0" err="1">
                <a:solidFill>
                  <a:sysClr val="windowText" lastClr="000000"/>
                </a:solidFill>
              </a:rPr>
              <a:t>ra</a:t>
            </a:r>
            <a:r>
              <a:rPr lang="en-US" dirty="0">
                <a:solidFill>
                  <a:sysClr val="windowText" lastClr="000000"/>
                </a:solidFill>
              </a:rPr>
              <a:t> ma </a:t>
            </a:r>
            <a:r>
              <a:rPr lang="en-US" dirty="0" err="1">
                <a:solidFill>
                  <a:sysClr val="windowText" lastClr="000000"/>
                </a:solidFill>
              </a:rPr>
              <a:t>trận</a:t>
            </a:r>
            <a:r>
              <a:rPr lang="en-US" dirty="0">
                <a:solidFill>
                  <a:sysClr val="windowText" lastClr="000000"/>
                </a:solidFill>
              </a:rPr>
              <a:t> </a:t>
            </a:r>
            <a:r>
              <a:rPr lang="en-US" dirty="0" err="1">
                <a:solidFill>
                  <a:sysClr val="windowText" lastClr="000000"/>
                </a:solidFill>
              </a:rPr>
              <a:t>khoảng</a:t>
            </a:r>
            <a:r>
              <a:rPr lang="en-US" dirty="0">
                <a:solidFill>
                  <a:sysClr val="windowText" lastClr="000000"/>
                </a:solidFill>
              </a:rPr>
              <a:t> </a:t>
            </a:r>
            <a:r>
              <a:rPr lang="en-US" dirty="0" err="1">
                <a:solidFill>
                  <a:sysClr val="windowText" lastClr="000000"/>
                </a:solidFill>
              </a:rPr>
              <a:t>cách</a:t>
            </a:r>
            <a:r>
              <a:rPr lang="en-US" dirty="0">
                <a:solidFill>
                  <a:sysClr val="windowText" lastClr="000000"/>
                </a:solidFill>
              </a:rPr>
              <a:t> </a:t>
            </a:r>
            <a:r>
              <a:rPr lang="en-US" dirty="0" err="1">
                <a:solidFill>
                  <a:sysClr val="windowText" lastClr="000000"/>
                </a:solidFill>
              </a:rPr>
              <a:t>giữa</a:t>
            </a:r>
            <a:r>
              <a:rPr lang="en-US" dirty="0">
                <a:solidFill>
                  <a:sysClr val="windowText" lastClr="000000"/>
                </a:solidFill>
              </a:rPr>
              <a:t> </a:t>
            </a:r>
            <a:r>
              <a:rPr lang="en-US" dirty="0" err="1">
                <a:solidFill>
                  <a:sysClr val="windowText" lastClr="000000"/>
                </a:solidFill>
              </a:rPr>
              <a:t>tất</a:t>
            </a:r>
            <a:r>
              <a:rPr lang="en-US" dirty="0">
                <a:solidFill>
                  <a:sysClr val="windowText" lastClr="000000"/>
                </a:solidFill>
              </a:rPr>
              <a:t> </a:t>
            </a:r>
            <a:r>
              <a:rPr lang="en-US" dirty="0" err="1">
                <a:solidFill>
                  <a:sysClr val="windowText" lastClr="000000"/>
                </a:solidFill>
              </a:rPr>
              <a:t>cả</a:t>
            </a:r>
            <a:r>
              <a:rPr lang="en-US" dirty="0">
                <a:solidFill>
                  <a:sysClr val="windowText" lastClr="000000"/>
                </a:solidFill>
              </a:rPr>
              <a:t> </a:t>
            </a:r>
            <a:r>
              <a:rPr lang="en-US" dirty="0" err="1">
                <a:solidFill>
                  <a:sysClr val="windowText" lastClr="000000"/>
                </a:solidFill>
              </a:rPr>
              <a:t>các</a:t>
            </a:r>
            <a:r>
              <a:rPr lang="en-US" dirty="0">
                <a:solidFill>
                  <a:sysClr val="windowText" lastClr="000000"/>
                </a:solidFill>
              </a:rPr>
              <a:t> </a:t>
            </a:r>
            <a:r>
              <a:rPr lang="en-US" dirty="0" err="1">
                <a:solidFill>
                  <a:sysClr val="windowText" lastClr="000000"/>
                </a:solidFill>
              </a:rPr>
              <a:t>cặp</a:t>
            </a:r>
            <a:r>
              <a:rPr lang="en-US" dirty="0">
                <a:solidFill>
                  <a:sysClr val="windowText" lastClr="000000"/>
                </a:solidFill>
              </a:rPr>
              <a:t>. </a:t>
            </a:r>
            <a:r>
              <a:rPr lang="en-US" dirty="0" err="1">
                <a:solidFill>
                  <a:sysClr val="windowText" lastClr="000000"/>
                </a:solidFill>
              </a:rPr>
              <a:t>Từ</a:t>
            </a:r>
            <a:r>
              <a:rPr lang="en-US" dirty="0">
                <a:solidFill>
                  <a:sysClr val="windowText" lastClr="000000"/>
                </a:solidFill>
              </a:rPr>
              <a:t> </a:t>
            </a:r>
            <a:r>
              <a:rPr lang="en-US" dirty="0" err="1">
                <a:solidFill>
                  <a:sysClr val="windowText" lastClr="000000"/>
                </a:solidFill>
              </a:rPr>
              <a:t>đó</a:t>
            </a:r>
            <a:r>
              <a:rPr lang="en-US" dirty="0">
                <a:solidFill>
                  <a:sysClr val="windowText" lastClr="000000"/>
                </a:solidFill>
              </a:rPr>
              <a:t> </a:t>
            </a:r>
            <a:r>
              <a:rPr lang="en-US" dirty="0" err="1">
                <a:solidFill>
                  <a:sysClr val="windowText" lastClr="000000"/>
                </a:solidFill>
              </a:rPr>
              <a:t>tạo</a:t>
            </a:r>
            <a:r>
              <a:rPr lang="en-US" dirty="0">
                <a:solidFill>
                  <a:sysClr val="windowText" lastClr="000000"/>
                </a:solidFill>
              </a:rPr>
              <a:t> </a:t>
            </a:r>
            <a:r>
              <a:rPr lang="en-US" dirty="0" err="1">
                <a:solidFill>
                  <a:sysClr val="windowText" lastClr="000000"/>
                </a:solidFill>
              </a:rPr>
              <a:t>ra</a:t>
            </a:r>
            <a:r>
              <a:rPr lang="en-US" dirty="0">
                <a:solidFill>
                  <a:sysClr val="windowText" lastClr="000000"/>
                </a:solidFill>
              </a:rPr>
              <a:t> </a:t>
            </a:r>
            <a:r>
              <a:rPr lang="en-US" dirty="0" err="1">
                <a:solidFill>
                  <a:sysClr val="windowText" lastClr="000000"/>
                </a:solidFill>
              </a:rPr>
              <a:t>cây</a:t>
            </a:r>
            <a:r>
              <a:rPr lang="en-US" dirty="0">
                <a:solidFill>
                  <a:sysClr val="windowText" lastClr="000000"/>
                </a:solidFill>
              </a:rPr>
              <a:t> </a:t>
            </a:r>
            <a:r>
              <a:rPr lang="en-US" dirty="0" err="1">
                <a:solidFill>
                  <a:sysClr val="windowText" lastClr="000000"/>
                </a:solidFill>
              </a:rPr>
              <a:t>hướng</a:t>
            </a:r>
            <a:r>
              <a:rPr lang="en-US" dirty="0">
                <a:solidFill>
                  <a:sysClr val="windowText" lastClr="000000"/>
                </a:solidFill>
              </a:rPr>
              <a:t> </a:t>
            </a:r>
            <a:r>
              <a:rPr lang="en-US" dirty="0" err="1">
                <a:solidFill>
                  <a:sysClr val="windowText" lastClr="000000"/>
                </a:solidFill>
              </a:rPr>
              <a:t>dẫn</a:t>
            </a:r>
            <a:r>
              <a:rPr lang="en-US" dirty="0">
                <a:solidFill>
                  <a:sysClr val="windowText" lastClr="000000"/>
                </a:solidFill>
              </a:rPr>
              <a:t> </a:t>
            </a:r>
            <a:r>
              <a:rPr lang="en-US" dirty="0" err="1">
                <a:solidFill>
                  <a:sysClr val="windowText" lastClr="000000"/>
                </a:solidFill>
              </a:rPr>
              <a:t>cho</a:t>
            </a:r>
            <a:r>
              <a:rPr lang="en-US" dirty="0">
                <a:solidFill>
                  <a:sysClr val="windowText" lastClr="000000"/>
                </a:solidFill>
              </a:rPr>
              <a:t> </a:t>
            </a:r>
            <a:r>
              <a:rPr lang="en-US" dirty="0" err="1">
                <a:solidFill>
                  <a:sysClr val="windowText" lastClr="000000"/>
                </a:solidFill>
              </a:rPr>
              <a:t>sắp</a:t>
            </a:r>
            <a:r>
              <a:rPr lang="en-US" dirty="0">
                <a:solidFill>
                  <a:sysClr val="windowText" lastClr="000000"/>
                </a:solidFill>
              </a:rPr>
              <a:t> </a:t>
            </a:r>
            <a:r>
              <a:rPr lang="en-US" dirty="0" err="1">
                <a:solidFill>
                  <a:sysClr val="windowText" lastClr="000000"/>
                </a:solidFill>
              </a:rPr>
              <a:t>hàng</a:t>
            </a:r>
            <a:r>
              <a:rPr lang="en-US" dirty="0">
                <a:solidFill>
                  <a:sysClr val="windowText" lastClr="000000"/>
                </a:solidFill>
              </a:rPr>
              <a:t> </a:t>
            </a:r>
            <a:r>
              <a:rPr lang="en-US" dirty="0" err="1">
                <a:solidFill>
                  <a:sysClr val="windowText" lastClr="000000"/>
                </a:solidFill>
              </a:rPr>
              <a:t>đa</a:t>
            </a:r>
            <a:r>
              <a:rPr lang="en-US" dirty="0">
                <a:solidFill>
                  <a:sysClr val="windowText" lastClr="000000"/>
                </a:solidFill>
              </a:rPr>
              <a:t> </a:t>
            </a:r>
            <a:r>
              <a:rPr lang="en-US" dirty="0" err="1">
                <a:solidFill>
                  <a:sysClr val="windowText" lastClr="000000"/>
                </a:solidFill>
              </a:rPr>
              <a:t>trình</a:t>
            </a:r>
            <a:r>
              <a:rPr lang="en-US" dirty="0">
                <a:solidFill>
                  <a:sysClr val="windowText" lastClr="000000"/>
                </a:solidFill>
              </a:rPr>
              <a:t> </a:t>
            </a:r>
            <a:r>
              <a:rPr lang="en-US" dirty="0" err="1">
                <a:solidFill>
                  <a:sysClr val="windowText" lastClr="000000"/>
                </a:solidFill>
              </a:rPr>
              <a:t>tự</a:t>
            </a:r>
            <a:r>
              <a:rPr lang="en-US" dirty="0">
                <a:solidFill>
                  <a:sysClr val="windowText" lastClr="000000"/>
                </a:solidFill>
              </a:rPr>
              <a:t>. </a:t>
            </a:r>
          </a:p>
        </p:txBody>
      </p:sp>
      <p:sp>
        <p:nvSpPr>
          <p:cNvPr id="11" name="Rectangle 10">
            <a:extLst>
              <a:ext uri="{FF2B5EF4-FFF2-40B4-BE49-F238E27FC236}">
                <a16:creationId xmlns:a16="http://schemas.microsoft.com/office/drawing/2014/main" id="{6E931DDA-6FC9-8EA1-4D36-161EA3068FE0}"/>
              </a:ext>
            </a:extLst>
          </p:cNvPr>
          <p:cNvSpPr/>
          <p:nvPr/>
        </p:nvSpPr>
        <p:spPr>
          <a:xfrm>
            <a:off x="2677320" y="1583700"/>
            <a:ext cx="3960000" cy="1080000"/>
          </a:xfrm>
          <a:prstGeom prst="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err="1">
                <a:solidFill>
                  <a:sysClr val="windowText" lastClr="000000"/>
                </a:solidFill>
              </a:rPr>
              <a:t>Tầng</a:t>
            </a:r>
            <a:r>
              <a:rPr lang="en-US" sz="1500" b="1" dirty="0">
                <a:solidFill>
                  <a:sysClr val="windowText" lastClr="000000"/>
                </a:solidFill>
              </a:rPr>
              <a:t> 3: </a:t>
            </a:r>
            <a:r>
              <a:rPr lang="en-US" sz="1500" b="1" dirty="0" err="1">
                <a:solidFill>
                  <a:sysClr val="windowText" lastClr="000000"/>
                </a:solidFill>
              </a:rPr>
              <a:t>Sắp</a:t>
            </a:r>
            <a:r>
              <a:rPr lang="en-US" sz="1500" b="1" dirty="0">
                <a:solidFill>
                  <a:sysClr val="windowText" lastClr="000000"/>
                </a:solidFill>
              </a:rPr>
              <a:t> </a:t>
            </a:r>
            <a:r>
              <a:rPr lang="en-US" sz="1500" b="1" dirty="0" err="1">
                <a:solidFill>
                  <a:sysClr val="windowText" lastClr="000000"/>
                </a:solidFill>
              </a:rPr>
              <a:t>hàng</a:t>
            </a:r>
            <a:r>
              <a:rPr lang="en-US" sz="1500" b="1" dirty="0">
                <a:solidFill>
                  <a:sysClr val="windowText" lastClr="000000"/>
                </a:solidFill>
              </a:rPr>
              <a:t> </a:t>
            </a:r>
            <a:r>
              <a:rPr lang="en-US" sz="1500" b="1" dirty="0" err="1">
                <a:solidFill>
                  <a:sysClr val="windowText" lastClr="000000"/>
                </a:solidFill>
              </a:rPr>
              <a:t>đa</a:t>
            </a:r>
            <a:r>
              <a:rPr lang="en-US" sz="1500" b="1" dirty="0">
                <a:solidFill>
                  <a:sysClr val="windowText" lastClr="000000"/>
                </a:solidFill>
              </a:rPr>
              <a:t> </a:t>
            </a:r>
            <a:r>
              <a:rPr lang="en-US" sz="1500" b="1" dirty="0" err="1">
                <a:solidFill>
                  <a:sysClr val="windowText" lastClr="000000"/>
                </a:solidFill>
              </a:rPr>
              <a:t>trình</a:t>
            </a:r>
            <a:r>
              <a:rPr lang="en-US" sz="1500" b="1" dirty="0">
                <a:solidFill>
                  <a:sysClr val="windowText" lastClr="000000"/>
                </a:solidFill>
              </a:rPr>
              <a:t> </a:t>
            </a:r>
            <a:r>
              <a:rPr lang="en-US" sz="1500" b="1" dirty="0" err="1">
                <a:solidFill>
                  <a:sysClr val="windowText" lastClr="000000"/>
                </a:solidFill>
              </a:rPr>
              <a:t>tự</a:t>
            </a:r>
            <a:endParaRPr lang="en-US" sz="1500" b="1" dirty="0">
              <a:solidFill>
                <a:sysClr val="windowText" lastClr="000000"/>
              </a:solidFill>
            </a:endParaRPr>
          </a:p>
          <a:p>
            <a:pPr algn="ctr"/>
            <a:r>
              <a:rPr lang="en-US" sz="1500" b="1" dirty="0">
                <a:solidFill>
                  <a:sysClr val="windowText" lastClr="000000"/>
                </a:solidFill>
              </a:rPr>
              <a:t>Multiple Sequence </a:t>
            </a:r>
            <a:r>
              <a:rPr lang="en-US" sz="1500" b="1" dirty="0" err="1">
                <a:solidFill>
                  <a:sysClr val="windowText" lastClr="000000"/>
                </a:solidFill>
              </a:rPr>
              <a:t>Aligment</a:t>
            </a:r>
            <a:r>
              <a:rPr lang="en-US" sz="1500" b="1" dirty="0">
                <a:solidFill>
                  <a:sysClr val="windowText" lastClr="000000"/>
                </a:solidFill>
              </a:rPr>
              <a:t> (MSA)</a:t>
            </a:r>
          </a:p>
          <a:p>
            <a:pPr algn="ctr"/>
            <a:r>
              <a:rPr lang="en-US" dirty="0">
                <a:solidFill>
                  <a:sysClr val="windowText" lastClr="000000"/>
                </a:solidFill>
              </a:rPr>
              <a:t>So </a:t>
            </a:r>
            <a:r>
              <a:rPr lang="en-US" dirty="0" err="1">
                <a:solidFill>
                  <a:sysClr val="windowText" lastClr="000000"/>
                </a:solidFill>
              </a:rPr>
              <a:t>sánh</a:t>
            </a:r>
            <a:r>
              <a:rPr lang="en-US" dirty="0">
                <a:solidFill>
                  <a:sysClr val="windowText" lastClr="000000"/>
                </a:solidFill>
              </a:rPr>
              <a:t> </a:t>
            </a:r>
            <a:r>
              <a:rPr lang="en-US" dirty="0" err="1">
                <a:solidFill>
                  <a:sysClr val="windowText" lastClr="000000"/>
                </a:solidFill>
              </a:rPr>
              <a:t>đồng</a:t>
            </a:r>
            <a:r>
              <a:rPr lang="en-US" dirty="0">
                <a:solidFill>
                  <a:sysClr val="windowText" lastClr="000000"/>
                </a:solidFill>
              </a:rPr>
              <a:t> </a:t>
            </a:r>
            <a:r>
              <a:rPr lang="en-US" dirty="0" err="1">
                <a:solidFill>
                  <a:sysClr val="windowText" lastClr="000000"/>
                </a:solidFill>
              </a:rPr>
              <a:t>thời</a:t>
            </a:r>
            <a:r>
              <a:rPr lang="en-US" dirty="0">
                <a:solidFill>
                  <a:sysClr val="windowText" lastClr="000000"/>
                </a:solidFill>
              </a:rPr>
              <a:t> </a:t>
            </a:r>
            <a:r>
              <a:rPr lang="en-US" dirty="0" err="1">
                <a:solidFill>
                  <a:sysClr val="windowText" lastClr="000000"/>
                </a:solidFill>
              </a:rPr>
              <a:t>nhiều</a:t>
            </a:r>
            <a:r>
              <a:rPr lang="en-US" dirty="0">
                <a:solidFill>
                  <a:sysClr val="windowText" lastClr="000000"/>
                </a:solidFill>
              </a:rPr>
              <a:t> </a:t>
            </a:r>
            <a:r>
              <a:rPr lang="en-US" dirty="0" err="1">
                <a:solidFill>
                  <a:sysClr val="windowText" lastClr="000000"/>
                </a:solidFill>
              </a:rPr>
              <a:t>trình</a:t>
            </a:r>
            <a:r>
              <a:rPr lang="en-US" dirty="0">
                <a:solidFill>
                  <a:sysClr val="windowText" lastClr="000000"/>
                </a:solidFill>
              </a:rPr>
              <a:t> </a:t>
            </a:r>
            <a:r>
              <a:rPr lang="en-US" dirty="0" err="1">
                <a:solidFill>
                  <a:sysClr val="windowText" lastClr="000000"/>
                </a:solidFill>
              </a:rPr>
              <a:t>tự</a:t>
            </a:r>
            <a:r>
              <a:rPr lang="en-US" dirty="0">
                <a:solidFill>
                  <a:sysClr val="windowText" lastClr="000000"/>
                </a:solidFill>
              </a:rPr>
              <a:t> </a:t>
            </a:r>
            <a:r>
              <a:rPr lang="en-US" dirty="0" err="1">
                <a:solidFill>
                  <a:sysClr val="windowText" lastClr="000000"/>
                </a:solidFill>
              </a:rPr>
              <a:t>cùng</a:t>
            </a:r>
            <a:r>
              <a:rPr lang="en-US" dirty="0">
                <a:solidFill>
                  <a:sysClr val="windowText" lastClr="000000"/>
                </a:solidFill>
              </a:rPr>
              <a:t> </a:t>
            </a:r>
            <a:r>
              <a:rPr lang="en-US" dirty="0" err="1">
                <a:solidFill>
                  <a:sysClr val="windowText" lastClr="000000"/>
                </a:solidFill>
              </a:rPr>
              <a:t>lúc</a:t>
            </a:r>
            <a:r>
              <a:rPr lang="en-US" dirty="0">
                <a:solidFill>
                  <a:sysClr val="windowText" lastClr="000000"/>
                </a:solidFill>
              </a:rPr>
              <a:t>.</a:t>
            </a:r>
          </a:p>
        </p:txBody>
      </p:sp>
      <p:sp>
        <p:nvSpPr>
          <p:cNvPr id="12" name="Rectangle 11">
            <a:extLst>
              <a:ext uri="{FF2B5EF4-FFF2-40B4-BE49-F238E27FC236}">
                <a16:creationId xmlns:a16="http://schemas.microsoft.com/office/drawing/2014/main" id="{54442759-32D6-510C-6394-933DB257585C}"/>
              </a:ext>
            </a:extLst>
          </p:cNvPr>
          <p:cNvSpPr/>
          <p:nvPr/>
        </p:nvSpPr>
        <p:spPr>
          <a:xfrm>
            <a:off x="1957320" y="5424180"/>
            <a:ext cx="5400000" cy="756000"/>
          </a:xfrm>
          <a:prstGeom prst="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Takeaway: </a:t>
            </a:r>
            <a:r>
              <a:rPr lang="en-US" dirty="0">
                <a:solidFill>
                  <a:sysClr val="windowText" lastClr="000000"/>
                </a:solidFill>
              </a:rPr>
              <a:t>Trong </a:t>
            </a:r>
            <a:r>
              <a:rPr lang="en-US" dirty="0" err="1">
                <a:solidFill>
                  <a:sysClr val="windowText" lastClr="000000"/>
                </a:solidFill>
              </a:rPr>
              <a:t>kỷ</a:t>
            </a:r>
            <a:r>
              <a:rPr lang="en-US" dirty="0">
                <a:solidFill>
                  <a:sysClr val="windowText" lastClr="000000"/>
                </a:solidFill>
              </a:rPr>
              <a:t> </a:t>
            </a:r>
            <a:r>
              <a:rPr lang="en-US" dirty="0" err="1">
                <a:solidFill>
                  <a:sysClr val="windowText" lastClr="000000"/>
                </a:solidFill>
              </a:rPr>
              <a:t>nguyên</a:t>
            </a:r>
            <a:r>
              <a:rPr lang="en-US" dirty="0">
                <a:solidFill>
                  <a:sysClr val="windowText" lastClr="000000"/>
                </a:solidFill>
              </a:rPr>
              <a:t> Big Data, MSA </a:t>
            </a:r>
            <a:r>
              <a:rPr lang="en-US" dirty="0" err="1">
                <a:solidFill>
                  <a:sysClr val="windowText" lastClr="000000"/>
                </a:solidFill>
              </a:rPr>
              <a:t>là</a:t>
            </a:r>
            <a:r>
              <a:rPr lang="en-US" dirty="0">
                <a:solidFill>
                  <a:sysClr val="windowText" lastClr="000000"/>
                </a:solidFill>
              </a:rPr>
              <a:t> </a:t>
            </a:r>
            <a:r>
              <a:rPr lang="en-US" dirty="0" err="1">
                <a:solidFill>
                  <a:sysClr val="windowText" lastClr="000000"/>
                </a:solidFill>
              </a:rPr>
              <a:t>mục</a:t>
            </a:r>
            <a:r>
              <a:rPr lang="en-US" dirty="0">
                <a:solidFill>
                  <a:sysClr val="windowText" lastClr="000000"/>
                </a:solidFill>
              </a:rPr>
              <a:t> </a:t>
            </a:r>
            <a:r>
              <a:rPr lang="en-US" dirty="0" err="1">
                <a:solidFill>
                  <a:sysClr val="windowText" lastClr="000000"/>
                </a:solidFill>
              </a:rPr>
              <a:t>tiêu</a:t>
            </a:r>
            <a:r>
              <a:rPr lang="en-US" dirty="0">
                <a:solidFill>
                  <a:sysClr val="windowText" lastClr="000000"/>
                </a:solidFill>
              </a:rPr>
              <a:t> </a:t>
            </a:r>
            <a:r>
              <a:rPr lang="en-US" dirty="0" err="1">
                <a:solidFill>
                  <a:sysClr val="windowText" lastClr="000000"/>
                </a:solidFill>
              </a:rPr>
              <a:t>cuối</a:t>
            </a:r>
            <a:r>
              <a:rPr lang="en-US" dirty="0">
                <a:solidFill>
                  <a:sysClr val="windowText" lastClr="000000"/>
                </a:solidFill>
              </a:rPr>
              <a:t> </a:t>
            </a:r>
            <a:r>
              <a:rPr lang="en-US" dirty="0" err="1">
                <a:solidFill>
                  <a:sysClr val="windowText" lastClr="000000"/>
                </a:solidFill>
              </a:rPr>
              <a:t>cùng</a:t>
            </a:r>
            <a:r>
              <a:rPr lang="en-US" dirty="0">
                <a:solidFill>
                  <a:sysClr val="windowText" lastClr="000000"/>
                </a:solidFill>
              </a:rPr>
              <a:t>, </a:t>
            </a:r>
            <a:r>
              <a:rPr lang="en-US" dirty="0" err="1">
                <a:solidFill>
                  <a:sysClr val="windowText" lastClr="000000"/>
                </a:solidFill>
              </a:rPr>
              <a:t>nhưng</a:t>
            </a:r>
            <a:r>
              <a:rPr lang="en-US" dirty="0">
                <a:solidFill>
                  <a:sysClr val="windowText" lastClr="000000"/>
                </a:solidFill>
              </a:rPr>
              <a:t> PSA </a:t>
            </a:r>
            <a:r>
              <a:rPr lang="en-US" dirty="0" err="1">
                <a:solidFill>
                  <a:sysClr val="windowText" lastClr="000000"/>
                </a:solidFill>
              </a:rPr>
              <a:t>luôn</a:t>
            </a:r>
            <a:r>
              <a:rPr lang="en-US" dirty="0">
                <a:solidFill>
                  <a:sysClr val="windowText" lastClr="000000"/>
                </a:solidFill>
              </a:rPr>
              <a:t> </a:t>
            </a:r>
            <a:r>
              <a:rPr lang="en-US" dirty="0" err="1">
                <a:solidFill>
                  <a:sysClr val="windowText" lastClr="000000"/>
                </a:solidFill>
              </a:rPr>
              <a:t>là</a:t>
            </a:r>
            <a:r>
              <a:rPr lang="en-US" dirty="0">
                <a:solidFill>
                  <a:sysClr val="windowText" lastClr="000000"/>
                </a:solidFill>
              </a:rPr>
              <a:t> </a:t>
            </a:r>
            <a:r>
              <a:rPr lang="en-US" dirty="0" err="1">
                <a:solidFill>
                  <a:sysClr val="windowText" lastClr="000000"/>
                </a:solidFill>
              </a:rPr>
              <a:t>cơ</a:t>
            </a:r>
            <a:r>
              <a:rPr lang="en-US" dirty="0">
                <a:solidFill>
                  <a:sysClr val="windowText" lastClr="000000"/>
                </a:solidFill>
              </a:rPr>
              <a:t> </a:t>
            </a:r>
            <a:r>
              <a:rPr lang="en-US" dirty="0" err="1">
                <a:solidFill>
                  <a:sysClr val="windowText" lastClr="000000"/>
                </a:solidFill>
              </a:rPr>
              <a:t>sở</a:t>
            </a:r>
            <a:r>
              <a:rPr lang="en-US" dirty="0">
                <a:solidFill>
                  <a:sysClr val="windowText" lastClr="000000"/>
                </a:solidFill>
              </a:rPr>
              <a:t> </a:t>
            </a:r>
            <a:r>
              <a:rPr lang="en-US" dirty="0" err="1">
                <a:solidFill>
                  <a:sysClr val="windowText" lastClr="000000"/>
                </a:solidFill>
              </a:rPr>
              <a:t>cốt</a:t>
            </a:r>
            <a:r>
              <a:rPr lang="en-US" dirty="0">
                <a:solidFill>
                  <a:sysClr val="windowText" lastClr="000000"/>
                </a:solidFill>
              </a:rPr>
              <a:t> </a:t>
            </a:r>
            <a:r>
              <a:rPr lang="en-US" dirty="0" err="1">
                <a:solidFill>
                  <a:sysClr val="windowText" lastClr="000000"/>
                </a:solidFill>
              </a:rPr>
              <a:t>lõi</a:t>
            </a:r>
            <a:r>
              <a:rPr lang="en-US" dirty="0">
                <a:solidFill>
                  <a:sysClr val="windowText" lastClr="000000"/>
                </a:solidFill>
              </a:rPr>
              <a:t> </a:t>
            </a:r>
            <a:r>
              <a:rPr lang="en-US" dirty="0" err="1">
                <a:solidFill>
                  <a:sysClr val="windowText" lastClr="000000"/>
                </a:solidFill>
              </a:rPr>
              <a:t>không</a:t>
            </a:r>
            <a:r>
              <a:rPr lang="en-US" dirty="0">
                <a:solidFill>
                  <a:sysClr val="windowText" lastClr="000000"/>
                </a:solidFill>
              </a:rPr>
              <a:t> </a:t>
            </a:r>
            <a:r>
              <a:rPr lang="en-US" dirty="0" err="1">
                <a:solidFill>
                  <a:sysClr val="windowText" lastClr="000000"/>
                </a:solidFill>
              </a:rPr>
              <a:t>thể</a:t>
            </a:r>
            <a:r>
              <a:rPr lang="en-US" dirty="0">
                <a:solidFill>
                  <a:sysClr val="windowText" lastClr="000000"/>
                </a:solidFill>
              </a:rPr>
              <a:t> </a:t>
            </a:r>
            <a:r>
              <a:rPr lang="en-US" dirty="0" err="1">
                <a:solidFill>
                  <a:sysClr val="windowText" lastClr="000000"/>
                </a:solidFill>
              </a:rPr>
              <a:t>thiếu</a:t>
            </a:r>
            <a:r>
              <a:rPr lang="en-US" dirty="0">
                <a:solidFill>
                  <a:sysClr val="windowText" lastClr="000000"/>
                </a:solidFill>
              </a:rPr>
              <a:t>.</a:t>
            </a:r>
          </a:p>
        </p:txBody>
      </p:sp>
    </p:spTree>
    <p:extLst>
      <p:ext uri="{BB962C8B-B14F-4D97-AF65-F5344CB8AC3E}">
        <p14:creationId xmlns:p14="http://schemas.microsoft.com/office/powerpoint/2010/main" val="2994857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32294EA9-DB28-4562-B2D9-2C3E07152A5A}"/>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F1BB2985-2990-EEB1-E882-73A991F819FC}"/>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err="1"/>
              <a:t>Biểu</a:t>
            </a:r>
            <a:r>
              <a:rPr lang="en-US" dirty="0"/>
              <a:t> </a:t>
            </a:r>
            <a:r>
              <a:rPr lang="en-US" dirty="0" err="1"/>
              <a:t>diễn</a:t>
            </a:r>
            <a:r>
              <a:rPr lang="en-US" dirty="0"/>
              <a:t> </a:t>
            </a:r>
            <a:r>
              <a:rPr lang="en-US" dirty="0" err="1"/>
              <a:t>bài</a:t>
            </a:r>
            <a:r>
              <a:rPr lang="en-US" dirty="0"/>
              <a:t> </a:t>
            </a:r>
            <a:r>
              <a:rPr lang="en-US" dirty="0" err="1"/>
              <a:t>toán</a:t>
            </a:r>
            <a:endParaRPr dirty="0"/>
          </a:p>
        </p:txBody>
      </p:sp>
      <p:sp>
        <p:nvSpPr>
          <p:cNvPr id="3" name="Slide Number Placeholder 2">
            <a:extLst>
              <a:ext uri="{FF2B5EF4-FFF2-40B4-BE49-F238E27FC236}">
                <a16:creationId xmlns:a16="http://schemas.microsoft.com/office/drawing/2014/main" id="{CDB90928-195A-7FDE-6B2D-D93C058E63EB}"/>
              </a:ext>
            </a:extLst>
          </p:cNvPr>
          <p:cNvSpPr>
            <a:spLocks noGrp="1"/>
          </p:cNvSpPr>
          <p:nvPr>
            <p:ph type="sldNum" idx="12"/>
          </p:nvPr>
        </p:nvSpPr>
        <p:spPr/>
        <p:txBody>
          <a:bodyPr/>
          <a:lstStyle/>
          <a:p>
            <a:r>
              <a:rPr lang="en-US" dirty="0"/>
              <a:t>8</a:t>
            </a:r>
          </a:p>
        </p:txBody>
      </p:sp>
      <p:sp>
        <p:nvSpPr>
          <p:cNvPr id="8" name="Google Shape;138;p3">
            <a:extLst>
              <a:ext uri="{FF2B5EF4-FFF2-40B4-BE49-F238E27FC236}">
                <a16:creationId xmlns:a16="http://schemas.microsoft.com/office/drawing/2014/main" id="{1CF51951-AC3D-FF1C-274E-97403EE26A66}"/>
              </a:ext>
            </a:extLst>
          </p:cNvPr>
          <p:cNvSpPr txBox="1">
            <a:spLocks noGrp="1"/>
          </p:cNvSpPr>
          <p:nvPr>
            <p:ph type="body" idx="1"/>
          </p:nvPr>
        </p:nvSpPr>
        <p:spPr>
          <a:xfrm>
            <a:off x="457200" y="1219200"/>
            <a:ext cx="4991102" cy="2865120"/>
          </a:xfrm>
          <a:prstGeom prst="rect">
            <a:avLst/>
          </a:prstGeom>
          <a:noFill/>
          <a:ln>
            <a:noFill/>
          </a:ln>
        </p:spPr>
        <p:txBody>
          <a:bodyPr spcFirstLastPara="1" wrap="square" lIns="91425" tIns="45700" rIns="91425" bIns="45700" anchor="t" anchorCtr="0">
            <a:noAutofit/>
          </a:bodyPr>
          <a:lstStyle/>
          <a:p>
            <a:pPr lvl="0" indent="-457200" algn="just">
              <a:lnSpc>
                <a:spcPct val="130000"/>
              </a:lnSpc>
              <a:buClr>
                <a:schemeClr val="accent4">
                  <a:lumMod val="75000"/>
                </a:schemeClr>
              </a:buClr>
              <a:buSzPts val="1976"/>
              <a:buFont typeface="Wingdings" panose="05000000000000000000" pitchFamily="2" charset="2"/>
              <a:buChar char="q"/>
            </a:pPr>
            <a:r>
              <a:rPr lang="en-US" sz="1800" dirty="0" err="1"/>
              <a:t>Máy</a:t>
            </a:r>
            <a:r>
              <a:rPr lang="en-US" sz="1800" dirty="0"/>
              <a:t> </a:t>
            </a:r>
            <a:r>
              <a:rPr lang="en-US" sz="1800" dirty="0" err="1"/>
              <a:t>tính</a:t>
            </a:r>
            <a:r>
              <a:rPr lang="en-US" sz="1800" dirty="0"/>
              <a:t> </a:t>
            </a:r>
            <a:r>
              <a:rPr lang="en-US" sz="1800" dirty="0" err="1"/>
              <a:t>biểu</a:t>
            </a:r>
            <a:r>
              <a:rPr lang="en-US" sz="1800" dirty="0"/>
              <a:t> </a:t>
            </a:r>
            <a:r>
              <a:rPr lang="en-US" sz="1800" dirty="0" err="1"/>
              <a:t>diễn</a:t>
            </a:r>
            <a:r>
              <a:rPr lang="en-US" sz="1800" dirty="0"/>
              <a:t> </a:t>
            </a:r>
            <a:r>
              <a:rPr lang="en-US" sz="1800" dirty="0" err="1"/>
              <a:t>bài</a:t>
            </a:r>
            <a:r>
              <a:rPr lang="en-US" sz="1800" dirty="0"/>
              <a:t> </a:t>
            </a:r>
            <a:r>
              <a:rPr lang="en-US" sz="1800" dirty="0" err="1"/>
              <a:t>toán</a:t>
            </a:r>
            <a:r>
              <a:rPr lang="en-US" sz="1800" dirty="0"/>
              <a:t> </a:t>
            </a:r>
            <a:r>
              <a:rPr lang="en-US" sz="1800" dirty="0" err="1"/>
              <a:t>bằng</a:t>
            </a:r>
            <a:r>
              <a:rPr lang="en-US" sz="1800" dirty="0"/>
              <a:t> </a:t>
            </a:r>
            <a:r>
              <a:rPr lang="en-US" sz="1800" dirty="0" err="1"/>
              <a:t>một</a:t>
            </a:r>
            <a:r>
              <a:rPr lang="en-US" sz="1800" dirty="0"/>
              <a:t> ma </a:t>
            </a:r>
            <a:r>
              <a:rPr lang="en-US" sz="1800" dirty="0" err="1"/>
              <a:t>trận</a:t>
            </a:r>
            <a:endParaRPr lang="en-US" sz="1800" dirty="0"/>
          </a:p>
          <a:p>
            <a:pPr lvl="0" indent="-457200" algn="just">
              <a:lnSpc>
                <a:spcPct val="130000"/>
              </a:lnSpc>
              <a:buClr>
                <a:schemeClr val="accent4">
                  <a:lumMod val="75000"/>
                </a:schemeClr>
              </a:buClr>
              <a:buSzPts val="1976"/>
              <a:buFont typeface="Wingdings" panose="05000000000000000000" pitchFamily="2" charset="2"/>
              <a:buChar char="q"/>
            </a:pPr>
            <a:r>
              <a:rPr lang="en-US" sz="1800" dirty="0" err="1"/>
              <a:t>Mỗi</a:t>
            </a:r>
            <a:r>
              <a:rPr lang="en-US" sz="1800" dirty="0"/>
              <a:t> ô </a:t>
            </a:r>
            <a:r>
              <a:rPr lang="en-US" sz="1800" dirty="0" err="1"/>
              <a:t>trong</a:t>
            </a:r>
            <a:r>
              <a:rPr lang="en-US" sz="1800" dirty="0"/>
              <a:t> ma </a:t>
            </a:r>
            <a:r>
              <a:rPr lang="en-US" sz="1800" dirty="0" err="1"/>
              <a:t>trận</a:t>
            </a:r>
            <a:r>
              <a:rPr lang="en-US" sz="1800" dirty="0"/>
              <a:t> </a:t>
            </a:r>
            <a:r>
              <a:rPr lang="en-US" sz="1800" dirty="0" err="1"/>
              <a:t>đại</a:t>
            </a:r>
            <a:r>
              <a:rPr lang="en-US" sz="1800" dirty="0"/>
              <a:t> </a:t>
            </a:r>
            <a:r>
              <a:rPr lang="en-US" sz="1800" dirty="0" err="1"/>
              <a:t>diện</a:t>
            </a:r>
            <a:r>
              <a:rPr lang="en-US" sz="1800" dirty="0"/>
              <a:t> </a:t>
            </a:r>
            <a:r>
              <a:rPr lang="en-US" sz="1800" dirty="0" err="1"/>
              <a:t>cho</a:t>
            </a:r>
            <a:r>
              <a:rPr lang="en-US" sz="1800" dirty="0"/>
              <a:t> </a:t>
            </a:r>
            <a:r>
              <a:rPr lang="en-US" sz="1800" dirty="0" err="1"/>
              <a:t>một</a:t>
            </a:r>
            <a:r>
              <a:rPr lang="en-US" sz="1800" dirty="0"/>
              <a:t> </a:t>
            </a:r>
            <a:r>
              <a:rPr lang="en-US" sz="1800" dirty="0" err="1"/>
              <a:t>điểm</a:t>
            </a:r>
            <a:r>
              <a:rPr lang="en-US" sz="1800" dirty="0"/>
              <a:t> so </a:t>
            </a:r>
            <a:r>
              <a:rPr lang="en-US" sz="1800" dirty="0" err="1"/>
              <a:t>sánh</a:t>
            </a:r>
            <a:r>
              <a:rPr lang="en-US" sz="1800" dirty="0"/>
              <a:t> </a:t>
            </a:r>
            <a:r>
              <a:rPr lang="en-US" sz="1800" dirty="0" err="1"/>
              <a:t>giữa</a:t>
            </a:r>
            <a:r>
              <a:rPr lang="en-US" sz="1800" dirty="0"/>
              <a:t> </a:t>
            </a:r>
            <a:r>
              <a:rPr lang="en-US" sz="1800" dirty="0" err="1"/>
              <a:t>ký</a:t>
            </a:r>
            <a:r>
              <a:rPr lang="en-US" sz="1800" dirty="0"/>
              <a:t> </a:t>
            </a:r>
            <a:r>
              <a:rPr lang="en-US" sz="1800" dirty="0" err="1"/>
              <a:t>tự</a:t>
            </a:r>
            <a:r>
              <a:rPr lang="en-US" sz="1800" dirty="0"/>
              <a:t> </a:t>
            </a:r>
            <a:r>
              <a:rPr lang="en-US" sz="1800" dirty="0" err="1"/>
              <a:t>của</a:t>
            </a:r>
            <a:r>
              <a:rPr lang="en-US" sz="1800" dirty="0"/>
              <a:t> </a:t>
            </a:r>
            <a:r>
              <a:rPr lang="en-US" sz="1800" dirty="0" err="1"/>
              <a:t>trình</a:t>
            </a:r>
            <a:r>
              <a:rPr lang="en-US" sz="1800" dirty="0"/>
              <a:t> </a:t>
            </a:r>
            <a:r>
              <a:rPr lang="en-US" sz="1800" dirty="0" err="1"/>
              <a:t>tự</a:t>
            </a:r>
            <a:r>
              <a:rPr lang="en-US" sz="1800" dirty="0"/>
              <a:t> </a:t>
            </a:r>
            <a:r>
              <a:rPr lang="en-US" sz="1800" dirty="0" err="1"/>
              <a:t>truy</a:t>
            </a:r>
            <a:r>
              <a:rPr lang="en-US" sz="1800" dirty="0"/>
              <a:t> </a:t>
            </a:r>
            <a:r>
              <a:rPr lang="en-US" sz="1800" dirty="0" err="1"/>
              <a:t>vấn</a:t>
            </a:r>
            <a:r>
              <a:rPr lang="en-US" sz="1800" dirty="0"/>
              <a:t> </a:t>
            </a:r>
            <a:r>
              <a:rPr lang="en-US" sz="1800" dirty="0" err="1"/>
              <a:t>và</a:t>
            </a:r>
            <a:r>
              <a:rPr lang="en-US" sz="1800" dirty="0"/>
              <a:t> </a:t>
            </a:r>
            <a:r>
              <a:rPr lang="en-US" sz="1800" dirty="0" err="1"/>
              <a:t>trình</a:t>
            </a:r>
            <a:r>
              <a:rPr lang="en-US" sz="1800" dirty="0"/>
              <a:t> </a:t>
            </a:r>
            <a:r>
              <a:rPr lang="en-US" sz="1800" dirty="0" err="1"/>
              <a:t>tự</a:t>
            </a:r>
            <a:r>
              <a:rPr lang="en-US" sz="1800" dirty="0"/>
              <a:t> </a:t>
            </a:r>
            <a:r>
              <a:rPr lang="en-US" sz="1800" dirty="0" err="1"/>
              <a:t>tham</a:t>
            </a:r>
            <a:r>
              <a:rPr lang="en-US" sz="1800" dirty="0"/>
              <a:t> </a:t>
            </a:r>
            <a:r>
              <a:rPr lang="en-US" sz="1800" dirty="0" err="1"/>
              <a:t>chiếu</a:t>
            </a:r>
            <a:r>
              <a:rPr lang="en-US" sz="1800" dirty="0"/>
              <a:t>.</a:t>
            </a:r>
          </a:p>
          <a:p>
            <a:pPr lvl="0" indent="-457200" algn="just">
              <a:lnSpc>
                <a:spcPct val="130000"/>
              </a:lnSpc>
              <a:buClr>
                <a:schemeClr val="accent4">
                  <a:lumMod val="75000"/>
                </a:schemeClr>
              </a:buClr>
              <a:buSzPts val="1976"/>
              <a:buFont typeface="Wingdings" panose="05000000000000000000" pitchFamily="2" charset="2"/>
              <a:buChar char="q"/>
            </a:pPr>
            <a:r>
              <a:rPr lang="vi-VN" sz="1800" dirty="0"/>
              <a:t>Một cách sắp xếp thực chất là một đường đi từ góc trên cùng bên trái xuống góc dưới cùng bên phải của ma trận.</a:t>
            </a:r>
            <a:endParaRPr lang="en-US" sz="1800" dirty="0"/>
          </a:p>
          <a:p>
            <a:pPr marL="0" lvl="0" indent="0" algn="just" rtl="0">
              <a:lnSpc>
                <a:spcPct val="150000"/>
              </a:lnSpc>
              <a:spcAft>
                <a:spcPts val="0"/>
              </a:spcAft>
              <a:buClr>
                <a:schemeClr val="accent4">
                  <a:lumMod val="75000"/>
                </a:schemeClr>
              </a:buClr>
              <a:buSzPts val="1976"/>
              <a:buNone/>
            </a:pPr>
            <a:endParaRPr lang="en-US" sz="2000" dirty="0"/>
          </a:p>
        </p:txBody>
      </p:sp>
      <p:pic>
        <p:nvPicPr>
          <p:cNvPr id="1026" name="Picture 2" descr="One step of an alignment">
            <a:extLst>
              <a:ext uri="{FF2B5EF4-FFF2-40B4-BE49-F238E27FC236}">
                <a16:creationId xmlns:a16="http://schemas.microsoft.com/office/drawing/2014/main" id="{F9C0D658-6D2B-568F-0924-3D5F850170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3665" y="1162601"/>
            <a:ext cx="2887504" cy="14557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trix representation of three alignments">
            <a:extLst>
              <a:ext uri="{FF2B5EF4-FFF2-40B4-BE49-F238E27FC236}">
                <a16:creationId xmlns:a16="http://schemas.microsoft.com/office/drawing/2014/main" id="{E9677C48-6C28-6FFB-B8DC-8B43E4F5B1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302" y="2618324"/>
            <a:ext cx="3618230" cy="361154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CB1172FF-0CC6-136D-6397-114A7B0FD0E4}"/>
              </a:ext>
            </a:extLst>
          </p:cNvPr>
          <p:cNvPicPr>
            <a:picLocks noChangeAspect="1"/>
          </p:cNvPicPr>
          <p:nvPr/>
        </p:nvPicPr>
        <p:blipFill>
          <a:blip r:embed="rId5"/>
          <a:srcRect r="26797"/>
          <a:stretch>
            <a:fillRect/>
          </a:stretch>
        </p:blipFill>
        <p:spPr>
          <a:xfrm>
            <a:off x="525780" y="4225975"/>
            <a:ext cx="4663717" cy="1272650"/>
          </a:xfrm>
          <a:prstGeom prst="rect">
            <a:avLst/>
          </a:prstGeom>
        </p:spPr>
      </p:pic>
    </p:spTree>
    <p:extLst>
      <p:ext uri="{BB962C8B-B14F-4D97-AF65-F5344CB8AC3E}">
        <p14:creationId xmlns:p14="http://schemas.microsoft.com/office/powerpoint/2010/main" val="436460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162E1F2C-9BE9-8CAC-89EB-F8BDB7BDCDD6}"/>
            </a:ext>
          </a:extLst>
        </p:cNvPr>
        <p:cNvGrpSpPr/>
        <p:nvPr/>
      </p:nvGrpSpPr>
      <p:grpSpPr>
        <a:xfrm>
          <a:off x="0" y="0"/>
          <a:ext cx="0" cy="0"/>
          <a:chOff x="0" y="0"/>
          <a:chExt cx="0" cy="0"/>
        </a:xfrm>
      </p:grpSpPr>
      <p:sp>
        <p:nvSpPr>
          <p:cNvPr id="125" name="Google Shape;125;p2">
            <a:extLst>
              <a:ext uri="{FF2B5EF4-FFF2-40B4-BE49-F238E27FC236}">
                <a16:creationId xmlns:a16="http://schemas.microsoft.com/office/drawing/2014/main" id="{43A76676-F320-09E4-2DE2-2284B72B1A17}"/>
              </a:ext>
            </a:extLst>
          </p:cNvPr>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p>
            <a:r>
              <a:rPr lang="en-US" dirty="0" err="1"/>
              <a:t>Sắp</a:t>
            </a:r>
            <a:r>
              <a:rPr lang="en-US" dirty="0"/>
              <a:t> </a:t>
            </a:r>
            <a:r>
              <a:rPr lang="en-US" dirty="0" err="1"/>
              <a:t>hàng</a:t>
            </a:r>
            <a:r>
              <a:rPr lang="en-US" dirty="0"/>
              <a:t> </a:t>
            </a:r>
            <a:r>
              <a:rPr lang="en-US" dirty="0" err="1"/>
              <a:t>hai</a:t>
            </a:r>
            <a:r>
              <a:rPr lang="en-US" dirty="0"/>
              <a:t> </a:t>
            </a:r>
            <a:r>
              <a:rPr lang="en-US" dirty="0" err="1"/>
              <a:t>trình</a:t>
            </a:r>
            <a:r>
              <a:rPr lang="en-US" dirty="0"/>
              <a:t> </a:t>
            </a:r>
            <a:r>
              <a:rPr lang="en-US" dirty="0" err="1"/>
              <a:t>tự</a:t>
            </a:r>
            <a:endParaRPr dirty="0"/>
          </a:p>
        </p:txBody>
      </p:sp>
      <p:sp>
        <p:nvSpPr>
          <p:cNvPr id="126" name="Google Shape;126;p2">
            <a:extLst>
              <a:ext uri="{FF2B5EF4-FFF2-40B4-BE49-F238E27FC236}">
                <a16:creationId xmlns:a16="http://schemas.microsoft.com/office/drawing/2014/main" id="{C99817BA-0228-E677-E1DB-C013207F1A48}"/>
              </a:ext>
            </a:extLst>
          </p:cNvPr>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p>
            <a:pPr marL="0" indent="0">
              <a:spcBef>
                <a:spcPts val="0"/>
              </a:spcBef>
            </a:pPr>
            <a:endParaRPr/>
          </a:p>
        </p:txBody>
      </p:sp>
      <p:sp>
        <p:nvSpPr>
          <p:cNvPr id="4" name="Slide Number Placeholder 3">
            <a:extLst>
              <a:ext uri="{FF2B5EF4-FFF2-40B4-BE49-F238E27FC236}">
                <a16:creationId xmlns:a16="http://schemas.microsoft.com/office/drawing/2014/main" id="{8F70ADD3-4B1F-0BCB-8818-09EA4E24F478}"/>
              </a:ext>
            </a:extLst>
          </p:cNvPr>
          <p:cNvSpPr>
            <a:spLocks noGrp="1"/>
          </p:cNvSpPr>
          <p:nvPr>
            <p:ph type="sldNum" idx="12"/>
          </p:nvPr>
        </p:nvSpPr>
        <p:spPr/>
        <p:txBody>
          <a:bodyPr/>
          <a:lstStyle/>
          <a:p>
            <a:fld id="{00000000-1234-1234-1234-123412341234}" type="slidenum">
              <a:rPr lang="en-US" smtClean="0"/>
              <a:pPr/>
              <a:t>9</a:t>
            </a:fld>
            <a:endParaRPr lang="en-US"/>
          </a:p>
        </p:txBody>
      </p:sp>
    </p:spTree>
    <p:extLst>
      <p:ext uri="{BB962C8B-B14F-4D97-AF65-F5344CB8AC3E}">
        <p14:creationId xmlns:p14="http://schemas.microsoft.com/office/powerpoint/2010/main" val="1326700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539C56CF-5C1F-0F2F-5EEF-87AD62ACC8E3}"/>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C6607F3F-87DF-A28A-16C7-983EA190B56A}"/>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a:t>Phương pháp Dot-Matrix</a:t>
            </a:r>
            <a:endParaRPr dirty="0"/>
          </a:p>
        </p:txBody>
      </p:sp>
      <p:sp>
        <p:nvSpPr>
          <p:cNvPr id="3" name="Slide Number Placeholder 2">
            <a:extLst>
              <a:ext uri="{FF2B5EF4-FFF2-40B4-BE49-F238E27FC236}">
                <a16:creationId xmlns:a16="http://schemas.microsoft.com/office/drawing/2014/main" id="{490A03FF-1D58-276F-56E4-676ED0FA90CB}"/>
              </a:ext>
            </a:extLst>
          </p:cNvPr>
          <p:cNvSpPr>
            <a:spLocks noGrp="1"/>
          </p:cNvSpPr>
          <p:nvPr>
            <p:ph type="sldNum" idx="12"/>
          </p:nvPr>
        </p:nvSpPr>
        <p:spPr/>
        <p:txBody>
          <a:bodyPr/>
          <a:lstStyle/>
          <a:p>
            <a:r>
              <a:rPr lang="en-US" dirty="0"/>
              <a:t>10</a:t>
            </a:r>
          </a:p>
        </p:txBody>
      </p:sp>
      <p:sp>
        <p:nvSpPr>
          <p:cNvPr id="6" name="Rectangle 5">
            <a:extLst>
              <a:ext uri="{FF2B5EF4-FFF2-40B4-BE49-F238E27FC236}">
                <a16:creationId xmlns:a16="http://schemas.microsoft.com/office/drawing/2014/main" id="{5FC9B4A8-A292-01F6-CBF9-CBF45435B34D}"/>
              </a:ext>
            </a:extLst>
          </p:cNvPr>
          <p:cNvSpPr/>
          <p:nvPr/>
        </p:nvSpPr>
        <p:spPr>
          <a:xfrm>
            <a:off x="502920" y="1143000"/>
            <a:ext cx="5928360" cy="990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a:solidFill>
                  <a:schemeClr val="tx1"/>
                </a:solidFill>
              </a:rPr>
              <a:t>Đề xuất bởi Gibbs and McIntyre (1970)</a:t>
            </a:r>
            <a:endParaRPr lang="en-US" sz="1800" dirty="0">
              <a:solidFill>
                <a:schemeClr val="tx1"/>
              </a:solidFill>
            </a:endParaRPr>
          </a:p>
        </p:txBody>
      </p:sp>
      <p:sp>
        <p:nvSpPr>
          <p:cNvPr id="8" name="Rectangle 7">
            <a:extLst>
              <a:ext uri="{FF2B5EF4-FFF2-40B4-BE49-F238E27FC236}">
                <a16:creationId xmlns:a16="http://schemas.microsoft.com/office/drawing/2014/main" id="{55733526-432E-3036-D441-FD58D5BAF965}"/>
              </a:ext>
            </a:extLst>
          </p:cNvPr>
          <p:cNvSpPr/>
          <p:nvPr/>
        </p:nvSpPr>
        <p:spPr>
          <a:xfrm>
            <a:off x="4572000" y="2179320"/>
            <a:ext cx="3698576" cy="19742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a:solidFill>
                  <a:schemeClr val="tx1"/>
                </a:solidFill>
              </a:rPr>
              <a:t>Ý tưởng: </a:t>
            </a:r>
          </a:p>
          <a:p>
            <a:pPr marL="285750" indent="-285750" algn="just">
              <a:buFontTx/>
              <a:buChar char="-"/>
            </a:pPr>
            <a:r>
              <a:rPr lang="en-US" sz="1800">
                <a:solidFill>
                  <a:schemeClr val="tx1"/>
                </a:solidFill>
              </a:rPr>
              <a:t>Gióng lần lượt các ký tự của 2 chuỗi tham chiếu</a:t>
            </a:r>
          </a:p>
          <a:p>
            <a:pPr marL="285750" indent="-285750" algn="just">
              <a:buFontTx/>
              <a:buChar char="-"/>
            </a:pPr>
            <a:r>
              <a:rPr lang="en-US" sz="1800">
                <a:solidFill>
                  <a:schemeClr val="tx1"/>
                </a:solidFill>
              </a:rPr>
              <a:t>Đánh dấu hàng cột cùng giá trị bằng dấu chấm</a:t>
            </a:r>
          </a:p>
          <a:p>
            <a:pPr marL="285750" indent="-285750" algn="just">
              <a:buFontTx/>
              <a:buChar char="-"/>
            </a:pPr>
            <a:r>
              <a:rPr lang="en-US" sz="1800">
                <a:solidFill>
                  <a:schemeClr val="tx1"/>
                </a:solidFill>
              </a:rPr>
              <a:t>Nối các đường chéo liền nhau</a:t>
            </a:r>
          </a:p>
          <a:p>
            <a:pPr algn="just"/>
            <a:r>
              <a:rPr lang="en-US" sz="1800">
                <a:solidFill>
                  <a:schemeClr val="tx1"/>
                </a:solidFill>
              </a:rPr>
              <a:t>=&gt; Các đoạn đã được gióng hàng</a:t>
            </a:r>
            <a:endParaRPr lang="en-US" sz="1800" dirty="0">
              <a:solidFill>
                <a:schemeClr val="tx1"/>
              </a:solidFill>
            </a:endParaRPr>
          </a:p>
        </p:txBody>
      </p:sp>
      <p:sp>
        <p:nvSpPr>
          <p:cNvPr id="10" name="Rectangle 9">
            <a:extLst>
              <a:ext uri="{FF2B5EF4-FFF2-40B4-BE49-F238E27FC236}">
                <a16:creationId xmlns:a16="http://schemas.microsoft.com/office/drawing/2014/main" id="{946AC9AC-B5A8-3DDA-5E64-FD89E8796A94}"/>
              </a:ext>
            </a:extLst>
          </p:cNvPr>
          <p:cNvSpPr/>
          <p:nvPr/>
        </p:nvSpPr>
        <p:spPr>
          <a:xfrm>
            <a:off x="4572000" y="4136363"/>
            <a:ext cx="3759536" cy="15126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Symbol" panose="05050102010706020507" pitchFamily="18" charset="2"/>
              <a:buChar char="Þ"/>
            </a:pPr>
            <a:r>
              <a:rPr lang="en-US" sz="1800">
                <a:solidFill>
                  <a:schemeClr val="tx1"/>
                </a:solidFill>
              </a:rPr>
              <a:t>tốn nhiều thời gian để tạo ma trận</a:t>
            </a:r>
          </a:p>
          <a:p>
            <a:pPr algn="just"/>
            <a:r>
              <a:rPr lang="en-US" sz="1800">
                <a:solidFill>
                  <a:schemeClr val="tx1"/>
                </a:solidFill>
              </a:rPr>
              <a:t>=&gt; chủ yếu được dùng để minh họa</a:t>
            </a:r>
            <a:endParaRPr lang="en-US" sz="1800" dirty="0">
              <a:solidFill>
                <a:schemeClr val="tx1"/>
              </a:solidFill>
            </a:endParaRPr>
          </a:p>
        </p:txBody>
      </p:sp>
      <p:pic>
        <p:nvPicPr>
          <p:cNvPr id="1026" name="Picture 2">
            <a:extLst>
              <a:ext uri="{FF2B5EF4-FFF2-40B4-BE49-F238E27FC236}">
                <a16:creationId xmlns:a16="http://schemas.microsoft.com/office/drawing/2014/main" id="{947333C6-EB52-E0A6-0343-7FE62B127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55507"/>
            <a:ext cx="3901440" cy="3413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094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A61978C4-4422-8D3C-1905-257DCF20E0ED}"/>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CC5D392D-5C87-C4C6-68BA-DC87898E7836}"/>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a:t>Các phương pháp Quy hoạch động</a:t>
            </a:r>
            <a:endParaRPr dirty="0"/>
          </a:p>
        </p:txBody>
      </p:sp>
      <p:sp>
        <p:nvSpPr>
          <p:cNvPr id="3" name="Slide Number Placeholder 2">
            <a:extLst>
              <a:ext uri="{FF2B5EF4-FFF2-40B4-BE49-F238E27FC236}">
                <a16:creationId xmlns:a16="http://schemas.microsoft.com/office/drawing/2014/main" id="{B49E1CC5-F633-164B-A76E-BB363F61EA6F}"/>
              </a:ext>
            </a:extLst>
          </p:cNvPr>
          <p:cNvSpPr>
            <a:spLocks noGrp="1"/>
          </p:cNvSpPr>
          <p:nvPr>
            <p:ph type="sldNum" idx="12"/>
          </p:nvPr>
        </p:nvSpPr>
        <p:spPr/>
        <p:txBody>
          <a:bodyPr/>
          <a:lstStyle/>
          <a:p>
            <a:r>
              <a:rPr lang="en-US" dirty="0"/>
              <a:t>11</a:t>
            </a:r>
          </a:p>
        </p:txBody>
      </p:sp>
      <p:sp>
        <p:nvSpPr>
          <p:cNvPr id="2" name="Google Shape;138;p3">
            <a:extLst>
              <a:ext uri="{FF2B5EF4-FFF2-40B4-BE49-F238E27FC236}">
                <a16:creationId xmlns:a16="http://schemas.microsoft.com/office/drawing/2014/main" id="{6D9DF82E-0DEF-C457-CBD5-5AD6C7FE021B}"/>
              </a:ext>
            </a:extLst>
          </p:cNvPr>
          <p:cNvSpPr txBox="1">
            <a:spLocks noGrp="1"/>
          </p:cNvSpPr>
          <p:nvPr>
            <p:ph type="body" idx="1"/>
          </p:nvPr>
        </p:nvSpPr>
        <p:spPr>
          <a:xfrm>
            <a:off x="457200" y="4343400"/>
            <a:ext cx="8366760" cy="2865120"/>
          </a:xfrm>
          <a:prstGeom prst="rect">
            <a:avLst/>
          </a:prstGeom>
          <a:noFill/>
          <a:ln>
            <a:noFill/>
          </a:ln>
        </p:spPr>
        <p:txBody>
          <a:bodyPr spcFirstLastPara="1" wrap="square" lIns="91425" tIns="45700" rIns="91425" bIns="45700" anchor="t" anchorCtr="0">
            <a:noAutofit/>
          </a:bodyPr>
          <a:lstStyle/>
          <a:p>
            <a:pPr lvl="0" indent="-457200" algn="just">
              <a:lnSpc>
                <a:spcPct val="130000"/>
              </a:lnSpc>
              <a:buClr>
                <a:schemeClr val="accent4">
                  <a:lumMod val="75000"/>
                </a:schemeClr>
              </a:buClr>
              <a:buSzPts val="1976"/>
              <a:buFont typeface="Wingdings" panose="05000000000000000000" pitchFamily="2" charset="2"/>
              <a:buChar char="q"/>
            </a:pPr>
            <a:r>
              <a:rPr lang="en-US" sz="1800">
                <a:latin typeface="+mn-lt"/>
              </a:rPr>
              <a:t>Thuật toán Needleman-Wunsch (toàn cục)</a:t>
            </a:r>
          </a:p>
          <a:p>
            <a:pPr lvl="0" indent="-457200" algn="just">
              <a:lnSpc>
                <a:spcPct val="130000"/>
              </a:lnSpc>
              <a:buClr>
                <a:schemeClr val="accent4">
                  <a:lumMod val="75000"/>
                </a:schemeClr>
              </a:buClr>
              <a:buSzPts val="1976"/>
              <a:buFont typeface="Wingdings" panose="05000000000000000000" pitchFamily="2" charset="2"/>
              <a:buChar char="q"/>
            </a:pPr>
            <a:r>
              <a:rPr lang="en-US" sz="1800">
                <a:latin typeface="+mn-lt"/>
              </a:rPr>
              <a:t>Thuật toán Smith-Waterman (cục bộ)</a:t>
            </a:r>
          </a:p>
          <a:p>
            <a:pPr lvl="0" indent="-457200" algn="just">
              <a:lnSpc>
                <a:spcPct val="130000"/>
              </a:lnSpc>
              <a:buClr>
                <a:schemeClr val="accent4">
                  <a:lumMod val="75000"/>
                </a:schemeClr>
              </a:buClr>
              <a:buSzPts val="1976"/>
              <a:buFont typeface="Wingdings" panose="05000000000000000000" pitchFamily="2" charset="2"/>
              <a:buChar char="q"/>
            </a:pPr>
            <a:r>
              <a:rPr lang="en-US" sz="1800">
                <a:latin typeface="+mn-lt"/>
              </a:rPr>
              <a:t>Thuật toán gióng hàng bán toàn cục</a:t>
            </a:r>
          </a:p>
          <a:p>
            <a:pPr lvl="0" indent="-457200" algn="just">
              <a:lnSpc>
                <a:spcPct val="130000"/>
              </a:lnSpc>
              <a:buClr>
                <a:schemeClr val="accent4">
                  <a:lumMod val="75000"/>
                </a:schemeClr>
              </a:buClr>
              <a:buSzPts val="1976"/>
              <a:buFont typeface="Wingdings" panose="05000000000000000000" pitchFamily="2" charset="2"/>
              <a:buChar char="q"/>
            </a:pPr>
            <a:r>
              <a:rPr lang="en-US" sz="1800">
                <a:latin typeface="+mn-lt"/>
              </a:rPr>
              <a:t>Các cải tiến &amp; tối ưu hóa</a:t>
            </a:r>
            <a:endParaRPr lang="en-US" sz="2000" dirty="0">
              <a:latin typeface="+mn-lt"/>
            </a:endParaRPr>
          </a:p>
        </p:txBody>
      </p:sp>
      <p:sp>
        <p:nvSpPr>
          <p:cNvPr id="4" name="Rectangle 3">
            <a:extLst>
              <a:ext uri="{FF2B5EF4-FFF2-40B4-BE49-F238E27FC236}">
                <a16:creationId xmlns:a16="http://schemas.microsoft.com/office/drawing/2014/main" id="{E8052885-2E2F-0902-2274-91CC57BDBB11}"/>
              </a:ext>
            </a:extLst>
          </p:cNvPr>
          <p:cNvSpPr/>
          <p:nvPr/>
        </p:nvSpPr>
        <p:spPr>
          <a:xfrm>
            <a:off x="457200" y="1591950"/>
            <a:ext cx="8183880" cy="28886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a:solidFill>
                  <a:schemeClr val="tx1"/>
                </a:solidFill>
              </a:rPr>
              <a:t>Ý tưởng:</a:t>
            </a:r>
            <a:r>
              <a:rPr lang="en-US" sz="1800">
                <a:solidFill>
                  <a:schemeClr val="tx1"/>
                </a:solidFill>
              </a:rPr>
              <a:t> </a:t>
            </a:r>
            <a:r>
              <a:rPr lang="vi-VN" sz="1800">
                <a:solidFill>
                  <a:schemeClr val="tx1"/>
                </a:solidFill>
              </a:rPr>
              <a:t>Phân rã bài toán so sánh hai chuỗi lớn</a:t>
            </a:r>
            <a:r>
              <a:rPr lang="en-US" sz="1800">
                <a:solidFill>
                  <a:schemeClr val="tx1"/>
                </a:solidFill>
              </a:rPr>
              <a:t> a (độ dài M) và b (độ dài N)</a:t>
            </a:r>
            <a:r>
              <a:rPr lang="vi-VN" sz="1800">
                <a:solidFill>
                  <a:schemeClr val="tx1"/>
                </a:solidFill>
              </a:rPr>
              <a:t> thành các bước so sánh từng ký tự nhỏ, lưu trữ điểm số tích lũy</a:t>
            </a:r>
            <a:r>
              <a:rPr lang="en-US" sz="1800">
                <a:solidFill>
                  <a:schemeClr val="tx1"/>
                </a:solidFill>
              </a:rPr>
              <a:t> từ hàm tính điểm d(x, y)</a:t>
            </a:r>
            <a:r>
              <a:rPr lang="vi-VN" sz="1800">
                <a:solidFill>
                  <a:schemeClr val="tx1"/>
                </a:solidFill>
              </a:rPr>
              <a:t> vào một ma trận.</a:t>
            </a:r>
            <a:endParaRPr lang="en-US" sz="1800">
              <a:solidFill>
                <a:schemeClr val="tx1"/>
              </a:solidFill>
            </a:endParaRPr>
          </a:p>
          <a:p>
            <a:pPr algn="just"/>
            <a:endParaRPr lang="en-US" sz="1800">
              <a:solidFill>
                <a:schemeClr val="tx1"/>
              </a:solidFill>
            </a:endParaRPr>
          </a:p>
          <a:p>
            <a:pPr algn="just"/>
            <a:r>
              <a:rPr lang="en-US" sz="1800" b="1">
                <a:solidFill>
                  <a:schemeClr val="tx1"/>
                </a:solidFill>
              </a:rPr>
              <a:t>Mục tiêu:</a:t>
            </a:r>
            <a:r>
              <a:rPr lang="en-US" sz="1800">
                <a:solidFill>
                  <a:schemeClr val="tx1"/>
                </a:solidFill>
              </a:rPr>
              <a:t> </a:t>
            </a:r>
            <a:r>
              <a:rPr lang="vi-VN" sz="1800">
                <a:solidFill>
                  <a:schemeClr val="tx1"/>
                </a:solidFill>
              </a:rPr>
              <a:t>Đảm bảo tìm ra phép so hàng tối ưu tuyệt đối về mặt toán học (Optimal Alignment) dựa trên hệ thống điểm thưởng/phạt.</a:t>
            </a:r>
            <a:endParaRPr lang="en-US" sz="1800">
              <a:solidFill>
                <a:schemeClr val="tx1"/>
              </a:solidFill>
            </a:endParaRPr>
          </a:p>
          <a:p>
            <a:pPr algn="just"/>
            <a:endParaRPr lang="en-US" sz="1800">
              <a:solidFill>
                <a:schemeClr val="tx1"/>
              </a:solidFill>
            </a:endParaRPr>
          </a:p>
          <a:p>
            <a:pPr algn="just"/>
            <a:r>
              <a:rPr lang="en-US" sz="1800" b="1">
                <a:solidFill>
                  <a:schemeClr val="tx1"/>
                </a:solidFill>
              </a:rPr>
              <a:t>Độ phức tạp cơ sở:</a:t>
            </a:r>
          </a:p>
          <a:p>
            <a:pPr marL="285750" indent="-285750" algn="just">
              <a:buFontTx/>
              <a:buChar char="-"/>
            </a:pPr>
            <a:r>
              <a:rPr lang="en-US" sz="1800">
                <a:solidFill>
                  <a:schemeClr val="tx1"/>
                </a:solidFill>
              </a:rPr>
              <a:t>Thời gian O(MxN)</a:t>
            </a:r>
          </a:p>
          <a:p>
            <a:pPr marL="285750" indent="-285750" algn="just">
              <a:buFontTx/>
              <a:buChar char="-"/>
            </a:pPr>
            <a:r>
              <a:rPr lang="en-US" sz="1800">
                <a:solidFill>
                  <a:schemeClr val="tx1"/>
                </a:solidFill>
              </a:rPr>
              <a:t>Bộ nhớ: O(MxN)</a:t>
            </a:r>
          </a:p>
        </p:txBody>
      </p:sp>
    </p:spTree>
    <p:extLst>
      <p:ext uri="{BB962C8B-B14F-4D97-AF65-F5344CB8AC3E}">
        <p14:creationId xmlns:p14="http://schemas.microsoft.com/office/powerpoint/2010/main" val="1604246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7796254F-357F-1CCD-2954-5DD048649CF6}"/>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F40B1980-8D89-8611-4DA0-2DD070ABBFEB}"/>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lvl="0" algn="just">
              <a:lnSpc>
                <a:spcPct val="130000"/>
              </a:lnSpc>
              <a:buClr>
                <a:schemeClr val="accent4">
                  <a:lumMod val="75000"/>
                </a:schemeClr>
              </a:buClr>
              <a:buSzPts val="1976"/>
            </a:pPr>
            <a:r>
              <a:rPr lang="en-US"/>
              <a:t>Thuật toán Needleman-Wunsch (toàn cục)</a:t>
            </a:r>
          </a:p>
        </p:txBody>
      </p:sp>
      <p:sp>
        <p:nvSpPr>
          <p:cNvPr id="3" name="Slide Number Placeholder 2">
            <a:extLst>
              <a:ext uri="{FF2B5EF4-FFF2-40B4-BE49-F238E27FC236}">
                <a16:creationId xmlns:a16="http://schemas.microsoft.com/office/drawing/2014/main" id="{B40C7FC8-DF0D-C738-C631-62175B810E72}"/>
              </a:ext>
            </a:extLst>
          </p:cNvPr>
          <p:cNvSpPr>
            <a:spLocks noGrp="1"/>
          </p:cNvSpPr>
          <p:nvPr>
            <p:ph type="sldNum" idx="12"/>
          </p:nvPr>
        </p:nvSpPr>
        <p:spPr/>
        <p:txBody>
          <a:bodyPr/>
          <a:lstStyle/>
          <a:p>
            <a:r>
              <a:rPr lang="en-US" dirty="0"/>
              <a:t>12</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8BD46A4-2C8C-192D-C816-765F4B8532EF}"/>
                  </a:ext>
                </a:extLst>
              </p:cNvPr>
              <p:cNvSpPr/>
              <p:nvPr/>
            </p:nvSpPr>
            <p:spPr>
              <a:xfrm>
                <a:off x="287743" y="921208"/>
                <a:ext cx="5687161" cy="59367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endParaRPr lang="en-US" sz="1800">
                  <a:solidFill>
                    <a:schemeClr val="tx1"/>
                  </a:solidFill>
                </a:endParaRPr>
              </a:p>
              <a:p>
                <a:pPr algn="just"/>
                <a:r>
                  <a:rPr lang="en-US" sz="1800" b="1">
                    <a:solidFill>
                      <a:schemeClr val="tx1"/>
                    </a:solidFill>
                  </a:rPr>
                  <a:t>Các bước thực hiện</a:t>
                </a:r>
                <a:r>
                  <a:rPr lang="en-US" sz="1800">
                    <a:solidFill>
                      <a:schemeClr val="tx1"/>
                    </a:solidFill>
                  </a:rPr>
                  <a:t>:</a:t>
                </a:r>
              </a:p>
              <a:p>
                <a:pPr algn="just"/>
                <a:r>
                  <a:rPr lang="en-US" sz="1800">
                    <a:solidFill>
                      <a:schemeClr val="tx1"/>
                    </a:solidFill>
                  </a:rPr>
                  <a:t>- Khởi tạo ma trận tính điểm</a:t>
                </a:r>
              </a:p>
              <a:p>
                <a:pPr algn="just"/>
                <a:br>
                  <a:rPr lang="en-US" sz="2400" b="0" i="1">
                    <a:solidFill>
                      <a:schemeClr val="tx1"/>
                    </a:solidFill>
                  </a:rPr>
                </a:b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 </m:t>
                      </m:r>
                    </m:oMath>
                  </m:oMathPara>
                </a14:m>
                <a:endParaRPr lang="en-US" sz="1800" b="0">
                  <a:solidFill>
                    <a:schemeClr val="tx1"/>
                  </a:solidFill>
                </a:endParaRPr>
              </a:p>
              <a:p>
                <a:pPr algn="just"/>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a:p>
                <a:pPr algn="just"/>
                <a:r>
                  <a:rPr lang="en-US" sz="1800">
                    <a:solidFill>
                      <a:schemeClr val="tx1"/>
                    </a:solidFill>
                  </a:rPr>
                  <a:t>- Điền ma trận</a:t>
                </a:r>
              </a:p>
              <a:p>
                <a:pPr algn="just"/>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a:p>
                <a:pPr algn="just"/>
                <a:r>
                  <a:rPr lang="en-US" sz="1800">
                    <a:solidFill>
                      <a:schemeClr val="tx1"/>
                    </a:solidFill>
                  </a:rPr>
                  <a:t>- Truy vết: góc phải dưới =&gt; góc trái trên</a:t>
                </a:r>
              </a:p>
              <a:p>
                <a:pPr algn="just"/>
                <a:endParaRPr lang="en-US" sz="1800">
                  <a:solidFill>
                    <a:schemeClr val="tx1"/>
                  </a:solidFill>
                </a:endParaRPr>
              </a:p>
              <a:p>
                <a:pPr marL="285750" indent="-285750" algn="just">
                  <a:buFontTx/>
                  <a:buChar char="-"/>
                </a:pPr>
                <a:r>
                  <a:rPr lang="en-US" sz="1800">
                    <a:solidFill>
                      <a:schemeClr val="tx1"/>
                    </a:solidFill>
                  </a:rPr>
                  <a:t>Đưa ra kết quả</a:t>
                </a:r>
              </a:p>
              <a:p>
                <a:pPr algn="just"/>
                <a:r>
                  <a:rPr lang="fr-FR" sz="1800">
                    <a:solidFill>
                      <a:schemeClr val="tx1"/>
                    </a:solidFill>
                  </a:rPr>
                  <a:t>Chuỗi 1 :   -  G C A T T A C</a:t>
                </a:r>
              </a:p>
              <a:p>
                <a:pPr algn="just"/>
                <a:r>
                  <a:rPr lang="fr-FR" sz="1800">
                    <a:solidFill>
                      <a:schemeClr val="tx1"/>
                    </a:solidFill>
                  </a:rPr>
                  <a:t>Chuỗi 2 :   T G C A T T A  -</a:t>
                </a:r>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p:txBody>
          </p:sp>
        </mc:Choice>
        <mc:Fallback xmlns="">
          <p:sp>
            <p:nvSpPr>
              <p:cNvPr id="4" name="Rectangle 3">
                <a:extLst>
                  <a:ext uri="{FF2B5EF4-FFF2-40B4-BE49-F238E27FC236}">
                    <a16:creationId xmlns:a16="http://schemas.microsoft.com/office/drawing/2014/main" id="{B8BD46A4-2C8C-192D-C816-765F4B8532EF}"/>
                  </a:ext>
                </a:extLst>
              </p:cNvPr>
              <p:cNvSpPr>
                <a:spLocks noRot="1" noChangeAspect="1" noMove="1" noResize="1" noEditPoints="1" noAdjustHandles="1" noChangeArrowheads="1" noChangeShapeType="1" noTextEdit="1"/>
              </p:cNvSpPr>
              <p:nvPr/>
            </p:nvSpPr>
            <p:spPr>
              <a:xfrm>
                <a:off x="287743" y="921208"/>
                <a:ext cx="5687161" cy="5936792"/>
              </a:xfrm>
              <a:prstGeom prst="rect">
                <a:avLst/>
              </a:prstGeom>
              <a:blipFill>
                <a:blip r:embed="rId3"/>
                <a:stretch>
                  <a:fillRect l="-85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67ED23B-B9BC-78B9-99E8-AD16BD07B6CC}"/>
                  </a:ext>
                </a:extLst>
              </p:cNvPr>
              <p:cNvSpPr txBox="1"/>
              <p:nvPr/>
            </p:nvSpPr>
            <p:spPr>
              <a:xfrm>
                <a:off x="850152" y="1836367"/>
                <a:ext cx="3596640" cy="1067152"/>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b="0" i="1" smtClean="0">
                              <a:solidFill>
                                <a:schemeClr val="tx1"/>
                              </a:solidFill>
                              <a:latin typeface="Cambria Math" panose="02040503050406030204" pitchFamily="18" charset="0"/>
                            </a:rPr>
                            <m:t>0,0 </m:t>
                          </m:r>
                        </m:sub>
                      </m:sSub>
                      <m:r>
                        <a:rPr lang="en-US" sz="2000" b="0" i="1" smtClean="0">
                          <a:solidFill>
                            <a:schemeClr val="tx1"/>
                          </a:solidFill>
                          <a:latin typeface="Cambria Math" panose="02040503050406030204" pitchFamily="18" charset="0"/>
                        </a:rPr>
                        <m:t>=0,</m:t>
                      </m:r>
                    </m:oMath>
                    <m:oMath xmlns:m="http://schemas.openxmlformats.org/officeDocument/2006/math">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 0</m:t>
                          </m:r>
                        </m:sub>
                      </m:sSub>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𝑑</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𝑥</m:t>
                          </m:r>
                          <m:r>
                            <a:rPr lang="en-US" sz="2000" b="0" i="1" smtClean="0">
                              <a:solidFill>
                                <a:schemeClr val="tx1"/>
                              </a:solidFill>
                              <a:latin typeface="Cambria Math" panose="02040503050406030204" pitchFamily="18" charset="0"/>
                            </a:rPr>
                            <m:t>, −</m:t>
                          </m:r>
                        </m:e>
                      </m:d>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𝑖</m:t>
                      </m:r>
                      <m:r>
                        <a:rPr lang="en-US" sz="2000" b="0" i="1" smtClean="0">
                          <a:solidFill>
                            <a:schemeClr val="tx1"/>
                          </a:solidFill>
                          <a:latin typeface="Cambria Math" panose="02040503050406030204" pitchFamily="18" charset="0"/>
                          <a:ea typeface="Cambria Math" panose="02040503050406030204" pitchFamily="18" charset="0"/>
                        </a:rPr>
                        <m:t> ∀ </m:t>
                      </m:r>
                      <m:r>
                        <a:rPr lang="en-US" sz="2000" b="0" i="1" smtClean="0">
                          <a:solidFill>
                            <a:schemeClr val="tx1"/>
                          </a:solidFill>
                          <a:latin typeface="Cambria Math" panose="02040503050406030204" pitchFamily="18" charset="0"/>
                          <a:ea typeface="Cambria Math" panose="02040503050406030204" pitchFamily="18" charset="0"/>
                        </a:rPr>
                        <m:t>𝑖</m:t>
                      </m:r>
                    </m:oMath>
                    <m:oMath xmlns:m="http://schemas.openxmlformats.org/officeDocument/2006/math">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𝑆</m:t>
                          </m:r>
                        </m:e>
                        <m:sub>
                          <m:r>
                            <a:rPr lang="en-US" sz="2000" b="0" i="1" smtClean="0">
                              <a:solidFill>
                                <a:schemeClr val="tx1"/>
                              </a:solidFill>
                              <a:latin typeface="Cambria Math" panose="02040503050406030204" pitchFamily="18" charset="0"/>
                              <a:ea typeface="Cambria Math" panose="02040503050406030204" pitchFamily="18" charset="0"/>
                            </a:rPr>
                            <m:t>0, </m:t>
                          </m:r>
                          <m:r>
                            <a:rPr lang="en-US" sz="2000" b="0" i="1" smtClean="0">
                              <a:solidFill>
                                <a:schemeClr val="tx1"/>
                              </a:solidFill>
                              <a:latin typeface="Cambria Math" panose="02040503050406030204" pitchFamily="18" charset="0"/>
                              <a:ea typeface="Cambria Math" panose="02040503050406030204" pitchFamily="18" charset="0"/>
                            </a:rPr>
                            <m:t>𝑗</m:t>
                          </m:r>
                        </m:sub>
                      </m:sSub>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𝑑</m:t>
                      </m:r>
                      <m:d>
                        <m:dPr>
                          <m:ctrlPr>
                            <a:rPr lang="en-US" sz="2000" b="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𝑦</m:t>
                          </m:r>
                        </m:e>
                      </m:d>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𝑗</m:t>
                      </m:r>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𝑗</m:t>
                      </m:r>
                    </m:oMath>
                  </m:oMathPara>
                </a14:m>
                <a:endParaRPr lang="en-US" sz="2000" b="0" i="1">
                  <a:solidFill>
                    <a:schemeClr val="tx1"/>
                  </a:solidFill>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E67ED23B-B9BC-78B9-99E8-AD16BD07B6CC}"/>
                  </a:ext>
                </a:extLst>
              </p:cNvPr>
              <p:cNvSpPr txBox="1">
                <a:spLocks noRot="1" noChangeAspect="1" noMove="1" noResize="1" noEditPoints="1" noAdjustHandles="1" noChangeArrowheads="1" noChangeShapeType="1" noTextEdit="1"/>
              </p:cNvSpPr>
              <p:nvPr/>
            </p:nvSpPr>
            <p:spPr>
              <a:xfrm>
                <a:off x="850152" y="1836367"/>
                <a:ext cx="3596640" cy="1067152"/>
              </a:xfrm>
              <a:prstGeom prst="rect">
                <a:avLst/>
              </a:prstGeom>
              <a:blipFill>
                <a:blip r:embed="rId4"/>
                <a:stretch>
                  <a:fillRect b="-3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4AE7F7E-16D8-0F4B-24A5-13753993D5B5}"/>
                  </a:ext>
                </a:extLst>
              </p:cNvPr>
              <p:cNvSpPr txBox="1"/>
              <p:nvPr/>
            </p:nvSpPr>
            <p:spPr>
              <a:xfrm>
                <a:off x="850152" y="3596886"/>
                <a:ext cx="3512372" cy="11396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𝑖</m:t>
                          </m:r>
                          <m:r>
                            <a:rPr lang="en-US" sz="2000" b="0" i="1" smtClean="0">
                              <a:latin typeface="Cambria Math" panose="02040503050406030204" pitchFamily="18" charset="0"/>
                            </a:rPr>
                            <m:t>, </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m:rPr>
                          <m:sty m:val="p"/>
                        </m:rPr>
                        <a:rPr lang="en-US" sz="2000" b="0" i="0" smtClean="0">
                          <a:latin typeface="Cambria Math" panose="02040503050406030204" pitchFamily="18" charset="0"/>
                        </a:rPr>
                        <m:t>max</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𝑖</m:t>
                                  </m:r>
                                  <m:r>
                                    <a:rPr lang="en-US" sz="2000" b="0" i="1" smtClean="0">
                                      <a:latin typeface="Cambria Math" panose="02040503050406030204" pitchFamily="18" charset="0"/>
                                    </a:rPr>
                                    <m:t>−1, </m:t>
                                  </m:r>
                                  <m:r>
                                    <a:rPr lang="en-US" sz="2000" b="0" i="1" smtClean="0">
                                      <a:latin typeface="Cambria Math" panose="02040503050406030204" pitchFamily="18" charset="0"/>
                                    </a:rPr>
                                    <m:t>𝑗</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𝑑</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𝑏</m:t>
                                  </m:r>
                                </m:e>
                                <m:sub>
                                  <m:r>
                                    <a:rPr lang="en-US" sz="2000" i="1">
                                      <a:latin typeface="Cambria Math" panose="02040503050406030204" pitchFamily="18" charset="0"/>
                                    </a:rPr>
                                    <m:t>𝑖</m:t>
                                  </m:r>
                                </m:sub>
                              </m:sSub>
                              <m:r>
                                <a:rPr lang="en-US" sz="2000" b="0" i="1" smtClean="0">
                                  <a:latin typeface="Cambria Math" panose="02040503050406030204" pitchFamily="18" charset="0"/>
                                </a:rPr>
                                <m:t>)</m:t>
                              </m:r>
                            </m:e>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𝑖</m:t>
                                  </m:r>
                                  <m:r>
                                    <a:rPr lang="en-US" sz="2000" i="1">
                                      <a:latin typeface="Cambria Math" panose="02040503050406030204" pitchFamily="18" charset="0"/>
                                    </a:rPr>
                                    <m:t>−1, </m:t>
                                  </m:r>
                                  <m:r>
                                    <a:rPr lang="en-US" sz="2000" b="0" i="1" smtClean="0">
                                      <a:latin typeface="Cambria Math" panose="02040503050406030204" pitchFamily="18" charset="0"/>
                                    </a:rPr>
                                    <m:t>𝑗</m:t>
                                  </m:r>
                                </m:sub>
                              </m:sSub>
                              <m:r>
                                <a:rPr lang="en-US" sz="2000" i="1">
                                  <a:latin typeface="Cambria Math" panose="02040503050406030204" pitchFamily="18" charset="0"/>
                                </a:rPr>
                                <m:t>+</m:t>
                              </m:r>
                              <m:r>
                                <a:rPr lang="en-US" sz="2000" i="1">
                                  <a:latin typeface="Cambria Math" panose="02040503050406030204" pitchFamily="18" charset="0"/>
                                </a:rPr>
                                <m:t>𝑑</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𝑖</m:t>
                                  </m:r>
                                </m:sub>
                              </m:sSub>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m:t>
                              </m:r>
                            </m:e>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𝑖</m:t>
                                  </m:r>
                                  <m:r>
                                    <a:rPr lang="en-US" sz="2000" i="1">
                                      <a:latin typeface="Cambria Math" panose="02040503050406030204" pitchFamily="18" charset="0"/>
                                    </a:rPr>
                                    <m:t> </m:t>
                                  </m:r>
                                  <m:r>
                                    <a:rPr lang="en-US" sz="2000" i="1">
                                      <a:latin typeface="Cambria Math" panose="02040503050406030204" pitchFamily="18" charset="0"/>
                                    </a:rPr>
                                    <m:t>𝑗</m:t>
                                  </m:r>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𝑑</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𝑖</m:t>
                                  </m:r>
                                </m:sub>
                              </m:sSub>
                              <m:r>
                                <a:rPr lang="en-US" sz="2000" i="1">
                                  <a:latin typeface="Cambria Math" panose="02040503050406030204" pitchFamily="18" charset="0"/>
                                </a:rPr>
                                <m:t>)</m:t>
                              </m:r>
                            </m:e>
                          </m:eqArr>
                        </m:e>
                      </m:d>
                      <m:r>
                        <a:rPr lang="en-US" sz="2000" b="0" i="1" smtClean="0">
                          <a:latin typeface="Cambria Math" panose="02040503050406030204" pitchFamily="18" charset="0"/>
                        </a:rPr>
                        <m:t> </m:t>
                      </m:r>
                    </m:oMath>
                  </m:oMathPara>
                </a14:m>
                <a:endParaRPr lang="en-US" sz="2000"/>
              </a:p>
            </p:txBody>
          </p:sp>
        </mc:Choice>
        <mc:Fallback xmlns="">
          <p:sp>
            <p:nvSpPr>
              <p:cNvPr id="10" name="TextBox 9">
                <a:extLst>
                  <a:ext uri="{FF2B5EF4-FFF2-40B4-BE49-F238E27FC236}">
                    <a16:creationId xmlns:a16="http://schemas.microsoft.com/office/drawing/2014/main" id="{B4AE7F7E-16D8-0F4B-24A5-13753993D5B5}"/>
                  </a:ext>
                </a:extLst>
              </p:cNvPr>
              <p:cNvSpPr txBox="1">
                <a:spLocks noRot="1" noChangeAspect="1" noMove="1" noResize="1" noEditPoints="1" noAdjustHandles="1" noChangeArrowheads="1" noChangeShapeType="1" noTextEdit="1"/>
              </p:cNvSpPr>
              <p:nvPr/>
            </p:nvSpPr>
            <p:spPr>
              <a:xfrm>
                <a:off x="850152" y="3596886"/>
                <a:ext cx="3512372" cy="1139671"/>
              </a:xfrm>
              <a:prstGeom prst="rect">
                <a:avLst/>
              </a:prstGeom>
              <a:blipFill>
                <a:blip r:embed="rId5"/>
                <a:stretch>
                  <a:fillRect/>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FC34F542-AD03-0552-7A2D-2B3F58190A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5427" y="1200095"/>
            <a:ext cx="4410905" cy="440275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28859B8-0934-1A4B-7850-0972A47FED23}"/>
              </a:ext>
            </a:extLst>
          </p:cNvPr>
          <p:cNvSpPr txBox="1"/>
          <p:nvPr/>
        </p:nvSpPr>
        <p:spPr>
          <a:xfrm>
            <a:off x="4769708" y="5674493"/>
            <a:ext cx="4106624" cy="738664"/>
          </a:xfrm>
          <a:prstGeom prst="rect">
            <a:avLst/>
          </a:prstGeom>
          <a:noFill/>
        </p:spPr>
        <p:txBody>
          <a:bodyPr wrap="square" rtlCol="0">
            <a:spAutoFit/>
          </a:bodyPr>
          <a:lstStyle/>
          <a:p>
            <a:r>
              <a:rPr lang="en-US">
                <a:latin typeface="Gill Sans" panose="020B0604020202020204" charset="0"/>
              </a:rPr>
              <a:t>=&gt;</a:t>
            </a:r>
            <a:r>
              <a:rPr lang="en-US"/>
              <a:t> Ứng dụng: </a:t>
            </a:r>
            <a:r>
              <a:rPr lang="vi-VN"/>
              <a:t>Dùng</a:t>
            </a:r>
            <a:r>
              <a:rPr lang="en-US"/>
              <a:t> </a:t>
            </a:r>
            <a:r>
              <a:rPr lang="vi-VN"/>
              <a:t>khi hai chuỗi có độ dài tương đương và được cho là có quan hệ họ hàng xuyên suốt (ví dụ: so sánh cùng một gen giữa 2 loài</a:t>
            </a:r>
            <a:r>
              <a:rPr lang="en-US">
                <a:latin typeface="Gill Sans" panose="020B0604020202020204" charset="0"/>
              </a:rPr>
              <a:t>)</a:t>
            </a:r>
          </a:p>
        </p:txBody>
      </p:sp>
    </p:spTree>
    <p:extLst>
      <p:ext uri="{BB962C8B-B14F-4D97-AF65-F5344CB8AC3E}">
        <p14:creationId xmlns:p14="http://schemas.microsoft.com/office/powerpoint/2010/main" val="1551579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EEBD6253-E376-FB3F-8F04-A27ECB2473C9}"/>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5F3A0D9D-D7FF-429F-BC6C-C3C7EAA764F7}"/>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en-US"/>
              <a:t>Thuật toán Smith-Waterman (cục bộ)</a:t>
            </a:r>
          </a:p>
        </p:txBody>
      </p:sp>
      <p:sp>
        <p:nvSpPr>
          <p:cNvPr id="3" name="Slide Number Placeholder 2">
            <a:extLst>
              <a:ext uri="{FF2B5EF4-FFF2-40B4-BE49-F238E27FC236}">
                <a16:creationId xmlns:a16="http://schemas.microsoft.com/office/drawing/2014/main" id="{2A59EBE0-A46F-FABB-11E2-C787CC076A75}"/>
              </a:ext>
            </a:extLst>
          </p:cNvPr>
          <p:cNvSpPr>
            <a:spLocks noGrp="1"/>
          </p:cNvSpPr>
          <p:nvPr>
            <p:ph type="sldNum" idx="12"/>
          </p:nvPr>
        </p:nvSpPr>
        <p:spPr/>
        <p:txBody>
          <a:bodyPr/>
          <a:lstStyle/>
          <a:p>
            <a:r>
              <a:rPr lang="en-US" dirty="0"/>
              <a:t>13</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EB41FF6-D7FA-34B2-F042-DAFED953BA06}"/>
                  </a:ext>
                </a:extLst>
              </p:cNvPr>
              <p:cNvSpPr/>
              <p:nvPr/>
            </p:nvSpPr>
            <p:spPr>
              <a:xfrm>
                <a:off x="287744" y="921208"/>
                <a:ext cx="4406696" cy="59367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endParaRPr lang="en-US" sz="1800">
                  <a:solidFill>
                    <a:schemeClr val="tx1"/>
                  </a:solidFill>
                </a:endParaRPr>
              </a:p>
              <a:p>
                <a:pPr algn="just"/>
                <a:r>
                  <a:rPr lang="en-US" sz="1800" b="1">
                    <a:solidFill>
                      <a:schemeClr val="tx1"/>
                    </a:solidFill>
                  </a:rPr>
                  <a:t>Các bước thực hiện</a:t>
                </a:r>
                <a:r>
                  <a:rPr lang="en-US" sz="1800">
                    <a:solidFill>
                      <a:schemeClr val="tx1"/>
                    </a:solidFill>
                  </a:rPr>
                  <a:t>:</a:t>
                </a:r>
              </a:p>
              <a:p>
                <a:pPr algn="just"/>
                <a:r>
                  <a:rPr lang="en-US" sz="1800">
                    <a:solidFill>
                      <a:schemeClr val="tx1"/>
                    </a:solidFill>
                  </a:rPr>
                  <a:t>- Khởi tạo ma trận tính điểm</a:t>
                </a:r>
              </a:p>
              <a:p>
                <a:pPr algn="just"/>
                <a:br>
                  <a:rPr lang="en-US" sz="2400" b="0" i="1">
                    <a:solidFill>
                      <a:schemeClr val="tx1"/>
                    </a:solidFill>
                  </a:rPr>
                </a:b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 </m:t>
                      </m:r>
                    </m:oMath>
                  </m:oMathPara>
                </a14:m>
                <a:endParaRPr lang="en-US" sz="1800" b="0">
                  <a:solidFill>
                    <a:schemeClr val="tx1"/>
                  </a:solidFill>
                </a:endParaRPr>
              </a:p>
              <a:p>
                <a:pPr algn="just"/>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a:p>
                <a:pPr algn="just"/>
                <a:r>
                  <a:rPr lang="en-US" sz="1800">
                    <a:solidFill>
                      <a:schemeClr val="tx1"/>
                    </a:solidFill>
                  </a:rPr>
                  <a:t>- Điền ma trận</a:t>
                </a:r>
              </a:p>
              <a:p>
                <a:pPr algn="just"/>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a:p>
                <a:pPr algn="just"/>
                <a:r>
                  <a:rPr lang="en-US" sz="1800">
                    <a:solidFill>
                      <a:schemeClr val="tx1"/>
                    </a:solidFill>
                  </a:rPr>
                  <a:t>- Truy vết: ô điểm cao nhất =&gt; ô số 0 đầu tiên trong chuỗi</a:t>
                </a:r>
              </a:p>
              <a:p>
                <a:pPr marL="285750" indent="-285750" algn="just">
                  <a:buFontTx/>
                  <a:buChar char="-"/>
                </a:pPr>
                <a:r>
                  <a:rPr lang="en-US" sz="1800">
                    <a:solidFill>
                      <a:schemeClr val="tx1"/>
                    </a:solidFill>
                  </a:rPr>
                  <a:t>Đưa ra kết quả so hàng cục bộ tối ưu</a:t>
                </a:r>
              </a:p>
              <a:p>
                <a:pPr algn="just"/>
                <a:r>
                  <a:rPr lang="fr-FR" sz="1800">
                    <a:solidFill>
                      <a:schemeClr val="tx1"/>
                    </a:solidFill>
                  </a:rPr>
                  <a:t>Từ chuỗi 1 :   G C  -  -  T T A (C)</a:t>
                </a:r>
              </a:p>
              <a:p>
                <a:pPr algn="just"/>
                <a:r>
                  <a:rPr lang="fr-FR" sz="1800">
                    <a:solidFill>
                      <a:schemeClr val="tx1"/>
                    </a:solidFill>
                  </a:rPr>
                  <a:t>Từ chuỗi 2 :   G C G A T T A</a:t>
                </a:r>
                <a:endParaRPr lang="en-US" sz="1800">
                  <a:solidFill>
                    <a:schemeClr val="tx1"/>
                  </a:solidFill>
                </a:endParaRPr>
              </a:p>
              <a:p>
                <a:pPr algn="just"/>
                <a:endParaRPr lang="en-US" sz="1800">
                  <a:solidFill>
                    <a:schemeClr val="tx1"/>
                  </a:solidFill>
                </a:endParaRPr>
              </a:p>
              <a:p>
                <a:pPr algn="just"/>
                <a:endParaRPr lang="en-US" sz="1800">
                  <a:solidFill>
                    <a:schemeClr val="tx1"/>
                  </a:solidFill>
                </a:endParaRPr>
              </a:p>
            </p:txBody>
          </p:sp>
        </mc:Choice>
        <mc:Fallback xmlns="">
          <p:sp>
            <p:nvSpPr>
              <p:cNvPr id="4" name="Rectangle 3">
                <a:extLst>
                  <a:ext uri="{FF2B5EF4-FFF2-40B4-BE49-F238E27FC236}">
                    <a16:creationId xmlns:a16="http://schemas.microsoft.com/office/drawing/2014/main" id="{EEB41FF6-D7FA-34B2-F042-DAFED953BA06}"/>
                  </a:ext>
                </a:extLst>
              </p:cNvPr>
              <p:cNvSpPr>
                <a:spLocks noRot="1" noChangeAspect="1" noMove="1" noResize="1" noEditPoints="1" noAdjustHandles="1" noChangeArrowheads="1" noChangeShapeType="1" noTextEdit="1"/>
              </p:cNvSpPr>
              <p:nvPr/>
            </p:nvSpPr>
            <p:spPr>
              <a:xfrm>
                <a:off x="287744" y="921208"/>
                <a:ext cx="4406696" cy="5936792"/>
              </a:xfrm>
              <a:prstGeom prst="rect">
                <a:avLst/>
              </a:prstGeom>
              <a:blipFill>
                <a:blip r:embed="rId3"/>
                <a:stretch>
                  <a:fillRect l="-1107" r="-124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4E0DD4C-F15D-7826-4DEE-B5E59206BFD2}"/>
                  </a:ext>
                </a:extLst>
              </p:cNvPr>
              <p:cNvSpPr txBox="1"/>
              <p:nvPr/>
            </p:nvSpPr>
            <p:spPr>
              <a:xfrm>
                <a:off x="850152" y="1836367"/>
                <a:ext cx="3596640" cy="1067152"/>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b="0" i="1" smtClean="0">
                              <a:solidFill>
                                <a:schemeClr val="tx1"/>
                              </a:solidFill>
                              <a:latin typeface="Cambria Math" panose="02040503050406030204" pitchFamily="18" charset="0"/>
                            </a:rPr>
                            <m:t>0,0 </m:t>
                          </m:r>
                        </m:sub>
                      </m:sSub>
                      <m:r>
                        <a:rPr lang="en-US" sz="2000" b="0" i="1" smtClean="0">
                          <a:solidFill>
                            <a:schemeClr val="tx1"/>
                          </a:solidFill>
                          <a:latin typeface="Cambria Math" panose="02040503050406030204" pitchFamily="18" charset="0"/>
                        </a:rPr>
                        <m:t>=0,</m:t>
                      </m:r>
                    </m:oMath>
                    <m:oMath xmlns:m="http://schemas.openxmlformats.org/officeDocument/2006/math">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b="0" i="1" smtClean="0">
                              <a:solidFill>
                                <a:schemeClr val="tx1"/>
                              </a:solidFill>
                              <a:latin typeface="Cambria Math" panose="02040503050406030204" pitchFamily="18" charset="0"/>
                            </a:rPr>
                            <m:t>𝑖</m:t>
                          </m:r>
                          <m:r>
                            <a:rPr lang="en-US" sz="2000" b="0" i="1" smtClean="0">
                              <a:solidFill>
                                <a:schemeClr val="tx1"/>
                              </a:solidFill>
                              <a:latin typeface="Cambria Math" panose="02040503050406030204" pitchFamily="18" charset="0"/>
                            </a:rPr>
                            <m:t>, 0</m:t>
                          </m:r>
                        </m:sub>
                      </m:sSub>
                      <m:r>
                        <a:rPr lang="en-US" sz="2000" b="0" i="1" smtClean="0">
                          <a:solidFill>
                            <a:schemeClr val="tx1"/>
                          </a:solidFill>
                          <a:latin typeface="Cambria Math" panose="02040503050406030204" pitchFamily="18" charset="0"/>
                        </a:rPr>
                        <m:t> =0</m:t>
                      </m:r>
                      <m:r>
                        <a:rPr lang="en-US" sz="2000" b="0" i="1" smtClean="0">
                          <a:solidFill>
                            <a:schemeClr val="tx1"/>
                          </a:solidFill>
                          <a:latin typeface="Cambria Math" panose="02040503050406030204" pitchFamily="18" charset="0"/>
                          <a:ea typeface="Cambria Math" panose="02040503050406030204" pitchFamily="18" charset="0"/>
                        </a:rPr>
                        <m:t> ∀ </m:t>
                      </m:r>
                      <m:r>
                        <a:rPr lang="en-US" sz="2000" b="0" i="1" smtClean="0">
                          <a:solidFill>
                            <a:schemeClr val="tx1"/>
                          </a:solidFill>
                          <a:latin typeface="Cambria Math" panose="02040503050406030204" pitchFamily="18" charset="0"/>
                          <a:ea typeface="Cambria Math" panose="02040503050406030204" pitchFamily="18" charset="0"/>
                        </a:rPr>
                        <m:t>𝑖</m:t>
                      </m:r>
                    </m:oMath>
                    <m:oMath xmlns:m="http://schemas.openxmlformats.org/officeDocument/2006/math">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𝑆</m:t>
                          </m:r>
                        </m:e>
                        <m:sub>
                          <m:r>
                            <a:rPr lang="en-US" sz="2000" b="0" i="1" smtClean="0">
                              <a:solidFill>
                                <a:schemeClr val="tx1"/>
                              </a:solidFill>
                              <a:latin typeface="Cambria Math" panose="02040503050406030204" pitchFamily="18" charset="0"/>
                              <a:ea typeface="Cambria Math" panose="02040503050406030204" pitchFamily="18" charset="0"/>
                            </a:rPr>
                            <m:t>0, </m:t>
                          </m:r>
                          <m:r>
                            <a:rPr lang="en-US" sz="2000" b="0" i="1" smtClean="0">
                              <a:solidFill>
                                <a:schemeClr val="tx1"/>
                              </a:solidFill>
                              <a:latin typeface="Cambria Math" panose="02040503050406030204" pitchFamily="18" charset="0"/>
                              <a:ea typeface="Cambria Math" panose="02040503050406030204" pitchFamily="18" charset="0"/>
                            </a:rPr>
                            <m:t>𝑗</m:t>
                          </m:r>
                        </m:sub>
                      </m:sSub>
                      <m:r>
                        <a:rPr lang="en-US" sz="2000" b="0" i="1" smtClean="0">
                          <a:solidFill>
                            <a:schemeClr val="tx1"/>
                          </a:solidFill>
                          <a:latin typeface="Cambria Math" panose="02040503050406030204" pitchFamily="18" charset="0"/>
                          <a:ea typeface="Cambria Math" panose="02040503050406030204" pitchFamily="18" charset="0"/>
                        </a:rPr>
                        <m:t>=0 ∀</m:t>
                      </m:r>
                      <m:r>
                        <a:rPr lang="en-US" sz="2000" b="0" i="1" smtClean="0">
                          <a:solidFill>
                            <a:schemeClr val="tx1"/>
                          </a:solidFill>
                          <a:latin typeface="Cambria Math" panose="02040503050406030204" pitchFamily="18" charset="0"/>
                          <a:ea typeface="Cambria Math" panose="02040503050406030204" pitchFamily="18" charset="0"/>
                        </a:rPr>
                        <m:t>𝑗</m:t>
                      </m:r>
                    </m:oMath>
                  </m:oMathPara>
                </a14:m>
                <a:endParaRPr lang="en-US" sz="2000" b="0" i="1">
                  <a:solidFill>
                    <a:schemeClr val="tx1"/>
                  </a:solidFill>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E4E0DD4C-F15D-7826-4DEE-B5E59206BFD2}"/>
                  </a:ext>
                </a:extLst>
              </p:cNvPr>
              <p:cNvSpPr txBox="1">
                <a:spLocks noRot="1" noChangeAspect="1" noMove="1" noResize="1" noEditPoints="1" noAdjustHandles="1" noChangeArrowheads="1" noChangeShapeType="1" noTextEdit="1"/>
              </p:cNvSpPr>
              <p:nvPr/>
            </p:nvSpPr>
            <p:spPr>
              <a:xfrm>
                <a:off x="850152" y="1836367"/>
                <a:ext cx="3596640" cy="1067152"/>
              </a:xfrm>
              <a:prstGeom prst="rect">
                <a:avLst/>
              </a:prstGeom>
              <a:blipFill>
                <a:blip r:embed="rId4"/>
                <a:stretch>
                  <a:fillRect b="-3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D25EBC0-17E4-9484-8F96-560D5DF8DDCD}"/>
                  </a:ext>
                </a:extLst>
              </p:cNvPr>
              <p:cNvSpPr txBox="1"/>
              <p:nvPr/>
            </p:nvSpPr>
            <p:spPr>
              <a:xfrm>
                <a:off x="850152" y="3401470"/>
                <a:ext cx="3522375" cy="139320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𝑖</m:t>
                          </m:r>
                          <m:r>
                            <a:rPr lang="en-US" sz="2000" b="0" i="1" smtClean="0">
                              <a:latin typeface="Cambria Math" panose="02040503050406030204" pitchFamily="18" charset="0"/>
                            </a:rPr>
                            <m:t>, </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m:rPr>
                          <m:sty m:val="p"/>
                        </m:rPr>
                        <a:rPr lang="en-US" sz="2000" b="0" i="0" smtClean="0">
                          <a:latin typeface="Cambria Math" panose="02040503050406030204" pitchFamily="18" charset="0"/>
                        </a:rPr>
                        <m:t>max</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0</m:t>
                                  </m:r>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𝑖</m:t>
                                      </m:r>
                                      <m:r>
                                        <a:rPr lang="en-US" sz="2000" b="0" i="1" smtClean="0">
                                          <a:latin typeface="Cambria Math" panose="02040503050406030204" pitchFamily="18" charset="0"/>
                                        </a:rPr>
                                        <m:t>−1, </m:t>
                                      </m:r>
                                      <m:r>
                                        <a:rPr lang="en-US" sz="2000" b="0" i="1" smtClean="0">
                                          <a:latin typeface="Cambria Math" panose="02040503050406030204" pitchFamily="18" charset="0"/>
                                        </a:rPr>
                                        <m:t>𝑗</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𝑑</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𝑏</m:t>
                                      </m:r>
                                    </m:e>
                                    <m:sub>
                                      <m:r>
                                        <a:rPr lang="en-US" sz="2000" i="1">
                                          <a:latin typeface="Cambria Math" panose="02040503050406030204" pitchFamily="18" charset="0"/>
                                        </a:rPr>
                                        <m:t>𝑖</m:t>
                                      </m:r>
                                    </m:sub>
                                  </m:sSub>
                                  <m:r>
                                    <a:rPr lang="en-US" sz="2000" b="0" i="1" smtClean="0">
                                      <a:latin typeface="Cambria Math" panose="02040503050406030204" pitchFamily="18" charset="0"/>
                                    </a:rPr>
                                    <m:t>)</m:t>
                                  </m:r>
                                </m:e>
                              </m:eqArr>
                            </m:e>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𝑖</m:t>
                                  </m:r>
                                  <m:r>
                                    <a:rPr lang="en-US" sz="2000" i="1">
                                      <a:latin typeface="Cambria Math" panose="02040503050406030204" pitchFamily="18" charset="0"/>
                                    </a:rPr>
                                    <m:t>−1, </m:t>
                                  </m:r>
                                  <m:r>
                                    <a:rPr lang="en-US" sz="2000" b="0" i="1" smtClean="0">
                                      <a:latin typeface="Cambria Math" panose="02040503050406030204" pitchFamily="18" charset="0"/>
                                    </a:rPr>
                                    <m:t>𝑗</m:t>
                                  </m:r>
                                </m:sub>
                              </m:sSub>
                              <m:r>
                                <a:rPr lang="en-US" sz="2000" i="1">
                                  <a:latin typeface="Cambria Math" panose="02040503050406030204" pitchFamily="18" charset="0"/>
                                </a:rPr>
                                <m:t>+</m:t>
                              </m:r>
                              <m:r>
                                <a:rPr lang="en-US" sz="2000" i="1">
                                  <a:latin typeface="Cambria Math" panose="02040503050406030204" pitchFamily="18" charset="0"/>
                                </a:rPr>
                                <m:t>𝑑</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𝑖</m:t>
                                  </m:r>
                                </m:sub>
                              </m:sSub>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m:t>
                              </m:r>
                            </m:e>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𝑖</m:t>
                                  </m:r>
                                  <m:r>
                                    <a:rPr lang="en-US" sz="2000" i="1">
                                      <a:latin typeface="Cambria Math" panose="02040503050406030204" pitchFamily="18" charset="0"/>
                                    </a:rPr>
                                    <m:t> </m:t>
                                  </m:r>
                                  <m:r>
                                    <a:rPr lang="en-US" sz="2000" i="1">
                                      <a:latin typeface="Cambria Math" panose="02040503050406030204" pitchFamily="18" charset="0"/>
                                    </a:rPr>
                                    <m:t>𝑗</m:t>
                                  </m:r>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𝑑</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𝑖</m:t>
                                  </m:r>
                                </m:sub>
                              </m:sSub>
                              <m:r>
                                <a:rPr lang="en-US" sz="2000" i="1">
                                  <a:latin typeface="Cambria Math" panose="02040503050406030204" pitchFamily="18" charset="0"/>
                                </a:rPr>
                                <m:t>)</m:t>
                              </m:r>
                            </m:e>
                          </m:eqArr>
                        </m:e>
                      </m:d>
                      <m:r>
                        <a:rPr lang="en-US" sz="2000" b="0" i="1" smtClean="0">
                          <a:latin typeface="Cambria Math" panose="02040503050406030204" pitchFamily="18" charset="0"/>
                        </a:rPr>
                        <m:t> </m:t>
                      </m:r>
                    </m:oMath>
                  </m:oMathPara>
                </a14:m>
                <a:endParaRPr lang="en-US" sz="2000"/>
              </a:p>
            </p:txBody>
          </p:sp>
        </mc:Choice>
        <mc:Fallback xmlns="">
          <p:sp>
            <p:nvSpPr>
              <p:cNvPr id="10" name="TextBox 9">
                <a:extLst>
                  <a:ext uri="{FF2B5EF4-FFF2-40B4-BE49-F238E27FC236}">
                    <a16:creationId xmlns:a16="http://schemas.microsoft.com/office/drawing/2014/main" id="{BD25EBC0-17E4-9484-8F96-560D5DF8DDCD}"/>
                  </a:ext>
                </a:extLst>
              </p:cNvPr>
              <p:cNvSpPr txBox="1">
                <a:spLocks noRot="1" noChangeAspect="1" noMove="1" noResize="1" noEditPoints="1" noAdjustHandles="1" noChangeArrowheads="1" noChangeShapeType="1" noTextEdit="1"/>
              </p:cNvSpPr>
              <p:nvPr/>
            </p:nvSpPr>
            <p:spPr>
              <a:xfrm>
                <a:off x="850152" y="3401470"/>
                <a:ext cx="3522375" cy="1393202"/>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461CAF64-D6D6-AC5F-ADAC-C5B1285E2F50}"/>
              </a:ext>
            </a:extLst>
          </p:cNvPr>
          <p:cNvSpPr txBox="1"/>
          <p:nvPr/>
        </p:nvSpPr>
        <p:spPr>
          <a:xfrm>
            <a:off x="4769708" y="5674493"/>
            <a:ext cx="4106624" cy="523220"/>
          </a:xfrm>
          <a:prstGeom prst="rect">
            <a:avLst/>
          </a:prstGeom>
          <a:noFill/>
        </p:spPr>
        <p:txBody>
          <a:bodyPr wrap="square" rtlCol="0">
            <a:spAutoFit/>
          </a:bodyPr>
          <a:lstStyle/>
          <a:p>
            <a:r>
              <a:rPr lang="en-US"/>
              <a:t>=&gt; Ứng dụng:Tìm các vùng bảo tồn (motifs), so sánh 2 chuỗi có độ dài chênh lệch lớn.</a:t>
            </a:r>
            <a:endParaRPr lang="en-US">
              <a:latin typeface="Gill Sans" panose="020B0604020202020204" charset="0"/>
            </a:endParaRPr>
          </a:p>
        </p:txBody>
      </p:sp>
      <p:pic>
        <p:nvPicPr>
          <p:cNvPr id="1028" name="Picture 4">
            <a:extLst>
              <a:ext uri="{FF2B5EF4-FFF2-40B4-BE49-F238E27FC236}">
                <a16:creationId xmlns:a16="http://schemas.microsoft.com/office/drawing/2014/main" id="{88037DDC-92E8-12A0-73C2-877594D569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4439" y="1181698"/>
            <a:ext cx="3685747" cy="415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676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E5A5720A-09E2-0564-B602-B077E652035D}"/>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E17E4F03-4265-569D-4A53-C8CADEF439FC}"/>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en-US"/>
              <a:t>Thuật toán bán toàn cục &amp; so sánh </a:t>
            </a:r>
          </a:p>
        </p:txBody>
      </p:sp>
      <p:sp>
        <p:nvSpPr>
          <p:cNvPr id="3" name="Slide Number Placeholder 2">
            <a:extLst>
              <a:ext uri="{FF2B5EF4-FFF2-40B4-BE49-F238E27FC236}">
                <a16:creationId xmlns:a16="http://schemas.microsoft.com/office/drawing/2014/main" id="{52A975A2-016B-5B5A-8779-EFF3B6F6AADF}"/>
              </a:ext>
            </a:extLst>
          </p:cNvPr>
          <p:cNvSpPr>
            <a:spLocks noGrp="1"/>
          </p:cNvSpPr>
          <p:nvPr>
            <p:ph type="sldNum" idx="12"/>
          </p:nvPr>
        </p:nvSpPr>
        <p:spPr/>
        <p:txBody>
          <a:bodyPr/>
          <a:lstStyle/>
          <a:p>
            <a:r>
              <a:rPr lang="en-US" dirty="0"/>
              <a:t>14</a:t>
            </a:r>
          </a:p>
        </p:txBody>
      </p:sp>
      <p:graphicFrame>
        <p:nvGraphicFramePr>
          <p:cNvPr id="2" name="Table 1">
            <a:extLst>
              <a:ext uri="{FF2B5EF4-FFF2-40B4-BE49-F238E27FC236}">
                <a16:creationId xmlns:a16="http://schemas.microsoft.com/office/drawing/2014/main" id="{F66C2009-996F-A40F-EC7F-61CA3050058E}"/>
              </a:ext>
            </a:extLst>
          </p:cNvPr>
          <p:cNvGraphicFramePr>
            <a:graphicFrameLocks noGrp="1"/>
          </p:cNvGraphicFramePr>
          <p:nvPr/>
        </p:nvGraphicFramePr>
        <p:xfrm>
          <a:off x="172995" y="1471277"/>
          <a:ext cx="8798010" cy="4876800"/>
        </p:xfrm>
        <a:graphic>
          <a:graphicData uri="http://schemas.openxmlformats.org/drawingml/2006/table">
            <a:tbl>
              <a:tblPr/>
              <a:tblGrid>
                <a:gridCol w="1466335">
                  <a:extLst>
                    <a:ext uri="{9D8B030D-6E8A-4147-A177-3AD203B41FA5}">
                      <a16:colId xmlns:a16="http://schemas.microsoft.com/office/drawing/2014/main" val="3090643654"/>
                    </a:ext>
                  </a:extLst>
                </a:gridCol>
                <a:gridCol w="1466335">
                  <a:extLst>
                    <a:ext uri="{9D8B030D-6E8A-4147-A177-3AD203B41FA5}">
                      <a16:colId xmlns:a16="http://schemas.microsoft.com/office/drawing/2014/main" val="1953904644"/>
                    </a:ext>
                  </a:extLst>
                </a:gridCol>
                <a:gridCol w="1466335">
                  <a:extLst>
                    <a:ext uri="{9D8B030D-6E8A-4147-A177-3AD203B41FA5}">
                      <a16:colId xmlns:a16="http://schemas.microsoft.com/office/drawing/2014/main" val="3130872235"/>
                    </a:ext>
                  </a:extLst>
                </a:gridCol>
                <a:gridCol w="1466335">
                  <a:extLst>
                    <a:ext uri="{9D8B030D-6E8A-4147-A177-3AD203B41FA5}">
                      <a16:colId xmlns:a16="http://schemas.microsoft.com/office/drawing/2014/main" val="3907936704"/>
                    </a:ext>
                  </a:extLst>
                </a:gridCol>
                <a:gridCol w="1466335">
                  <a:extLst>
                    <a:ext uri="{9D8B030D-6E8A-4147-A177-3AD203B41FA5}">
                      <a16:colId xmlns:a16="http://schemas.microsoft.com/office/drawing/2014/main" val="1311073900"/>
                    </a:ext>
                  </a:extLst>
                </a:gridCol>
                <a:gridCol w="1466335">
                  <a:extLst>
                    <a:ext uri="{9D8B030D-6E8A-4147-A177-3AD203B41FA5}">
                      <a16:colId xmlns:a16="http://schemas.microsoft.com/office/drawing/2014/main" val="440055577"/>
                    </a:ext>
                  </a:extLst>
                </a:gridCol>
              </a:tblGrid>
              <a:tr h="738158">
                <a:tc>
                  <a:txBody>
                    <a:bodyPr/>
                    <a:lstStyle/>
                    <a:p>
                      <a:pPr rtl="0">
                        <a:buNone/>
                      </a:pPr>
                      <a:r>
                        <a:rPr lang="en-US" sz="1600" b="1">
                          <a:solidFill>
                            <a:srgbClr val="1F1F1F"/>
                          </a:solidFill>
                          <a:effectLst/>
                          <a:latin typeface="+mn-lt"/>
                        </a:rPr>
                        <a:t>Loại gióng hàng</a:t>
                      </a:r>
                      <a:endParaRPr lang="en-US" sz="1600">
                        <a:solidFill>
                          <a:srgbClr val="1F1F1F"/>
                        </a:solidFill>
                        <a:effectLst/>
                        <a:latin typeface="+mn-l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b="1">
                          <a:solidFill>
                            <a:srgbClr val="1F1F1F"/>
                          </a:solidFill>
                          <a:effectLst/>
                          <a:latin typeface="+mn-lt"/>
                        </a:rPr>
                        <a:t>Khởi tạo ma trận</a:t>
                      </a:r>
                      <a:endParaRPr lang="en-US" sz="1600">
                        <a:solidFill>
                          <a:srgbClr val="1F1F1F"/>
                        </a:solidFill>
                        <a:effectLst/>
                        <a:latin typeface="+mn-l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b="1">
                          <a:solidFill>
                            <a:srgbClr val="1F1F1F"/>
                          </a:solidFill>
                          <a:effectLst/>
                          <a:latin typeface="+mn-lt"/>
                        </a:rPr>
                        <a:t>Hàm đệ quy sử dụng</a:t>
                      </a:r>
                      <a:endParaRPr lang="en-US" sz="1600">
                        <a:solidFill>
                          <a:srgbClr val="1F1F1F"/>
                        </a:solidFill>
                        <a:effectLst/>
                        <a:latin typeface="+mn-l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b="1">
                          <a:solidFill>
                            <a:srgbClr val="1F1F1F"/>
                          </a:solidFill>
                          <a:effectLst/>
                          <a:latin typeface="+mn-lt"/>
                        </a:rPr>
                        <a:t>Điểm bắt đầu truy vết</a:t>
                      </a:r>
                      <a:endParaRPr lang="en-US" sz="1600">
                        <a:solidFill>
                          <a:srgbClr val="1F1F1F"/>
                        </a:solidFill>
                        <a:effectLst/>
                        <a:latin typeface="+mn-l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b="1">
                          <a:solidFill>
                            <a:srgbClr val="1F1F1F"/>
                          </a:solidFill>
                          <a:effectLst/>
                          <a:latin typeface="+mn-lt"/>
                        </a:rPr>
                        <a:t>Điểm kết thúc truy vết</a:t>
                      </a:r>
                      <a:endParaRPr lang="en-US" sz="1600">
                        <a:solidFill>
                          <a:srgbClr val="1F1F1F"/>
                        </a:solidFill>
                        <a:effectLst/>
                        <a:latin typeface="+mn-l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vi-VN" sz="1600" b="1">
                          <a:solidFill>
                            <a:srgbClr val="1F1F1F"/>
                          </a:solidFill>
                          <a:effectLst/>
                          <a:latin typeface="+mn-lt"/>
                        </a:rPr>
                        <a:t>Trường hợp sử dụng tiêu biểu</a:t>
                      </a:r>
                      <a:endParaRPr lang="vi-VN" sz="1600">
                        <a:solidFill>
                          <a:srgbClr val="1F1F1F"/>
                        </a:solidFill>
                        <a:effectLst/>
                        <a:latin typeface="+mn-l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51570110"/>
                  </a:ext>
                </a:extLst>
              </a:tr>
              <a:tr h="1207895">
                <a:tc>
                  <a:txBody>
                    <a:bodyPr/>
                    <a:lstStyle/>
                    <a:p>
                      <a:pPr rtl="0">
                        <a:buNone/>
                      </a:pPr>
                      <a:r>
                        <a:rPr lang="en-US" sz="1600" b="1">
                          <a:solidFill>
                            <a:srgbClr val="1F1F1F"/>
                          </a:solidFill>
                          <a:effectLst/>
                          <a:latin typeface="+mn-lt"/>
                        </a:rPr>
                        <a:t>Toàn cục (Global)</a:t>
                      </a:r>
                      <a:endParaRPr lang="en-US" sz="1600">
                        <a:solidFill>
                          <a:srgbClr val="1F1F1F"/>
                        </a:solidFill>
                        <a:effectLst/>
                        <a:latin typeface="+mn-l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Điểm phạt khoảng trống (Gap penalties)</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Toàn cục (Needleman-Wunsch)</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vi-VN" sz="1600">
                          <a:solidFill>
                            <a:srgbClr val="1F1F1F"/>
                          </a:solidFill>
                          <a:effectLst/>
                          <a:latin typeface="+mn-lt"/>
                        </a:rPr>
                        <a:t>Ô dưới cùng bên phải</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Ô trên cùng bên trái</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vi-VN" sz="1600">
                          <a:solidFill>
                            <a:srgbClr val="1F1F1F"/>
                          </a:solidFill>
                          <a:effectLst/>
                          <a:latin typeface="+mn-lt"/>
                        </a:rPr>
                        <a:t>So sánh toàn bộ chiều dài của các chuỗi tương đồng</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8256284"/>
                  </a:ext>
                </a:extLst>
              </a:tr>
              <a:tr h="1442763">
                <a:tc>
                  <a:txBody>
                    <a:bodyPr/>
                    <a:lstStyle/>
                    <a:p>
                      <a:pPr rtl="0">
                        <a:buNone/>
                      </a:pPr>
                      <a:r>
                        <a:rPr lang="en-US" sz="1600" b="1">
                          <a:solidFill>
                            <a:srgbClr val="1F1F1F"/>
                          </a:solidFill>
                          <a:effectLst/>
                          <a:latin typeface="+mn-lt"/>
                        </a:rPr>
                        <a:t>Cục bộ (Local)</a:t>
                      </a:r>
                      <a:endParaRPr lang="en-US" sz="1600">
                        <a:solidFill>
                          <a:srgbClr val="1F1F1F"/>
                        </a:solidFill>
                        <a:effectLst/>
                        <a:latin typeface="+mn-l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Các số 0</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Cục bộ (Smith-Waterman)</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Ô có giá trị lớn nhất ở bất kỳ đâu</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Số 0 đầu tiên</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Tìm kiếm motif/vùng chức năng (domain), các vùng bảo thủ</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70567261"/>
                  </a:ext>
                </a:extLst>
              </a:tr>
              <a:tr h="973027">
                <a:tc>
                  <a:txBody>
                    <a:bodyPr/>
                    <a:lstStyle/>
                    <a:p>
                      <a:pPr rtl="0">
                        <a:buNone/>
                      </a:pPr>
                      <a:r>
                        <a:rPr lang="en-US" sz="1600" b="1">
                          <a:solidFill>
                            <a:srgbClr val="1F1F1F"/>
                          </a:solidFill>
                          <a:effectLst/>
                          <a:latin typeface="+mn-lt"/>
                        </a:rPr>
                        <a:t>Bán cục bộ (Semi-global)</a:t>
                      </a:r>
                      <a:endParaRPr lang="en-US" sz="1600">
                        <a:solidFill>
                          <a:srgbClr val="1F1F1F"/>
                        </a:solidFill>
                        <a:effectLst/>
                        <a:latin typeface="+mn-l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Các số 0</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Toàn cục (Needleman-Wunsch)</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Giá trị lớn nhất ở hàng/cột cuối cùng</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Số 0 đầu tiên trong hàng/cột</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Gióng hàng chuỗi ngắn vào chuỗi dài</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21028020"/>
                  </a:ext>
                </a:extLst>
              </a:tr>
            </a:tbl>
          </a:graphicData>
        </a:graphic>
      </p:graphicFrame>
    </p:spTree>
    <p:extLst>
      <p:ext uri="{BB962C8B-B14F-4D97-AF65-F5344CB8AC3E}">
        <p14:creationId xmlns:p14="http://schemas.microsoft.com/office/powerpoint/2010/main" val="284263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647980A0-94C5-1573-7E00-886164D50F41}"/>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A7537923-8F8E-C991-1B81-A78622699216}"/>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en-US"/>
              <a:t>Các cải tiến &amp; tối ưu hóa</a:t>
            </a:r>
          </a:p>
        </p:txBody>
      </p:sp>
      <p:sp>
        <p:nvSpPr>
          <p:cNvPr id="3" name="Slide Number Placeholder 2">
            <a:extLst>
              <a:ext uri="{FF2B5EF4-FFF2-40B4-BE49-F238E27FC236}">
                <a16:creationId xmlns:a16="http://schemas.microsoft.com/office/drawing/2014/main" id="{3B9FBEAD-80C1-A5CC-27D5-17EA1B6AE89B}"/>
              </a:ext>
            </a:extLst>
          </p:cNvPr>
          <p:cNvSpPr>
            <a:spLocks noGrp="1"/>
          </p:cNvSpPr>
          <p:nvPr>
            <p:ph type="sldNum" idx="12"/>
          </p:nvPr>
        </p:nvSpPr>
        <p:spPr/>
        <p:txBody>
          <a:bodyPr/>
          <a:lstStyle/>
          <a:p>
            <a:r>
              <a:rPr lang="en-US" dirty="0"/>
              <a:t>15</a:t>
            </a:r>
          </a:p>
        </p:txBody>
      </p:sp>
      <p:sp>
        <p:nvSpPr>
          <p:cNvPr id="4" name="Rectangle 3">
            <a:extLst>
              <a:ext uri="{FF2B5EF4-FFF2-40B4-BE49-F238E27FC236}">
                <a16:creationId xmlns:a16="http://schemas.microsoft.com/office/drawing/2014/main" id="{6732A4DC-4FC7-36A3-8693-FE4CCBCEBD86}"/>
              </a:ext>
            </a:extLst>
          </p:cNvPr>
          <p:cNvSpPr/>
          <p:nvPr/>
        </p:nvSpPr>
        <p:spPr>
          <a:xfrm>
            <a:off x="287743" y="1266092"/>
            <a:ext cx="8670905" cy="49588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800" dirty="0">
              <a:solidFill>
                <a:schemeClr val="tx1"/>
              </a:solidFill>
            </a:endParaRPr>
          </a:p>
          <a:p>
            <a:r>
              <a:rPr lang="vi-VN" sz="1800" b="1" dirty="0">
                <a:solidFill>
                  <a:schemeClr val="tx1"/>
                </a:solidFill>
              </a:rPr>
              <a:t>Gotoh &amp; Altschul (1982): Tối ưu hóa Thời gian </a:t>
            </a:r>
            <a:r>
              <a:rPr lang="vi-VN" sz="1800" dirty="0">
                <a:solidFill>
                  <a:schemeClr val="tx1"/>
                </a:solidFill>
              </a:rPr>
              <a:t>(Affine Gap Penalty)</a:t>
            </a:r>
            <a:endParaRPr lang="en-US" sz="1800" dirty="0">
              <a:solidFill>
                <a:schemeClr val="tx1"/>
              </a:solidFill>
            </a:endParaRPr>
          </a:p>
          <a:p>
            <a:pPr marL="285750" indent="-285750">
              <a:buFontTx/>
              <a:buChar char="-"/>
            </a:pPr>
            <a:r>
              <a:rPr lang="vi-VN" sz="1800" dirty="0">
                <a:solidFill>
                  <a:schemeClr val="tx1"/>
                </a:solidFill>
              </a:rPr>
              <a:t>Đóng góp: Tách 1 ma trận điểm thành 3 ma trận trạng thái (Match, Insert X, Insert Y).</a:t>
            </a:r>
            <a:endParaRPr lang="en-US" sz="1800" dirty="0">
              <a:solidFill>
                <a:schemeClr val="tx1"/>
              </a:solidFill>
            </a:endParaRPr>
          </a:p>
          <a:p>
            <a:pPr marL="285750" indent="-285750">
              <a:buFontTx/>
              <a:buChar char="-"/>
            </a:pPr>
            <a:endParaRPr lang="en-US" sz="1800" dirty="0">
              <a:solidFill>
                <a:schemeClr val="tx1"/>
              </a:solidFill>
            </a:endParaRPr>
          </a:p>
          <a:p>
            <a:pPr marL="285750" indent="-285750">
              <a:buFontTx/>
              <a:buChar char="-"/>
            </a:pPr>
            <a:r>
              <a:rPr lang="vi-VN" sz="1800" dirty="0">
                <a:solidFill>
                  <a:schemeClr val="tx1"/>
                </a:solidFill>
              </a:rPr>
              <a:t>Kết quả: Tính toán được mô hình Phạt khoảng trống thực tế (phạt mở gap nặng, kéo dài gap nhẹ) mà vẫn giữ được thời gian O(M</a:t>
            </a:r>
            <a:r>
              <a:rPr lang="en-US" sz="1800" dirty="0">
                <a:solidFill>
                  <a:schemeClr val="tx1"/>
                </a:solidFill>
              </a:rPr>
              <a:t>x</a:t>
            </a:r>
            <a:r>
              <a:rPr lang="vi-VN" sz="1800" dirty="0">
                <a:solidFill>
                  <a:schemeClr val="tx1"/>
                </a:solidFill>
              </a:rPr>
              <a:t>N) (thay vì O(N^3)).</a:t>
            </a:r>
            <a:endParaRPr lang="en-US" sz="1800" dirty="0">
              <a:solidFill>
                <a:schemeClr val="tx1"/>
              </a:solidFill>
            </a:endParaRPr>
          </a:p>
          <a:p>
            <a:endParaRPr lang="en-US" sz="1800" dirty="0">
              <a:solidFill>
                <a:schemeClr val="tx1"/>
              </a:solidFill>
            </a:endParaRPr>
          </a:p>
          <a:p>
            <a:r>
              <a:rPr lang="vi-VN" sz="1800" b="1" dirty="0">
                <a:solidFill>
                  <a:schemeClr val="tx1"/>
                </a:solidFill>
              </a:rPr>
              <a:t>Myers &amp; Miller (1988): Tối ưu hóa Bộ nhớ</a:t>
            </a:r>
            <a:r>
              <a:rPr lang="vi-VN" sz="1800" dirty="0">
                <a:solidFill>
                  <a:schemeClr val="tx1"/>
                </a:solidFill>
              </a:rPr>
              <a:t> (Linear Space)</a:t>
            </a:r>
            <a:endParaRPr lang="en-US" sz="1800" dirty="0">
              <a:solidFill>
                <a:schemeClr val="tx1"/>
              </a:solidFill>
            </a:endParaRPr>
          </a:p>
          <a:p>
            <a:pPr marL="285750" indent="-285750">
              <a:buFontTx/>
              <a:buChar char="-"/>
            </a:pPr>
            <a:r>
              <a:rPr lang="vi-VN" sz="1800" dirty="0">
                <a:solidFill>
                  <a:schemeClr val="tx1"/>
                </a:solidFill>
              </a:rPr>
              <a:t>Đóng góp: Áp dụng thuật toán Hirschberg (Kỹ thuật Chia để trị - Divide &amp; Conquer). Chỉ lưu 2 cột ma trận để tìm "điểm cắt ở giữa".</a:t>
            </a:r>
            <a:endParaRPr lang="en-US" sz="1800" dirty="0">
              <a:solidFill>
                <a:schemeClr val="tx1"/>
              </a:solidFill>
            </a:endParaRPr>
          </a:p>
          <a:p>
            <a:pPr marL="285750" indent="-285750">
              <a:buFontTx/>
              <a:buChar char="-"/>
            </a:pPr>
            <a:endParaRPr lang="en-US" sz="1800" dirty="0">
              <a:solidFill>
                <a:schemeClr val="tx1"/>
              </a:solidFill>
            </a:endParaRPr>
          </a:p>
          <a:p>
            <a:pPr marL="285750" indent="-285750">
              <a:buFontTx/>
              <a:buChar char="-"/>
            </a:pPr>
            <a:r>
              <a:rPr lang="vi-VN" sz="1800" dirty="0">
                <a:solidFill>
                  <a:schemeClr val="tx1"/>
                </a:solidFill>
              </a:rPr>
              <a:t>Kết quả: Ép dung lượng RAM từ bậc hai O(M</a:t>
            </a:r>
            <a:r>
              <a:rPr lang="en-US" sz="1800" dirty="0">
                <a:solidFill>
                  <a:schemeClr val="tx1"/>
                </a:solidFill>
              </a:rPr>
              <a:t>x</a:t>
            </a:r>
            <a:r>
              <a:rPr lang="vi-VN" sz="1800" dirty="0">
                <a:solidFill>
                  <a:schemeClr val="tx1"/>
                </a:solidFill>
              </a:rPr>
              <a:t>N) xuống tuyến tính O(N), giúp so sánh được cả những nhiễm sắc thể khổng lồ mà không bị tràn bộ nhớ.</a:t>
            </a:r>
            <a:endParaRPr lang="en-US" sz="1800" dirty="0">
              <a:solidFill>
                <a:schemeClr val="tx1"/>
              </a:solidFill>
            </a:endParaRPr>
          </a:p>
          <a:p>
            <a:endParaRPr lang="en-US" sz="1800" dirty="0">
              <a:solidFill>
                <a:schemeClr val="tx1"/>
              </a:solidFill>
            </a:endParaRPr>
          </a:p>
          <a:p>
            <a:r>
              <a:rPr lang="en-US" sz="1800" dirty="0">
                <a:solidFill>
                  <a:schemeClr val="tx1"/>
                </a:solidFill>
              </a:rPr>
              <a:t>=&gt; </a:t>
            </a:r>
            <a:r>
              <a:rPr lang="en-US" sz="1800" dirty="0" err="1">
                <a:solidFill>
                  <a:schemeClr val="tx1"/>
                </a:solidFill>
              </a:rPr>
              <a:t>Tất</a:t>
            </a:r>
            <a:r>
              <a:rPr lang="en-US" sz="1800" dirty="0">
                <a:solidFill>
                  <a:schemeClr val="tx1"/>
                </a:solidFill>
              </a:rPr>
              <a:t> </a:t>
            </a:r>
            <a:r>
              <a:rPr lang="en-US" sz="1800" dirty="0" err="1">
                <a:solidFill>
                  <a:schemeClr val="tx1"/>
                </a:solidFill>
              </a:rPr>
              <a:t>cả</a:t>
            </a:r>
            <a:r>
              <a:rPr lang="en-US" sz="1800" dirty="0">
                <a:solidFill>
                  <a:schemeClr val="tx1"/>
                </a:solidFill>
              </a:rPr>
              <a:t> </a:t>
            </a:r>
            <a:r>
              <a:rPr lang="en-US" sz="1800" dirty="0" err="1">
                <a:solidFill>
                  <a:schemeClr val="tx1"/>
                </a:solidFill>
              </a:rPr>
              <a:t>đều</a:t>
            </a:r>
            <a:r>
              <a:rPr lang="en-US" sz="1800" dirty="0">
                <a:solidFill>
                  <a:schemeClr val="tx1"/>
                </a:solidFill>
              </a:rPr>
              <a:t> </a:t>
            </a:r>
            <a:r>
              <a:rPr lang="en-US" sz="1800" dirty="0" err="1">
                <a:solidFill>
                  <a:schemeClr val="tx1"/>
                </a:solidFill>
              </a:rPr>
              <a:t>có</a:t>
            </a:r>
            <a:r>
              <a:rPr lang="en-US" sz="1800" dirty="0">
                <a:solidFill>
                  <a:schemeClr val="tx1"/>
                </a:solidFill>
              </a:rPr>
              <a:t> </a:t>
            </a:r>
            <a:r>
              <a:rPr lang="en-US" sz="1800" dirty="0" err="1">
                <a:solidFill>
                  <a:schemeClr val="tx1"/>
                </a:solidFill>
              </a:rPr>
              <a:t>độ</a:t>
            </a:r>
            <a:r>
              <a:rPr lang="en-US" sz="1800" dirty="0">
                <a:solidFill>
                  <a:schemeClr val="tx1"/>
                </a:solidFill>
              </a:rPr>
              <a:t> </a:t>
            </a:r>
            <a:r>
              <a:rPr lang="en-US" sz="1800" dirty="0" err="1">
                <a:solidFill>
                  <a:schemeClr val="tx1"/>
                </a:solidFill>
              </a:rPr>
              <a:t>phức</a:t>
            </a:r>
            <a:r>
              <a:rPr lang="en-US" sz="1800" dirty="0">
                <a:solidFill>
                  <a:schemeClr val="tx1"/>
                </a:solidFill>
              </a:rPr>
              <a:t> </a:t>
            </a:r>
            <a:r>
              <a:rPr lang="en-US" sz="1800" dirty="0" err="1">
                <a:solidFill>
                  <a:schemeClr val="tx1"/>
                </a:solidFill>
              </a:rPr>
              <a:t>tạp</a:t>
            </a:r>
            <a:r>
              <a:rPr lang="en-US" sz="1800" dirty="0">
                <a:solidFill>
                  <a:schemeClr val="tx1"/>
                </a:solidFill>
              </a:rPr>
              <a:t> </a:t>
            </a:r>
            <a:r>
              <a:rPr lang="en-US" sz="1800" dirty="0" err="1">
                <a:solidFill>
                  <a:schemeClr val="tx1"/>
                </a:solidFill>
              </a:rPr>
              <a:t>thời</a:t>
            </a:r>
            <a:r>
              <a:rPr lang="en-US" sz="1800" dirty="0">
                <a:solidFill>
                  <a:schemeClr val="tx1"/>
                </a:solidFill>
              </a:rPr>
              <a:t> </a:t>
            </a:r>
            <a:r>
              <a:rPr lang="en-US" sz="1800" dirty="0" err="1">
                <a:solidFill>
                  <a:schemeClr val="tx1"/>
                </a:solidFill>
              </a:rPr>
              <a:t>gian</a:t>
            </a:r>
            <a:r>
              <a:rPr lang="en-US" sz="1800" dirty="0">
                <a:solidFill>
                  <a:schemeClr val="tx1"/>
                </a:solidFill>
              </a:rPr>
              <a:t> ở </a:t>
            </a:r>
            <a:r>
              <a:rPr lang="en-US" sz="1800" dirty="0" err="1">
                <a:solidFill>
                  <a:schemeClr val="tx1"/>
                </a:solidFill>
              </a:rPr>
              <a:t>bậc</a:t>
            </a:r>
            <a:r>
              <a:rPr lang="en-US" sz="1800" dirty="0">
                <a:solidFill>
                  <a:schemeClr val="tx1"/>
                </a:solidFill>
              </a:rPr>
              <a:t> 2 (O(</a:t>
            </a:r>
            <a:r>
              <a:rPr lang="en-US" sz="1800" dirty="0" err="1">
                <a:solidFill>
                  <a:schemeClr val="tx1"/>
                </a:solidFill>
              </a:rPr>
              <a:t>NxM</a:t>
            </a:r>
            <a:r>
              <a:rPr lang="en-US" sz="1800" dirty="0">
                <a:solidFill>
                  <a:schemeClr val="tx1"/>
                </a:solidFill>
              </a:rPr>
              <a:t>)) =&gt; </a:t>
            </a:r>
            <a:r>
              <a:rPr lang="vi-VN" sz="1800" dirty="0">
                <a:solidFill>
                  <a:schemeClr val="tx1"/>
                </a:solidFill>
              </a:rPr>
              <a:t>cần các phương pháp nhanh hơn để xử lý với các bài toán lớn hơn, đặc biệt với</a:t>
            </a:r>
            <a:r>
              <a:rPr lang="en-US" sz="1800" dirty="0">
                <a:solidFill>
                  <a:schemeClr val="tx1"/>
                </a:solidFill>
              </a:rPr>
              <a:t> </a:t>
            </a:r>
            <a:r>
              <a:rPr lang="en-US" sz="1800" dirty="0" err="1">
                <a:solidFill>
                  <a:schemeClr val="tx1"/>
                </a:solidFill>
              </a:rPr>
              <a:t>các</a:t>
            </a:r>
            <a:r>
              <a:rPr lang="en-US" sz="1800" dirty="0">
                <a:solidFill>
                  <a:schemeClr val="tx1"/>
                </a:solidFill>
              </a:rPr>
              <a:t> </a:t>
            </a:r>
            <a:r>
              <a:rPr lang="en-US" sz="1800" dirty="0" err="1">
                <a:solidFill>
                  <a:schemeClr val="tx1"/>
                </a:solidFill>
              </a:rPr>
              <a:t>công</a:t>
            </a:r>
            <a:r>
              <a:rPr lang="en-US" sz="1800" dirty="0">
                <a:solidFill>
                  <a:schemeClr val="tx1"/>
                </a:solidFill>
              </a:rPr>
              <a:t> </a:t>
            </a:r>
            <a:r>
              <a:rPr lang="en-US" sz="1800" dirty="0" err="1">
                <a:solidFill>
                  <a:schemeClr val="tx1"/>
                </a:solidFill>
              </a:rPr>
              <a:t>nghệ</a:t>
            </a:r>
            <a:r>
              <a:rPr lang="en-US" sz="1800" dirty="0">
                <a:solidFill>
                  <a:schemeClr val="tx1"/>
                </a:solidFill>
              </a:rPr>
              <a:t> Next-generation Sequencing (NGS).</a:t>
            </a:r>
            <a:endParaRPr lang="vi-VN" sz="1800" dirty="0">
              <a:solidFill>
                <a:schemeClr val="tx1"/>
              </a:solidFill>
            </a:endParaRPr>
          </a:p>
          <a:p>
            <a:endParaRPr lang="en-US" sz="1800" dirty="0">
              <a:solidFill>
                <a:schemeClr val="tx1"/>
              </a:solidFill>
            </a:endParaRPr>
          </a:p>
        </p:txBody>
      </p:sp>
    </p:spTree>
    <p:extLst>
      <p:ext uri="{BB962C8B-B14F-4D97-AF65-F5344CB8AC3E}">
        <p14:creationId xmlns:p14="http://schemas.microsoft.com/office/powerpoint/2010/main" val="923115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2B6CD656-0067-B712-72E7-8497D828187D}"/>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8D2B5433-5ED6-08D6-678C-79F4B11CEECB}"/>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vi-VN"/>
              <a:t>Các phương pháp seed-and-extend</a:t>
            </a:r>
            <a:endParaRPr lang="en-US"/>
          </a:p>
        </p:txBody>
      </p:sp>
      <p:sp>
        <p:nvSpPr>
          <p:cNvPr id="3" name="Slide Number Placeholder 2">
            <a:extLst>
              <a:ext uri="{FF2B5EF4-FFF2-40B4-BE49-F238E27FC236}">
                <a16:creationId xmlns:a16="http://schemas.microsoft.com/office/drawing/2014/main" id="{5C6795A1-9071-8205-2EA7-71DCCE7C4B0B}"/>
              </a:ext>
            </a:extLst>
          </p:cNvPr>
          <p:cNvSpPr>
            <a:spLocks noGrp="1"/>
          </p:cNvSpPr>
          <p:nvPr>
            <p:ph type="sldNum" idx="12"/>
          </p:nvPr>
        </p:nvSpPr>
        <p:spPr/>
        <p:txBody>
          <a:bodyPr/>
          <a:lstStyle/>
          <a:p>
            <a:r>
              <a:rPr lang="en-US" dirty="0"/>
              <a:t>16</a:t>
            </a:r>
          </a:p>
        </p:txBody>
      </p:sp>
      <p:sp>
        <p:nvSpPr>
          <p:cNvPr id="4" name="Rectangle 3">
            <a:extLst>
              <a:ext uri="{FF2B5EF4-FFF2-40B4-BE49-F238E27FC236}">
                <a16:creationId xmlns:a16="http://schemas.microsoft.com/office/drawing/2014/main" id="{6EB95EC7-0B51-B578-4887-64EEBA7E9BDA}"/>
              </a:ext>
            </a:extLst>
          </p:cNvPr>
          <p:cNvSpPr/>
          <p:nvPr/>
        </p:nvSpPr>
        <p:spPr>
          <a:xfrm>
            <a:off x="287743" y="1235676"/>
            <a:ext cx="8670905" cy="5622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800">
              <a:solidFill>
                <a:schemeClr val="tx1"/>
              </a:solidFill>
              <a:latin typeface="Gill Sans" panose="020B0604020202020204" charset="0"/>
            </a:endParaRPr>
          </a:p>
          <a:p>
            <a:endParaRPr lang="en-US" sz="1800">
              <a:solidFill>
                <a:schemeClr val="tx1"/>
              </a:solidFill>
              <a:latin typeface="Gill Sans" panose="020B0604020202020204" charset="0"/>
            </a:endParaRPr>
          </a:p>
        </p:txBody>
      </p:sp>
      <p:sp>
        <p:nvSpPr>
          <p:cNvPr id="2" name="Rectangle 1">
            <a:extLst>
              <a:ext uri="{FF2B5EF4-FFF2-40B4-BE49-F238E27FC236}">
                <a16:creationId xmlns:a16="http://schemas.microsoft.com/office/drawing/2014/main" id="{D3F46DA1-702C-2516-6A42-0FC42D85A85C}"/>
              </a:ext>
            </a:extLst>
          </p:cNvPr>
          <p:cNvSpPr/>
          <p:nvPr/>
        </p:nvSpPr>
        <p:spPr>
          <a:xfrm>
            <a:off x="448213" y="1291761"/>
            <a:ext cx="8408044" cy="28886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a:solidFill>
                  <a:schemeClr val="tx1"/>
                </a:solidFill>
              </a:rPr>
              <a:t>Vấn đề: </a:t>
            </a:r>
            <a:r>
              <a:rPr lang="vi-VN" sz="1800">
                <a:solidFill>
                  <a:schemeClr val="tx1"/>
                </a:solidFill>
              </a:rPr>
              <a:t>Với cơ sở dữ liệu hàng tỷ base pair, việc so khớp trực tiếp là không thể</a:t>
            </a:r>
            <a:r>
              <a:rPr lang="en-US" sz="1800">
                <a:solidFill>
                  <a:schemeClr val="tx1"/>
                </a:solidFill>
              </a:rPr>
              <a:t> =&gt;</a:t>
            </a:r>
            <a:r>
              <a:rPr lang="vi-VN" sz="1800">
                <a:solidFill>
                  <a:schemeClr val="tx1"/>
                </a:solidFill>
              </a:rPr>
              <a:t> Cần đưa ra các thuật toán hy sinh tính tối ưu tuyệt đối để đổi lấy tốc độ (speed) và khả năng mở rộng (scalability).</a:t>
            </a:r>
          </a:p>
          <a:p>
            <a:pPr algn="just"/>
            <a:endParaRPr lang="en-US" sz="1800">
              <a:solidFill>
                <a:schemeClr val="tx1"/>
              </a:solidFill>
            </a:endParaRPr>
          </a:p>
          <a:p>
            <a:pPr algn="just"/>
            <a:r>
              <a:rPr lang="en-US" sz="1800" b="1">
                <a:solidFill>
                  <a:schemeClr val="tx1"/>
                </a:solidFill>
              </a:rPr>
              <a:t>Mục tiêu: </a:t>
            </a:r>
            <a:r>
              <a:rPr lang="vi-VN" sz="1800">
                <a:solidFill>
                  <a:schemeClr val="tx1"/>
                </a:solidFill>
              </a:rPr>
              <a:t>đánh đổi sự hoàn hảo tuyệt đối của toán học lấy hiệu năng</a:t>
            </a:r>
            <a:r>
              <a:rPr lang="en-US" sz="1800">
                <a:solidFill>
                  <a:schemeClr val="tx1"/>
                </a:solidFill>
              </a:rPr>
              <a:t> bằng các thuật heuristics =&gt;</a:t>
            </a:r>
            <a:r>
              <a:rPr lang="vi-VN" sz="1800">
                <a:solidFill>
                  <a:schemeClr val="tx1"/>
                </a:solidFill>
              </a:rPr>
              <a:t> loại bỏ </a:t>
            </a:r>
            <a:r>
              <a:rPr lang="en-US" sz="1800">
                <a:solidFill>
                  <a:schemeClr val="tx1"/>
                </a:solidFill>
              </a:rPr>
              <a:t>phần lớn </a:t>
            </a:r>
            <a:r>
              <a:rPr lang="vi-VN" sz="1800">
                <a:solidFill>
                  <a:schemeClr val="tx1"/>
                </a:solidFill>
              </a:rPr>
              <a:t>không gian tìm kiếm vô ích</a:t>
            </a:r>
            <a:r>
              <a:rPr lang="en-US" sz="1800">
                <a:solidFill>
                  <a:schemeClr val="tx1"/>
                </a:solidFill>
              </a:rPr>
              <a:t>, cho phép gióng hàng với số lượng rất lớn </a:t>
            </a:r>
          </a:p>
        </p:txBody>
      </p:sp>
    </p:spTree>
    <p:extLst>
      <p:ext uri="{BB962C8B-B14F-4D97-AF65-F5344CB8AC3E}">
        <p14:creationId xmlns:p14="http://schemas.microsoft.com/office/powerpoint/2010/main" val="365240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15063156-930E-9CA4-4570-818C9BEBE835}"/>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0E6D5FF6-B730-BFD9-1C20-CEC66DB9E6F4}"/>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vi-VN"/>
              <a:t>Các phương pháp seed-and-extend</a:t>
            </a:r>
            <a:endParaRPr lang="en-US"/>
          </a:p>
        </p:txBody>
      </p:sp>
      <p:sp>
        <p:nvSpPr>
          <p:cNvPr id="3" name="Slide Number Placeholder 2">
            <a:extLst>
              <a:ext uri="{FF2B5EF4-FFF2-40B4-BE49-F238E27FC236}">
                <a16:creationId xmlns:a16="http://schemas.microsoft.com/office/drawing/2014/main" id="{4680587C-8D76-71EE-E60A-3A2AD34484EC}"/>
              </a:ext>
            </a:extLst>
          </p:cNvPr>
          <p:cNvSpPr>
            <a:spLocks noGrp="1"/>
          </p:cNvSpPr>
          <p:nvPr>
            <p:ph type="sldNum" idx="12"/>
          </p:nvPr>
        </p:nvSpPr>
        <p:spPr/>
        <p:txBody>
          <a:bodyPr/>
          <a:lstStyle/>
          <a:p>
            <a:r>
              <a:rPr lang="en-US" dirty="0"/>
              <a:t>17</a:t>
            </a:r>
          </a:p>
        </p:txBody>
      </p:sp>
      <p:sp>
        <p:nvSpPr>
          <p:cNvPr id="4" name="Rectangle 3">
            <a:extLst>
              <a:ext uri="{FF2B5EF4-FFF2-40B4-BE49-F238E27FC236}">
                <a16:creationId xmlns:a16="http://schemas.microsoft.com/office/drawing/2014/main" id="{DBF64132-8C2C-6DB2-3249-6D618C3CE291}"/>
              </a:ext>
            </a:extLst>
          </p:cNvPr>
          <p:cNvSpPr/>
          <p:nvPr/>
        </p:nvSpPr>
        <p:spPr>
          <a:xfrm>
            <a:off x="287743" y="1235676"/>
            <a:ext cx="8670905" cy="56223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800">
              <a:solidFill>
                <a:schemeClr val="tx1"/>
              </a:solidFill>
              <a:latin typeface="Gill Sans" panose="020B0604020202020204" charset="0"/>
            </a:endParaRPr>
          </a:p>
          <a:p>
            <a:endParaRPr lang="en-US" sz="1800">
              <a:solidFill>
                <a:schemeClr val="tx1"/>
              </a:solidFill>
              <a:latin typeface="Gill Sans" panose="020B0604020202020204" charset="0"/>
            </a:endParaRPr>
          </a:p>
        </p:txBody>
      </p:sp>
      <p:pic>
        <p:nvPicPr>
          <p:cNvPr id="5122" name="Picture 2">
            <a:extLst>
              <a:ext uri="{FF2B5EF4-FFF2-40B4-BE49-F238E27FC236}">
                <a16:creationId xmlns:a16="http://schemas.microsoft.com/office/drawing/2014/main" id="{FD04865A-8D73-44C3-93A4-8539ED6F629A}"/>
              </a:ext>
            </a:extLst>
          </p:cNvPr>
          <p:cNvPicPr>
            <a:picLocks noChangeAspect="1" noChangeArrowheads="1"/>
          </p:cNvPicPr>
          <p:nvPr/>
        </p:nvPicPr>
        <p:blipFill>
          <a:blip r:embed="rId3"/>
          <a:srcRect/>
          <a:stretch/>
        </p:blipFill>
        <p:spPr bwMode="auto">
          <a:xfrm>
            <a:off x="335477" y="4046838"/>
            <a:ext cx="8520780" cy="184691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404CF8D-1D39-F795-D62A-6ECA49772A98}"/>
              </a:ext>
            </a:extLst>
          </p:cNvPr>
          <p:cNvSpPr/>
          <p:nvPr/>
        </p:nvSpPr>
        <p:spPr>
          <a:xfrm>
            <a:off x="448213" y="1291761"/>
            <a:ext cx="8408044" cy="28886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a:solidFill>
                  <a:schemeClr val="tx1"/>
                </a:solidFill>
              </a:rPr>
              <a:t>Các bước thực hiện:</a:t>
            </a:r>
          </a:p>
          <a:p>
            <a:pPr algn="just"/>
            <a:r>
              <a:rPr lang="en-US" sz="1800">
                <a:solidFill>
                  <a:schemeClr val="tx1"/>
                </a:solidFill>
              </a:rPr>
              <a:t>0. Lập chỉ mục (Indexing)</a:t>
            </a:r>
          </a:p>
          <a:p>
            <a:pPr marL="342900" indent="-342900" algn="just">
              <a:buAutoNum type="arabicPeriod"/>
            </a:pPr>
            <a:endParaRPr lang="en-US" sz="1800">
              <a:solidFill>
                <a:schemeClr val="tx1"/>
              </a:solidFill>
            </a:endParaRPr>
          </a:p>
          <a:p>
            <a:pPr algn="just"/>
            <a:r>
              <a:rPr lang="en-US" sz="1800">
                <a:solidFill>
                  <a:schemeClr val="tx1"/>
                </a:solidFill>
              </a:rPr>
              <a:t>1. Quét truy vấn và Gieo hạt (Scanning &amp; Seeding)</a:t>
            </a:r>
          </a:p>
          <a:p>
            <a:pPr marL="342900" indent="-342900" algn="just">
              <a:buAutoNum type="arabicPeriod"/>
            </a:pPr>
            <a:endParaRPr lang="en-US" sz="1800">
              <a:solidFill>
                <a:schemeClr val="tx1"/>
              </a:solidFill>
            </a:endParaRPr>
          </a:p>
          <a:p>
            <a:pPr algn="just"/>
            <a:r>
              <a:rPr lang="en-US" sz="1800">
                <a:solidFill>
                  <a:schemeClr val="tx1"/>
                </a:solidFill>
              </a:rPr>
              <a:t>2. Lọc và Hợp nhất (Filtering &amp; Chaining)</a:t>
            </a:r>
          </a:p>
          <a:p>
            <a:pPr algn="just"/>
            <a:endParaRPr lang="en-US" sz="1800">
              <a:solidFill>
                <a:schemeClr val="tx1"/>
              </a:solidFill>
            </a:endParaRPr>
          </a:p>
          <a:p>
            <a:pPr algn="just"/>
            <a:r>
              <a:rPr lang="en-US" sz="1800">
                <a:solidFill>
                  <a:schemeClr val="tx1"/>
                </a:solidFill>
              </a:rPr>
              <a:t>3. So khớp bằng Quy hoạch động</a:t>
            </a:r>
          </a:p>
        </p:txBody>
      </p:sp>
    </p:spTree>
    <p:extLst>
      <p:ext uri="{BB962C8B-B14F-4D97-AF65-F5344CB8AC3E}">
        <p14:creationId xmlns:p14="http://schemas.microsoft.com/office/powerpoint/2010/main" val="3243761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A03478DD-8DA1-8FC2-0443-6066F2489123}"/>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19346D50-89CE-4518-5880-45CB1CD4C09B}"/>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en-US"/>
              <a:t>Các giai đoạn phát triển: Giai đoạn 1</a:t>
            </a:r>
          </a:p>
        </p:txBody>
      </p:sp>
      <p:sp>
        <p:nvSpPr>
          <p:cNvPr id="3" name="Slide Number Placeholder 2">
            <a:extLst>
              <a:ext uri="{FF2B5EF4-FFF2-40B4-BE49-F238E27FC236}">
                <a16:creationId xmlns:a16="http://schemas.microsoft.com/office/drawing/2014/main" id="{99F8FEFB-9991-B23E-0DF1-AC1DBCF42234}"/>
              </a:ext>
            </a:extLst>
          </p:cNvPr>
          <p:cNvSpPr>
            <a:spLocks noGrp="1"/>
          </p:cNvSpPr>
          <p:nvPr>
            <p:ph type="sldNum" idx="12"/>
          </p:nvPr>
        </p:nvSpPr>
        <p:spPr/>
        <p:txBody>
          <a:bodyPr/>
          <a:lstStyle/>
          <a:p>
            <a:r>
              <a:rPr lang="en-US" dirty="0"/>
              <a:t>18</a:t>
            </a:r>
          </a:p>
        </p:txBody>
      </p:sp>
      <p:sp>
        <p:nvSpPr>
          <p:cNvPr id="2" name="Rectangle 1">
            <a:extLst>
              <a:ext uri="{FF2B5EF4-FFF2-40B4-BE49-F238E27FC236}">
                <a16:creationId xmlns:a16="http://schemas.microsoft.com/office/drawing/2014/main" id="{2EE85A92-072A-AA80-E775-2E786AA7CAEC}"/>
              </a:ext>
            </a:extLst>
          </p:cNvPr>
          <p:cNvSpPr/>
          <p:nvPr/>
        </p:nvSpPr>
        <p:spPr>
          <a:xfrm>
            <a:off x="197459" y="1479932"/>
            <a:ext cx="3926807" cy="46246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a:solidFill>
                  <a:schemeClr val="tx1"/>
                </a:solidFill>
              </a:rPr>
              <a:t>Cách tiếp cận:</a:t>
            </a:r>
          </a:p>
          <a:p>
            <a:pPr algn="just"/>
            <a:r>
              <a:rPr lang="en-US" sz="1800">
                <a:solidFill>
                  <a:schemeClr val="tx1"/>
                </a:solidFill>
              </a:rPr>
              <a:t>Contiguous Seeds – các hạt giống là chuỗi liên tục </a:t>
            </a:r>
          </a:p>
          <a:p>
            <a:pPr algn="just"/>
            <a:endParaRPr lang="en-US" sz="1800" b="1">
              <a:solidFill>
                <a:schemeClr val="tx1"/>
              </a:solidFill>
            </a:endParaRPr>
          </a:p>
          <a:p>
            <a:pPr algn="just"/>
            <a:r>
              <a:rPr lang="en-US" sz="1800" b="1">
                <a:solidFill>
                  <a:schemeClr val="tx1"/>
                </a:solidFill>
              </a:rPr>
              <a:t>Thuật toán điển hình:</a:t>
            </a:r>
            <a:r>
              <a:rPr lang="en-US" sz="1800">
                <a:solidFill>
                  <a:schemeClr val="tx1"/>
                </a:solidFill>
              </a:rPr>
              <a:t> </a:t>
            </a:r>
          </a:p>
          <a:p>
            <a:pPr algn="just"/>
            <a:r>
              <a:rPr lang="en-US" sz="1800">
                <a:solidFill>
                  <a:schemeClr val="tx1"/>
                </a:solidFill>
              </a:rPr>
              <a:t>FASTA (1985), BLAST (1990)</a:t>
            </a:r>
          </a:p>
          <a:p>
            <a:pPr algn="just"/>
            <a:endParaRPr lang="en-US" sz="1800">
              <a:solidFill>
                <a:schemeClr val="tx1"/>
              </a:solidFill>
            </a:endParaRPr>
          </a:p>
          <a:p>
            <a:pPr algn="just"/>
            <a:r>
              <a:rPr lang="en-US" sz="1800">
                <a:solidFill>
                  <a:schemeClr val="tx1"/>
                </a:solidFill>
              </a:rPr>
              <a:t>BLAST – các bước thực hiện</a:t>
            </a:r>
          </a:p>
          <a:p>
            <a:pPr marL="285750" indent="-285750" algn="just">
              <a:buFontTx/>
              <a:buChar char="-"/>
            </a:pPr>
            <a:r>
              <a:rPr lang="en-US" sz="1800">
                <a:solidFill>
                  <a:schemeClr val="tx1"/>
                </a:solidFill>
              </a:rPr>
              <a:t>Chia query thành các words có độ dài W</a:t>
            </a:r>
          </a:p>
          <a:p>
            <a:pPr marL="285750" indent="-285750" algn="just">
              <a:buFontTx/>
              <a:buChar char="-"/>
            </a:pPr>
            <a:r>
              <a:rPr lang="en-US" sz="1800">
                <a:solidFill>
                  <a:schemeClr val="tx1"/>
                </a:solidFill>
              </a:rPr>
              <a:t>Quét CSDL để tìm đoạn khớp/điểm cao hơn ngưỡng T</a:t>
            </a:r>
          </a:p>
          <a:p>
            <a:pPr marL="285750" indent="-285750" algn="just">
              <a:buFontTx/>
              <a:buChar char="-"/>
            </a:pPr>
            <a:r>
              <a:rPr lang="en-US" sz="1800">
                <a:solidFill>
                  <a:schemeClr val="tx1"/>
                </a:solidFill>
              </a:rPr>
              <a:t>Mở rộng về hai phía dọc theo trình tự, tính điểm thưởng/phạt dựa trên độ so khớp. Điểm thấp &lt; drop-off = loại</a:t>
            </a:r>
          </a:p>
          <a:p>
            <a:pPr marL="285750" indent="-285750" algn="just">
              <a:buFontTx/>
              <a:buChar char="-"/>
            </a:pPr>
            <a:r>
              <a:rPr lang="en-US" sz="1800">
                <a:solidFill>
                  <a:schemeClr val="tx1"/>
                </a:solidFill>
              </a:rPr>
              <a:t>Trả về các kết quả có E-value phù hợp (thường E &lt; 0.05)</a:t>
            </a:r>
          </a:p>
          <a:p>
            <a:pPr marL="285750" indent="-285750" algn="just">
              <a:buFontTx/>
              <a:buChar char="-"/>
            </a:pPr>
            <a:endParaRPr lang="en-US" sz="1800">
              <a:solidFill>
                <a:schemeClr val="tx1"/>
              </a:solidFill>
            </a:endParaRPr>
          </a:p>
        </p:txBody>
      </p:sp>
      <p:pic>
        <p:nvPicPr>
          <p:cNvPr id="1026" name="Picture 2" descr="BLAST - Bioinformatics Notebook">
            <a:extLst>
              <a:ext uri="{FF2B5EF4-FFF2-40B4-BE49-F238E27FC236}">
                <a16:creationId xmlns:a16="http://schemas.microsoft.com/office/drawing/2014/main" id="{9EFC1D18-B810-A9FE-E83F-A055EE2538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4439" y="1143000"/>
            <a:ext cx="5069664" cy="38088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6CFC75AE-766B-B0C5-CEAB-D4B058CE6DF1}"/>
              </a:ext>
            </a:extLst>
          </p:cNvPr>
          <p:cNvGraphicFramePr>
            <a:graphicFrameLocks noGrp="1"/>
          </p:cNvGraphicFramePr>
          <p:nvPr/>
        </p:nvGraphicFramePr>
        <p:xfrm>
          <a:off x="4447733" y="4682620"/>
          <a:ext cx="4175340" cy="1259840"/>
        </p:xfrm>
        <a:graphic>
          <a:graphicData uri="http://schemas.openxmlformats.org/drawingml/2006/table">
            <a:tbl>
              <a:tblPr firstRow="1" bandRow="1">
                <a:tableStyleId>{5C22544A-7EE6-4342-B048-85BDC9FD1C3A}</a:tableStyleId>
              </a:tblPr>
              <a:tblGrid>
                <a:gridCol w="1391780">
                  <a:extLst>
                    <a:ext uri="{9D8B030D-6E8A-4147-A177-3AD203B41FA5}">
                      <a16:colId xmlns:a16="http://schemas.microsoft.com/office/drawing/2014/main" val="4093573076"/>
                    </a:ext>
                  </a:extLst>
                </a:gridCol>
                <a:gridCol w="1391780">
                  <a:extLst>
                    <a:ext uri="{9D8B030D-6E8A-4147-A177-3AD203B41FA5}">
                      <a16:colId xmlns:a16="http://schemas.microsoft.com/office/drawing/2014/main" val="4205334160"/>
                    </a:ext>
                  </a:extLst>
                </a:gridCol>
                <a:gridCol w="1391780">
                  <a:extLst>
                    <a:ext uri="{9D8B030D-6E8A-4147-A177-3AD203B41FA5}">
                      <a16:colId xmlns:a16="http://schemas.microsoft.com/office/drawing/2014/main" val="2810473510"/>
                    </a:ext>
                  </a:extLst>
                </a:gridCol>
              </a:tblGrid>
              <a:tr h="370840">
                <a:tc>
                  <a:txBody>
                    <a:bodyPr/>
                    <a:lstStyle/>
                    <a:p>
                      <a:endParaRPr lang="en-US"/>
                    </a:p>
                  </a:txBody>
                  <a:tcPr/>
                </a:tc>
                <a:tc>
                  <a:txBody>
                    <a:bodyPr/>
                    <a:lstStyle/>
                    <a:p>
                      <a:r>
                        <a:rPr lang="en-US"/>
                        <a:t>DNA</a:t>
                      </a:r>
                    </a:p>
                  </a:txBody>
                  <a:tcPr/>
                </a:tc>
                <a:tc>
                  <a:txBody>
                    <a:bodyPr/>
                    <a:lstStyle/>
                    <a:p>
                      <a:r>
                        <a:rPr lang="en-US"/>
                        <a:t>Protein</a:t>
                      </a:r>
                    </a:p>
                  </a:txBody>
                  <a:tcPr/>
                </a:tc>
                <a:extLst>
                  <a:ext uri="{0D108BD9-81ED-4DB2-BD59-A6C34878D82A}">
                    <a16:rowId xmlns:a16="http://schemas.microsoft.com/office/drawing/2014/main" val="3598402919"/>
                  </a:ext>
                </a:extLst>
              </a:tr>
              <a:tr h="370840">
                <a:tc>
                  <a:txBody>
                    <a:bodyPr/>
                    <a:lstStyle/>
                    <a:p>
                      <a:r>
                        <a:rPr lang="en-US"/>
                        <a:t>Độ dài từ W</a:t>
                      </a:r>
                    </a:p>
                  </a:txBody>
                  <a:tcPr/>
                </a:tc>
                <a:tc>
                  <a:txBody>
                    <a:bodyPr/>
                    <a:lstStyle/>
                    <a:p>
                      <a:r>
                        <a:rPr lang="en-US"/>
                        <a:t>11</a:t>
                      </a:r>
                    </a:p>
                  </a:txBody>
                  <a:tcPr/>
                </a:tc>
                <a:tc>
                  <a:txBody>
                    <a:bodyPr/>
                    <a:lstStyle/>
                    <a:p>
                      <a:r>
                        <a:rPr lang="en-US"/>
                        <a:t>3</a:t>
                      </a:r>
                    </a:p>
                  </a:txBody>
                  <a:tcPr/>
                </a:tc>
                <a:extLst>
                  <a:ext uri="{0D108BD9-81ED-4DB2-BD59-A6C34878D82A}">
                    <a16:rowId xmlns:a16="http://schemas.microsoft.com/office/drawing/2014/main" val="387189816"/>
                  </a:ext>
                </a:extLst>
              </a:tr>
              <a:tr h="370840">
                <a:tc>
                  <a:txBody>
                    <a:bodyPr/>
                    <a:lstStyle/>
                    <a:p>
                      <a:r>
                        <a:rPr lang="en-US"/>
                        <a:t>Tìm kiếm &amp; So khớp</a:t>
                      </a:r>
                    </a:p>
                  </a:txBody>
                  <a:tcPr/>
                </a:tc>
                <a:tc>
                  <a:txBody>
                    <a:bodyPr/>
                    <a:lstStyle/>
                    <a:p>
                      <a:r>
                        <a:rPr lang="en-US"/>
                        <a:t>Chính xác</a:t>
                      </a:r>
                    </a:p>
                  </a:txBody>
                  <a:tcPr/>
                </a:tc>
                <a:tc>
                  <a:txBody>
                    <a:bodyPr/>
                    <a:lstStyle/>
                    <a:p>
                      <a:r>
                        <a:rPr lang="en-US"/>
                        <a:t>Tính điểm cao (BLOSUM62)</a:t>
                      </a:r>
                    </a:p>
                  </a:txBody>
                  <a:tcPr/>
                </a:tc>
                <a:extLst>
                  <a:ext uri="{0D108BD9-81ED-4DB2-BD59-A6C34878D82A}">
                    <a16:rowId xmlns:a16="http://schemas.microsoft.com/office/drawing/2014/main" val="20686059"/>
                  </a:ext>
                </a:extLst>
              </a:tr>
            </a:tbl>
          </a:graphicData>
        </a:graphic>
      </p:graphicFrame>
      <p:pic>
        <p:nvPicPr>
          <p:cNvPr id="10" name="Picture 9">
            <a:extLst>
              <a:ext uri="{FF2B5EF4-FFF2-40B4-BE49-F238E27FC236}">
                <a16:creationId xmlns:a16="http://schemas.microsoft.com/office/drawing/2014/main" id="{3FE0DC5D-F6CF-5A33-696A-8B0E98573702}"/>
              </a:ext>
            </a:extLst>
          </p:cNvPr>
          <p:cNvPicPr>
            <a:picLocks noChangeAspect="1"/>
          </p:cNvPicPr>
          <p:nvPr/>
        </p:nvPicPr>
        <p:blipFill>
          <a:blip r:embed="rId4"/>
          <a:srcRect r="11580" b="4215"/>
          <a:stretch>
            <a:fillRect/>
          </a:stretch>
        </p:blipFill>
        <p:spPr>
          <a:xfrm>
            <a:off x="4572001" y="5942460"/>
            <a:ext cx="3472070" cy="551105"/>
          </a:xfrm>
          <a:prstGeom prst="rect">
            <a:avLst/>
          </a:prstGeom>
        </p:spPr>
      </p:pic>
    </p:spTree>
    <p:extLst>
      <p:ext uri="{BB962C8B-B14F-4D97-AF65-F5344CB8AC3E}">
        <p14:creationId xmlns:p14="http://schemas.microsoft.com/office/powerpoint/2010/main" val="810529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D18231B8-0422-D532-1D0D-DE4F0C937972}"/>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29D7F9FB-A414-4C27-2805-20583F098CFA}"/>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en-US"/>
              <a:t>Các giai đoạn phát triển: Giai đoạn 1</a:t>
            </a:r>
          </a:p>
        </p:txBody>
      </p:sp>
      <p:sp>
        <p:nvSpPr>
          <p:cNvPr id="3" name="Slide Number Placeholder 2">
            <a:extLst>
              <a:ext uri="{FF2B5EF4-FFF2-40B4-BE49-F238E27FC236}">
                <a16:creationId xmlns:a16="http://schemas.microsoft.com/office/drawing/2014/main" id="{F69E5EE8-3D07-A1E1-0C85-B87453668EE5}"/>
              </a:ext>
            </a:extLst>
          </p:cNvPr>
          <p:cNvSpPr>
            <a:spLocks noGrp="1"/>
          </p:cNvSpPr>
          <p:nvPr>
            <p:ph type="sldNum" idx="12"/>
          </p:nvPr>
        </p:nvSpPr>
        <p:spPr/>
        <p:txBody>
          <a:bodyPr/>
          <a:lstStyle/>
          <a:p>
            <a:r>
              <a:rPr lang="en-US" dirty="0"/>
              <a:t>19</a:t>
            </a:r>
          </a:p>
        </p:txBody>
      </p:sp>
      <p:sp>
        <p:nvSpPr>
          <p:cNvPr id="2" name="Rectangle 1">
            <a:extLst>
              <a:ext uri="{FF2B5EF4-FFF2-40B4-BE49-F238E27FC236}">
                <a16:creationId xmlns:a16="http://schemas.microsoft.com/office/drawing/2014/main" id="{84A3538A-4B48-914F-AFE6-652E18068BA7}"/>
              </a:ext>
            </a:extLst>
          </p:cNvPr>
          <p:cNvSpPr/>
          <p:nvPr/>
        </p:nvSpPr>
        <p:spPr>
          <a:xfrm>
            <a:off x="198330" y="1221657"/>
            <a:ext cx="3925994" cy="46246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a:solidFill>
                  <a:schemeClr val="tx1"/>
                </a:solidFill>
              </a:rPr>
              <a:t>Hạn chế:</a:t>
            </a:r>
          </a:p>
          <a:p>
            <a:pPr marL="285750" indent="-285750" algn="just">
              <a:buFontTx/>
              <a:buChar char="-"/>
            </a:pPr>
            <a:r>
              <a:rPr lang="en-US" sz="1800">
                <a:solidFill>
                  <a:schemeClr val="tx1"/>
                </a:solidFill>
              </a:rPr>
              <a:t>Đánh đổi giữa tốc độ và độ nhạy</a:t>
            </a:r>
          </a:p>
          <a:p>
            <a:pPr algn="just"/>
            <a:r>
              <a:rPr lang="en-US" sz="1800">
                <a:solidFill>
                  <a:schemeClr val="tx1"/>
                </a:solidFill>
              </a:rPr>
              <a:t>+ W lớn: nhanh nhưng không nhạy</a:t>
            </a:r>
            <a:endParaRPr lang="en-US" sz="1800" b="1">
              <a:solidFill>
                <a:schemeClr val="tx1"/>
              </a:solidFill>
            </a:endParaRPr>
          </a:p>
          <a:p>
            <a:pPr algn="just"/>
            <a:r>
              <a:rPr lang="en-US" sz="1800">
                <a:solidFill>
                  <a:schemeClr val="tx1"/>
                </a:solidFill>
              </a:rPr>
              <a:t>+ W nhỏ: nhạy cao, nhưng chậm và xuất hiện nhiều nhiễu</a:t>
            </a:r>
          </a:p>
          <a:p>
            <a:pPr marL="285750" indent="-285750" algn="just">
              <a:buFontTx/>
              <a:buChar char="-"/>
            </a:pPr>
            <a:r>
              <a:rPr lang="en-US" sz="1800">
                <a:solidFill>
                  <a:schemeClr val="tx1"/>
                </a:solidFill>
              </a:rPr>
              <a:t>Do so khớp các từ liền kề =&gt; không nhạy với các đột biến (insertion, deletion, transversion) =&gt; dễ bị bỏ qua</a:t>
            </a:r>
          </a:p>
          <a:p>
            <a:pPr marL="285750" indent="-285750" algn="just">
              <a:buFontTx/>
              <a:buChar char="-"/>
            </a:pPr>
            <a:r>
              <a:rPr lang="en-US" sz="1800">
                <a:solidFill>
                  <a:schemeClr val="tx1"/>
                </a:solidFill>
              </a:rPr>
              <a:t>Nhạy cảm với vùng lặp, có thể dẫn đến điểm số so khớp cao giả</a:t>
            </a:r>
          </a:p>
        </p:txBody>
      </p:sp>
      <p:pic>
        <p:nvPicPr>
          <p:cNvPr id="1026" name="Picture 2" descr="BLAST - Bioinformatics Notebook">
            <a:extLst>
              <a:ext uri="{FF2B5EF4-FFF2-40B4-BE49-F238E27FC236}">
                <a16:creationId xmlns:a16="http://schemas.microsoft.com/office/drawing/2014/main" id="{C88B0A4B-1153-CA63-7A50-AFAAA9DE6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4324" y="1156720"/>
            <a:ext cx="4980873" cy="374215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CE1AAE8D-0268-122E-AF6B-ECC297543C5E}"/>
              </a:ext>
            </a:extLst>
          </p:cNvPr>
          <p:cNvGraphicFramePr>
            <a:graphicFrameLocks noGrp="1"/>
          </p:cNvGraphicFramePr>
          <p:nvPr/>
        </p:nvGraphicFramePr>
        <p:xfrm>
          <a:off x="4124324" y="4607835"/>
          <a:ext cx="4175340" cy="1259840"/>
        </p:xfrm>
        <a:graphic>
          <a:graphicData uri="http://schemas.openxmlformats.org/drawingml/2006/table">
            <a:tbl>
              <a:tblPr firstRow="1" bandRow="1">
                <a:tableStyleId>{5C22544A-7EE6-4342-B048-85BDC9FD1C3A}</a:tableStyleId>
              </a:tblPr>
              <a:tblGrid>
                <a:gridCol w="1391780">
                  <a:extLst>
                    <a:ext uri="{9D8B030D-6E8A-4147-A177-3AD203B41FA5}">
                      <a16:colId xmlns:a16="http://schemas.microsoft.com/office/drawing/2014/main" val="4093573076"/>
                    </a:ext>
                  </a:extLst>
                </a:gridCol>
                <a:gridCol w="1391780">
                  <a:extLst>
                    <a:ext uri="{9D8B030D-6E8A-4147-A177-3AD203B41FA5}">
                      <a16:colId xmlns:a16="http://schemas.microsoft.com/office/drawing/2014/main" val="4205334160"/>
                    </a:ext>
                  </a:extLst>
                </a:gridCol>
                <a:gridCol w="1391780">
                  <a:extLst>
                    <a:ext uri="{9D8B030D-6E8A-4147-A177-3AD203B41FA5}">
                      <a16:colId xmlns:a16="http://schemas.microsoft.com/office/drawing/2014/main" val="2810473510"/>
                    </a:ext>
                  </a:extLst>
                </a:gridCol>
              </a:tblGrid>
              <a:tr h="370840">
                <a:tc>
                  <a:txBody>
                    <a:bodyPr/>
                    <a:lstStyle/>
                    <a:p>
                      <a:endParaRPr lang="en-US"/>
                    </a:p>
                  </a:txBody>
                  <a:tcPr/>
                </a:tc>
                <a:tc>
                  <a:txBody>
                    <a:bodyPr/>
                    <a:lstStyle/>
                    <a:p>
                      <a:r>
                        <a:rPr lang="en-US"/>
                        <a:t>DNA</a:t>
                      </a:r>
                    </a:p>
                  </a:txBody>
                  <a:tcPr/>
                </a:tc>
                <a:tc>
                  <a:txBody>
                    <a:bodyPr/>
                    <a:lstStyle/>
                    <a:p>
                      <a:r>
                        <a:rPr lang="en-US"/>
                        <a:t>Protein</a:t>
                      </a:r>
                    </a:p>
                  </a:txBody>
                  <a:tcPr/>
                </a:tc>
                <a:extLst>
                  <a:ext uri="{0D108BD9-81ED-4DB2-BD59-A6C34878D82A}">
                    <a16:rowId xmlns:a16="http://schemas.microsoft.com/office/drawing/2014/main" val="3598402919"/>
                  </a:ext>
                </a:extLst>
              </a:tr>
              <a:tr h="370840">
                <a:tc>
                  <a:txBody>
                    <a:bodyPr/>
                    <a:lstStyle/>
                    <a:p>
                      <a:r>
                        <a:rPr lang="en-US"/>
                        <a:t>Độ dài từ W</a:t>
                      </a:r>
                    </a:p>
                  </a:txBody>
                  <a:tcPr/>
                </a:tc>
                <a:tc>
                  <a:txBody>
                    <a:bodyPr/>
                    <a:lstStyle/>
                    <a:p>
                      <a:r>
                        <a:rPr lang="en-US"/>
                        <a:t>11</a:t>
                      </a:r>
                    </a:p>
                  </a:txBody>
                  <a:tcPr/>
                </a:tc>
                <a:tc>
                  <a:txBody>
                    <a:bodyPr/>
                    <a:lstStyle/>
                    <a:p>
                      <a:r>
                        <a:rPr lang="en-US"/>
                        <a:t>3</a:t>
                      </a:r>
                    </a:p>
                  </a:txBody>
                  <a:tcPr/>
                </a:tc>
                <a:extLst>
                  <a:ext uri="{0D108BD9-81ED-4DB2-BD59-A6C34878D82A}">
                    <a16:rowId xmlns:a16="http://schemas.microsoft.com/office/drawing/2014/main" val="387189816"/>
                  </a:ext>
                </a:extLst>
              </a:tr>
              <a:tr h="370840">
                <a:tc>
                  <a:txBody>
                    <a:bodyPr/>
                    <a:lstStyle/>
                    <a:p>
                      <a:r>
                        <a:rPr lang="en-US"/>
                        <a:t>Tìm kiếm &amp; So khớp</a:t>
                      </a:r>
                    </a:p>
                  </a:txBody>
                  <a:tcPr/>
                </a:tc>
                <a:tc>
                  <a:txBody>
                    <a:bodyPr/>
                    <a:lstStyle/>
                    <a:p>
                      <a:r>
                        <a:rPr lang="en-US"/>
                        <a:t>Chính xác</a:t>
                      </a:r>
                    </a:p>
                  </a:txBody>
                  <a:tcPr/>
                </a:tc>
                <a:tc>
                  <a:txBody>
                    <a:bodyPr/>
                    <a:lstStyle/>
                    <a:p>
                      <a:r>
                        <a:rPr lang="en-US"/>
                        <a:t>Tính điểm cao (BLOSUM62)</a:t>
                      </a:r>
                    </a:p>
                  </a:txBody>
                  <a:tcPr/>
                </a:tc>
                <a:extLst>
                  <a:ext uri="{0D108BD9-81ED-4DB2-BD59-A6C34878D82A}">
                    <a16:rowId xmlns:a16="http://schemas.microsoft.com/office/drawing/2014/main" val="20686059"/>
                  </a:ext>
                </a:extLst>
              </a:tr>
            </a:tbl>
          </a:graphicData>
        </a:graphic>
      </p:graphicFrame>
      <p:pic>
        <p:nvPicPr>
          <p:cNvPr id="10" name="Picture 9">
            <a:extLst>
              <a:ext uri="{FF2B5EF4-FFF2-40B4-BE49-F238E27FC236}">
                <a16:creationId xmlns:a16="http://schemas.microsoft.com/office/drawing/2014/main" id="{1BF5E6AE-0B35-CDF4-3066-4B17FA2ADE7E}"/>
              </a:ext>
            </a:extLst>
          </p:cNvPr>
          <p:cNvPicPr>
            <a:picLocks noChangeAspect="1"/>
          </p:cNvPicPr>
          <p:nvPr/>
        </p:nvPicPr>
        <p:blipFill>
          <a:blip r:embed="rId4"/>
          <a:srcRect r="12080"/>
          <a:stretch>
            <a:fillRect/>
          </a:stretch>
        </p:blipFill>
        <p:spPr>
          <a:xfrm>
            <a:off x="457200" y="5335855"/>
            <a:ext cx="3452446" cy="575356"/>
          </a:xfrm>
          <a:prstGeom prst="rect">
            <a:avLst/>
          </a:prstGeom>
        </p:spPr>
      </p:pic>
    </p:spTree>
    <p:extLst>
      <p:ext uri="{BB962C8B-B14F-4D97-AF65-F5344CB8AC3E}">
        <p14:creationId xmlns:p14="http://schemas.microsoft.com/office/powerpoint/2010/main" val="3487492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735DECD2-DD9E-703A-6C45-508106400147}"/>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322E1D32-3396-DDA0-5723-E1BA814AF876}"/>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en-US"/>
              <a:t>Các giai đoạn phát triển: Giai đoạn 2</a:t>
            </a:r>
          </a:p>
        </p:txBody>
      </p:sp>
      <p:sp>
        <p:nvSpPr>
          <p:cNvPr id="3" name="Slide Number Placeholder 2">
            <a:extLst>
              <a:ext uri="{FF2B5EF4-FFF2-40B4-BE49-F238E27FC236}">
                <a16:creationId xmlns:a16="http://schemas.microsoft.com/office/drawing/2014/main" id="{4BA47F9D-585C-0B21-DB61-7C7C60590663}"/>
              </a:ext>
            </a:extLst>
          </p:cNvPr>
          <p:cNvSpPr>
            <a:spLocks noGrp="1"/>
          </p:cNvSpPr>
          <p:nvPr>
            <p:ph type="sldNum" idx="12"/>
          </p:nvPr>
        </p:nvSpPr>
        <p:spPr/>
        <p:txBody>
          <a:bodyPr/>
          <a:lstStyle/>
          <a:p>
            <a:r>
              <a:rPr lang="en-US" dirty="0"/>
              <a:t>20</a:t>
            </a:r>
          </a:p>
        </p:txBody>
      </p:sp>
      <p:sp>
        <p:nvSpPr>
          <p:cNvPr id="2" name="Rectangle 1">
            <a:extLst>
              <a:ext uri="{FF2B5EF4-FFF2-40B4-BE49-F238E27FC236}">
                <a16:creationId xmlns:a16="http://schemas.microsoft.com/office/drawing/2014/main" id="{D910E006-5697-256A-5650-65C9C1E5CC87}"/>
              </a:ext>
            </a:extLst>
          </p:cNvPr>
          <p:cNvSpPr/>
          <p:nvPr/>
        </p:nvSpPr>
        <p:spPr>
          <a:xfrm>
            <a:off x="325677" y="1551662"/>
            <a:ext cx="4246323" cy="4396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a:solidFill>
                  <a:schemeClr val="tx1"/>
                </a:solidFill>
              </a:rPr>
              <a:t>Cách tiếp cận:</a:t>
            </a:r>
          </a:p>
          <a:p>
            <a:pPr algn="just"/>
            <a:r>
              <a:rPr lang="en-US" sz="1800">
                <a:solidFill>
                  <a:schemeClr val="tx1"/>
                </a:solidFill>
              </a:rPr>
              <a:t>Spaced Seeds – dùng các mask để quy định các vị trí khớp và vị trí không quan tâm</a:t>
            </a:r>
          </a:p>
          <a:p>
            <a:pPr algn="just"/>
            <a:r>
              <a:rPr lang="en-US" sz="1800">
                <a:solidFill>
                  <a:schemeClr val="tx1"/>
                </a:solidFill>
              </a:rPr>
              <a:t>=&gt; Seed templates. </a:t>
            </a:r>
            <a:endParaRPr lang="en-US" sz="1800" b="1">
              <a:solidFill>
                <a:schemeClr val="tx1"/>
              </a:solidFill>
            </a:endParaRPr>
          </a:p>
          <a:p>
            <a:pPr algn="just"/>
            <a:endParaRPr lang="en-US" sz="1800" b="1">
              <a:solidFill>
                <a:schemeClr val="tx1"/>
              </a:solidFill>
            </a:endParaRPr>
          </a:p>
          <a:p>
            <a:pPr algn="just"/>
            <a:r>
              <a:rPr lang="en-US" sz="1800" b="1">
                <a:solidFill>
                  <a:schemeClr val="tx1"/>
                </a:solidFill>
              </a:rPr>
              <a:t>Thuật toán điển hình:</a:t>
            </a:r>
            <a:r>
              <a:rPr lang="en-US" sz="1800">
                <a:solidFill>
                  <a:schemeClr val="tx1"/>
                </a:solidFill>
              </a:rPr>
              <a:t> PatternHunter</a:t>
            </a:r>
          </a:p>
          <a:p>
            <a:pPr algn="just"/>
            <a:r>
              <a:rPr lang="en-US" sz="1800">
                <a:solidFill>
                  <a:schemeClr val="tx1"/>
                </a:solidFill>
              </a:rPr>
              <a:t>=&gt; Giải thuyết việc nhạy giả với các vùng lặp liên tục của BLAST</a:t>
            </a:r>
          </a:p>
          <a:p>
            <a:pPr algn="just"/>
            <a:endParaRPr lang="en-US" sz="1800">
              <a:solidFill>
                <a:schemeClr val="tx1"/>
              </a:solidFill>
            </a:endParaRPr>
          </a:p>
        </p:txBody>
      </p:sp>
      <p:pic>
        <p:nvPicPr>
          <p:cNvPr id="2050" name="Picture 2">
            <a:extLst>
              <a:ext uri="{FF2B5EF4-FFF2-40B4-BE49-F238E27FC236}">
                <a16:creationId xmlns:a16="http://schemas.microsoft.com/office/drawing/2014/main" id="{9C5C5CAE-F6E1-6851-C740-7157346CFB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169401"/>
            <a:ext cx="3909164" cy="2573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241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7E9F233E-FBF7-CC48-07D1-15502FDE9F2A}"/>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9DD6A540-61A2-B55E-DEF3-9461695D2096}"/>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en-US"/>
              <a:t>Các giai đoạn phát triển: Giai đoạn 2</a:t>
            </a:r>
          </a:p>
        </p:txBody>
      </p:sp>
      <p:sp>
        <p:nvSpPr>
          <p:cNvPr id="3" name="Slide Number Placeholder 2">
            <a:extLst>
              <a:ext uri="{FF2B5EF4-FFF2-40B4-BE49-F238E27FC236}">
                <a16:creationId xmlns:a16="http://schemas.microsoft.com/office/drawing/2014/main" id="{31054838-AD45-F841-688E-4CCD2A094FFB}"/>
              </a:ext>
            </a:extLst>
          </p:cNvPr>
          <p:cNvSpPr>
            <a:spLocks noGrp="1"/>
          </p:cNvSpPr>
          <p:nvPr>
            <p:ph type="sldNum" idx="12"/>
          </p:nvPr>
        </p:nvSpPr>
        <p:spPr/>
        <p:txBody>
          <a:bodyPr/>
          <a:lstStyle/>
          <a:p>
            <a:r>
              <a:rPr lang="en-US" dirty="0"/>
              <a:t>21</a:t>
            </a:r>
          </a:p>
        </p:txBody>
      </p:sp>
      <p:sp>
        <p:nvSpPr>
          <p:cNvPr id="2" name="Rectangle 1">
            <a:extLst>
              <a:ext uri="{FF2B5EF4-FFF2-40B4-BE49-F238E27FC236}">
                <a16:creationId xmlns:a16="http://schemas.microsoft.com/office/drawing/2014/main" id="{20A51A4D-BD5B-CAF4-3CEE-B49A8EBD53AA}"/>
              </a:ext>
            </a:extLst>
          </p:cNvPr>
          <p:cNvSpPr/>
          <p:nvPr/>
        </p:nvSpPr>
        <p:spPr>
          <a:xfrm>
            <a:off x="198330" y="1221657"/>
            <a:ext cx="8081374" cy="46246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a:solidFill>
                  <a:schemeClr val="tx1"/>
                </a:solidFill>
              </a:rPr>
              <a:t>Một số cải tiến:</a:t>
            </a:r>
          </a:p>
          <a:p>
            <a:pPr marL="285750" indent="-285750" algn="just">
              <a:buFontTx/>
              <a:buChar char="-"/>
            </a:pPr>
            <a:r>
              <a:rPr lang="en-US" sz="1800">
                <a:solidFill>
                  <a:schemeClr val="tx1"/>
                </a:solidFill>
              </a:rPr>
              <a:t>Multiple Spaced Seeds (PatternHunter II): nhiều template, chỉ cần match một trong một bộ</a:t>
            </a:r>
          </a:p>
          <a:p>
            <a:pPr marL="285750" indent="-285750" algn="just">
              <a:buFontTx/>
              <a:buChar char="-"/>
            </a:pPr>
            <a:r>
              <a:rPr lang="en-US" sz="1800">
                <a:solidFill>
                  <a:schemeClr val="tx1"/>
                </a:solidFill>
              </a:rPr>
              <a:t>Spaced Seeds kết hợp Transition (LASTZ): Thêm một ký tự T để mask các vị trí cho phép đột biến Transitiion (A ↔ T, G ↔ C) có tỉ lệ xuất hiện nhiều hơn</a:t>
            </a:r>
          </a:p>
          <a:p>
            <a:pPr algn="just"/>
            <a:r>
              <a:rPr lang="en-US" sz="1800" b="1">
                <a:solidFill>
                  <a:schemeClr val="tx1"/>
                </a:solidFill>
              </a:rPr>
              <a:t>Hạn chế:</a:t>
            </a:r>
          </a:p>
          <a:p>
            <a:pPr marL="285750" indent="-285750" algn="just">
              <a:buFontTx/>
              <a:buChar char="-"/>
            </a:pPr>
            <a:r>
              <a:rPr lang="en-US" sz="1800">
                <a:solidFill>
                  <a:schemeClr val="tx1"/>
                </a:solidFill>
              </a:rPr>
              <a:t>Bùng nổ về Bộ nhớ: do lập Hash Table cho chỉ mục cho k-mer =&gt; một bộ genome người có thể tốn đến 20GB-50GB RAM </a:t>
            </a:r>
          </a:p>
          <a:p>
            <a:pPr marL="285750" indent="-285750" algn="just">
              <a:buFontTx/>
              <a:buChar char="-"/>
            </a:pPr>
            <a:r>
              <a:rPr lang="en-US" sz="1800">
                <a:solidFill>
                  <a:schemeClr val="tx1"/>
                </a:solidFill>
              </a:rPr>
              <a:t>Sự cứng nhắc của Template: muốn đổi template thì cần hash lại CSDL tham chiếu =&gt; cần nhiều thời gian và bộ nhớ</a:t>
            </a:r>
          </a:p>
          <a:p>
            <a:pPr algn="just"/>
            <a:endParaRPr lang="en-US" sz="1800">
              <a:solidFill>
                <a:schemeClr val="tx1"/>
              </a:solidFill>
            </a:endParaRPr>
          </a:p>
        </p:txBody>
      </p:sp>
    </p:spTree>
    <p:extLst>
      <p:ext uri="{BB962C8B-B14F-4D97-AF65-F5344CB8AC3E}">
        <p14:creationId xmlns:p14="http://schemas.microsoft.com/office/powerpoint/2010/main" val="1159081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710E13AF-7EED-44C7-32B9-963E38B1B86F}"/>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3CC37B3C-9DC5-6A12-CEF1-6D0332E4D8EF}"/>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lvl="0" algn="just">
              <a:lnSpc>
                <a:spcPct val="130000"/>
              </a:lnSpc>
              <a:buClr>
                <a:schemeClr val="accent4">
                  <a:lumMod val="75000"/>
                </a:schemeClr>
              </a:buClr>
              <a:buSzPts val="1976"/>
            </a:pPr>
            <a:r>
              <a:rPr lang="en-US"/>
              <a:t>Hai hướng phát triển: Tối ưu Hashing</a:t>
            </a:r>
          </a:p>
        </p:txBody>
      </p:sp>
      <p:sp>
        <p:nvSpPr>
          <p:cNvPr id="3" name="Slide Number Placeholder 2">
            <a:extLst>
              <a:ext uri="{FF2B5EF4-FFF2-40B4-BE49-F238E27FC236}">
                <a16:creationId xmlns:a16="http://schemas.microsoft.com/office/drawing/2014/main" id="{052459B5-C3B9-4373-0E3C-4AA46A06BE72}"/>
              </a:ext>
            </a:extLst>
          </p:cNvPr>
          <p:cNvSpPr>
            <a:spLocks noGrp="1"/>
          </p:cNvSpPr>
          <p:nvPr>
            <p:ph type="sldNum" idx="12"/>
          </p:nvPr>
        </p:nvSpPr>
        <p:spPr/>
        <p:txBody>
          <a:bodyPr/>
          <a:lstStyle/>
          <a:p>
            <a:r>
              <a:rPr lang="en-US" dirty="0"/>
              <a:t>22</a:t>
            </a:r>
          </a:p>
        </p:txBody>
      </p:sp>
      <p:sp>
        <p:nvSpPr>
          <p:cNvPr id="2" name="Rectangle 1">
            <a:extLst>
              <a:ext uri="{FF2B5EF4-FFF2-40B4-BE49-F238E27FC236}">
                <a16:creationId xmlns:a16="http://schemas.microsoft.com/office/drawing/2014/main" id="{DDDB3E48-3706-37F1-787D-69802F43B961}"/>
              </a:ext>
            </a:extLst>
          </p:cNvPr>
          <p:cNvSpPr/>
          <p:nvPr/>
        </p:nvSpPr>
        <p:spPr>
          <a:xfrm>
            <a:off x="198330" y="1221657"/>
            <a:ext cx="8795358" cy="46246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US" sz="1800" b="1" dirty="0" err="1">
                <a:solidFill>
                  <a:schemeClr val="tx1"/>
                </a:solidFill>
              </a:rPr>
              <a:t>Tối</a:t>
            </a:r>
            <a:r>
              <a:rPr lang="en-US" sz="1800" b="1" dirty="0">
                <a:solidFill>
                  <a:schemeClr val="tx1"/>
                </a:solidFill>
              </a:rPr>
              <a:t> </a:t>
            </a:r>
            <a:r>
              <a:rPr lang="en-US" sz="1800" b="1" dirty="0" err="1">
                <a:solidFill>
                  <a:schemeClr val="tx1"/>
                </a:solidFill>
              </a:rPr>
              <a:t>ưu</a:t>
            </a:r>
            <a:r>
              <a:rPr lang="en-US" sz="1800" b="1" dirty="0">
                <a:solidFill>
                  <a:schemeClr val="tx1"/>
                </a:solidFill>
              </a:rPr>
              <a:t> </a:t>
            </a:r>
            <a:r>
              <a:rPr lang="en-US" sz="1800" b="1" dirty="0" err="1">
                <a:solidFill>
                  <a:schemeClr val="tx1"/>
                </a:solidFill>
              </a:rPr>
              <a:t>phương</a:t>
            </a:r>
            <a:r>
              <a:rPr lang="en-US" sz="1800" b="1" dirty="0">
                <a:solidFill>
                  <a:schemeClr val="tx1"/>
                </a:solidFill>
              </a:rPr>
              <a:t> </a:t>
            </a:r>
            <a:r>
              <a:rPr lang="en-US" sz="1800" b="1" dirty="0" err="1">
                <a:solidFill>
                  <a:schemeClr val="tx1"/>
                </a:solidFill>
              </a:rPr>
              <a:t>pháp</a:t>
            </a:r>
            <a:r>
              <a:rPr lang="en-US" sz="1800" b="1" dirty="0">
                <a:solidFill>
                  <a:schemeClr val="tx1"/>
                </a:solidFill>
              </a:rPr>
              <a:t> Hashing – </a:t>
            </a:r>
            <a:r>
              <a:rPr lang="en-US" sz="1800" b="1" dirty="0" err="1">
                <a:solidFill>
                  <a:schemeClr val="tx1"/>
                </a:solidFill>
              </a:rPr>
              <a:t>Minimap</a:t>
            </a:r>
            <a:r>
              <a:rPr lang="en-US" sz="1800" b="1" dirty="0">
                <a:solidFill>
                  <a:schemeClr val="tx1"/>
                </a:solidFill>
              </a:rPr>
              <a:t> II (Long-reads)</a:t>
            </a:r>
          </a:p>
          <a:p>
            <a:pPr marL="285750" indent="-285750" algn="just">
              <a:buFontTx/>
              <a:buChar char="-"/>
            </a:pPr>
            <a:r>
              <a:rPr lang="en-US" sz="1800" b="1" dirty="0" err="1">
                <a:solidFill>
                  <a:schemeClr val="tx1"/>
                </a:solidFill>
              </a:rPr>
              <a:t>Bước</a:t>
            </a:r>
            <a:r>
              <a:rPr lang="en-US" sz="1800" b="1" dirty="0">
                <a:solidFill>
                  <a:schemeClr val="tx1"/>
                </a:solidFill>
              </a:rPr>
              <a:t> 1 (Sketching)</a:t>
            </a:r>
            <a:r>
              <a:rPr lang="en-US" sz="1800" dirty="0">
                <a:solidFill>
                  <a:schemeClr val="tx1"/>
                </a:solidFill>
              </a:rPr>
              <a:t>: </a:t>
            </a:r>
          </a:p>
          <a:p>
            <a:pPr lvl="1" algn="just"/>
            <a:r>
              <a:rPr lang="en-US" sz="1800" dirty="0">
                <a:solidFill>
                  <a:schemeClr val="tx1"/>
                </a:solidFill>
              </a:rPr>
              <a:t>	+ </a:t>
            </a:r>
            <a:r>
              <a:rPr lang="en-US" sz="1800" dirty="0" err="1">
                <a:solidFill>
                  <a:schemeClr val="tx1"/>
                </a:solidFill>
              </a:rPr>
              <a:t>Áp</a:t>
            </a:r>
            <a:r>
              <a:rPr lang="en-US" sz="1800" dirty="0">
                <a:solidFill>
                  <a:schemeClr val="tx1"/>
                </a:solidFill>
              </a:rPr>
              <a:t> </a:t>
            </a:r>
            <a:r>
              <a:rPr lang="en-US" sz="1800" dirty="0" err="1">
                <a:solidFill>
                  <a:schemeClr val="tx1"/>
                </a:solidFill>
              </a:rPr>
              <a:t>dụng</a:t>
            </a:r>
            <a:r>
              <a:rPr lang="en-US" sz="1800" dirty="0">
                <a:solidFill>
                  <a:schemeClr val="tx1"/>
                </a:solidFill>
              </a:rPr>
              <a:t> </a:t>
            </a:r>
            <a:r>
              <a:rPr lang="en-US" sz="1800" dirty="0" err="1">
                <a:solidFill>
                  <a:schemeClr val="tx1"/>
                </a:solidFill>
              </a:rPr>
              <a:t>Cửa</a:t>
            </a:r>
            <a:r>
              <a:rPr lang="en-US" sz="1800" dirty="0">
                <a:solidFill>
                  <a:schemeClr val="tx1"/>
                </a:solidFill>
              </a:rPr>
              <a:t> </a:t>
            </a:r>
            <a:r>
              <a:rPr lang="en-US" sz="1800" dirty="0" err="1">
                <a:solidFill>
                  <a:schemeClr val="tx1"/>
                </a:solidFill>
              </a:rPr>
              <a:t>sổ</a:t>
            </a:r>
            <a:r>
              <a:rPr lang="en-US" sz="1800" dirty="0">
                <a:solidFill>
                  <a:schemeClr val="tx1"/>
                </a:solidFill>
              </a:rPr>
              <a:t> </a:t>
            </a:r>
            <a:r>
              <a:rPr lang="en-US" sz="1800" dirty="0" err="1">
                <a:solidFill>
                  <a:schemeClr val="tx1"/>
                </a:solidFill>
              </a:rPr>
              <a:t>trượt</a:t>
            </a:r>
            <a:r>
              <a:rPr lang="en-US" sz="1800" dirty="0">
                <a:solidFill>
                  <a:schemeClr val="tx1"/>
                </a:solidFill>
              </a:rPr>
              <a:t> </a:t>
            </a:r>
            <a:r>
              <a:rPr lang="en-US" sz="1800" dirty="0" err="1">
                <a:solidFill>
                  <a:schemeClr val="tx1"/>
                </a:solidFill>
              </a:rPr>
              <a:t>với</a:t>
            </a:r>
            <a:r>
              <a:rPr lang="en-US" sz="1800" dirty="0">
                <a:solidFill>
                  <a:schemeClr val="tx1"/>
                </a:solidFill>
              </a:rPr>
              <a:t> W k-</a:t>
            </a:r>
            <a:r>
              <a:rPr lang="en-US" sz="1800" dirty="0" err="1">
                <a:solidFill>
                  <a:schemeClr val="tx1"/>
                </a:solidFill>
              </a:rPr>
              <a:t>mer</a:t>
            </a:r>
            <a:r>
              <a:rPr lang="en-US" sz="1800" dirty="0">
                <a:solidFill>
                  <a:schemeClr val="tx1"/>
                </a:solidFill>
              </a:rPr>
              <a:t>  </a:t>
            </a:r>
            <a:r>
              <a:rPr lang="en-US" sz="1800" dirty="0" err="1">
                <a:solidFill>
                  <a:schemeClr val="tx1"/>
                </a:solidFill>
              </a:rPr>
              <a:t>liền</a:t>
            </a:r>
            <a:r>
              <a:rPr lang="en-US" sz="1800" dirty="0">
                <a:solidFill>
                  <a:schemeClr val="tx1"/>
                </a:solidFill>
              </a:rPr>
              <a:t> </a:t>
            </a:r>
            <a:r>
              <a:rPr lang="en-US" sz="1800" dirty="0" err="1">
                <a:solidFill>
                  <a:schemeClr val="tx1"/>
                </a:solidFill>
              </a:rPr>
              <a:t>nhau</a:t>
            </a:r>
            <a:endParaRPr lang="en-US" sz="1800" dirty="0">
              <a:solidFill>
                <a:schemeClr val="tx1"/>
              </a:solidFill>
            </a:endParaRPr>
          </a:p>
          <a:p>
            <a:pPr lvl="1" algn="just"/>
            <a:r>
              <a:rPr lang="en-US" sz="1800" dirty="0">
                <a:solidFill>
                  <a:schemeClr val="tx1"/>
                </a:solidFill>
              </a:rPr>
              <a:t>	+ </a:t>
            </a:r>
            <a:r>
              <a:rPr lang="en-US" sz="1800" dirty="0" err="1">
                <a:solidFill>
                  <a:schemeClr val="tx1"/>
                </a:solidFill>
              </a:rPr>
              <a:t>Chỉ</a:t>
            </a:r>
            <a:r>
              <a:rPr lang="en-US" sz="1800" dirty="0">
                <a:solidFill>
                  <a:schemeClr val="tx1"/>
                </a:solidFill>
              </a:rPr>
              <a:t> </a:t>
            </a:r>
            <a:r>
              <a:rPr lang="en-US" sz="1800" dirty="0" err="1">
                <a:solidFill>
                  <a:schemeClr val="tx1"/>
                </a:solidFill>
              </a:rPr>
              <a:t>giữ</a:t>
            </a:r>
            <a:r>
              <a:rPr lang="en-US" sz="1800" dirty="0">
                <a:solidFill>
                  <a:schemeClr val="tx1"/>
                </a:solidFill>
              </a:rPr>
              <a:t> </a:t>
            </a:r>
            <a:r>
              <a:rPr lang="en-US" sz="1800" dirty="0" err="1">
                <a:solidFill>
                  <a:schemeClr val="tx1"/>
                </a:solidFill>
              </a:rPr>
              <a:t>lại</a:t>
            </a:r>
            <a:r>
              <a:rPr lang="en-US" sz="1800" dirty="0">
                <a:solidFill>
                  <a:schemeClr val="tx1"/>
                </a:solidFill>
              </a:rPr>
              <a:t> 1 k-</a:t>
            </a:r>
            <a:r>
              <a:rPr lang="en-US" sz="1800" dirty="0" err="1">
                <a:solidFill>
                  <a:schemeClr val="tx1"/>
                </a:solidFill>
              </a:rPr>
              <a:t>mer</a:t>
            </a:r>
            <a:r>
              <a:rPr lang="en-US" sz="1800" dirty="0">
                <a:solidFill>
                  <a:schemeClr val="tx1"/>
                </a:solidFill>
              </a:rPr>
              <a:t> </a:t>
            </a:r>
            <a:r>
              <a:rPr lang="en-US" sz="1800" dirty="0" err="1">
                <a:solidFill>
                  <a:schemeClr val="tx1"/>
                </a:solidFill>
              </a:rPr>
              <a:t>có</a:t>
            </a:r>
            <a:r>
              <a:rPr lang="en-US" sz="1800" dirty="0">
                <a:solidFill>
                  <a:schemeClr val="tx1"/>
                </a:solidFill>
              </a:rPr>
              <a:t> “</a:t>
            </a:r>
            <a:r>
              <a:rPr lang="en-US" sz="1800" dirty="0" err="1">
                <a:solidFill>
                  <a:schemeClr val="tx1"/>
                </a:solidFill>
              </a:rPr>
              <a:t>giá</a:t>
            </a:r>
            <a:r>
              <a:rPr lang="en-US" sz="1800" dirty="0">
                <a:solidFill>
                  <a:schemeClr val="tx1"/>
                </a:solidFill>
              </a:rPr>
              <a:t> </a:t>
            </a:r>
            <a:r>
              <a:rPr lang="en-US" sz="1800" dirty="0" err="1">
                <a:solidFill>
                  <a:schemeClr val="tx1"/>
                </a:solidFill>
              </a:rPr>
              <a:t>trị</a:t>
            </a:r>
            <a:r>
              <a:rPr lang="en-US" sz="1800" dirty="0">
                <a:solidFill>
                  <a:schemeClr val="tx1"/>
                </a:solidFill>
              </a:rPr>
              <a:t> </a:t>
            </a:r>
            <a:r>
              <a:rPr lang="en-US" sz="1800" dirty="0" err="1">
                <a:solidFill>
                  <a:schemeClr val="tx1"/>
                </a:solidFill>
              </a:rPr>
              <a:t>băm</a:t>
            </a:r>
            <a:r>
              <a:rPr lang="en-US" sz="1800" dirty="0">
                <a:solidFill>
                  <a:schemeClr val="tx1"/>
                </a:solidFill>
              </a:rPr>
              <a:t> </a:t>
            </a:r>
            <a:r>
              <a:rPr lang="en-US" sz="1800" dirty="0" err="1">
                <a:solidFill>
                  <a:schemeClr val="tx1"/>
                </a:solidFill>
              </a:rPr>
              <a:t>nhỏ</a:t>
            </a:r>
            <a:r>
              <a:rPr lang="en-US" sz="1800" dirty="0">
                <a:solidFill>
                  <a:schemeClr val="tx1"/>
                </a:solidFill>
              </a:rPr>
              <a:t> </a:t>
            </a:r>
            <a:r>
              <a:rPr lang="en-US" sz="1800" dirty="0" err="1">
                <a:solidFill>
                  <a:schemeClr val="tx1"/>
                </a:solidFill>
              </a:rPr>
              <a:t>nhất</a:t>
            </a:r>
            <a:r>
              <a:rPr lang="en-US" sz="1800" dirty="0">
                <a:solidFill>
                  <a:schemeClr val="tx1"/>
                </a:solidFill>
              </a:rPr>
              <a:t>”</a:t>
            </a:r>
            <a:r>
              <a:rPr lang="en-001" sz="1800" dirty="0">
                <a:solidFill>
                  <a:schemeClr val="tx1"/>
                </a:solidFill>
              </a:rPr>
              <a:t> với một hàm băm Invertible Integer</a:t>
            </a:r>
            <a:r>
              <a:rPr lang="en-US" sz="1800" dirty="0">
                <a:solidFill>
                  <a:schemeClr val="tx1"/>
                </a:solidFill>
              </a:rPr>
              <a:t> </a:t>
            </a:r>
            <a:r>
              <a:rPr lang="en-US" sz="1800" dirty="0" err="1">
                <a:solidFill>
                  <a:schemeClr val="tx1"/>
                </a:solidFill>
              </a:rPr>
              <a:t>trong</a:t>
            </a:r>
            <a:r>
              <a:rPr lang="en-US" sz="1800" dirty="0">
                <a:solidFill>
                  <a:schemeClr val="tx1"/>
                </a:solidFill>
              </a:rPr>
              <a:t> </a:t>
            </a:r>
            <a:r>
              <a:rPr lang="en-US" sz="1800" dirty="0" err="1">
                <a:solidFill>
                  <a:schemeClr val="tx1"/>
                </a:solidFill>
              </a:rPr>
              <a:t>mỗi</a:t>
            </a:r>
            <a:r>
              <a:rPr lang="en-US" sz="1800" dirty="0">
                <a:solidFill>
                  <a:schemeClr val="tx1"/>
                </a:solidFill>
              </a:rPr>
              <a:t> </a:t>
            </a:r>
            <a:r>
              <a:rPr lang="en-US" sz="1800" dirty="0" err="1">
                <a:solidFill>
                  <a:schemeClr val="tx1"/>
                </a:solidFill>
              </a:rPr>
              <a:t>cửa</a:t>
            </a:r>
            <a:r>
              <a:rPr lang="en-US" sz="1800" dirty="0">
                <a:solidFill>
                  <a:schemeClr val="tx1"/>
                </a:solidFill>
              </a:rPr>
              <a:t> </a:t>
            </a:r>
            <a:r>
              <a:rPr lang="en-US" sz="1800" dirty="0" err="1">
                <a:solidFill>
                  <a:schemeClr val="tx1"/>
                </a:solidFill>
              </a:rPr>
              <a:t>sổ</a:t>
            </a:r>
            <a:r>
              <a:rPr lang="en-US" sz="1800" dirty="0">
                <a:solidFill>
                  <a:schemeClr val="tx1"/>
                </a:solidFill>
              </a:rPr>
              <a:t> =&gt; 1 Minimizer</a:t>
            </a:r>
          </a:p>
          <a:p>
            <a:pPr lvl="1" algn="just"/>
            <a:r>
              <a:rPr lang="en-US" sz="1800" dirty="0">
                <a:solidFill>
                  <a:schemeClr val="tx1"/>
                </a:solidFill>
              </a:rPr>
              <a:t>	+ </a:t>
            </a:r>
            <a:r>
              <a:rPr lang="en-US" sz="1800" dirty="0" err="1">
                <a:solidFill>
                  <a:schemeClr val="tx1"/>
                </a:solidFill>
              </a:rPr>
              <a:t>Tạo</a:t>
            </a:r>
            <a:r>
              <a:rPr lang="en-US" sz="1800" dirty="0">
                <a:solidFill>
                  <a:schemeClr val="tx1"/>
                </a:solidFill>
              </a:rPr>
              <a:t> </a:t>
            </a:r>
            <a:r>
              <a:rPr lang="en-US" sz="1800" dirty="0" err="1">
                <a:solidFill>
                  <a:schemeClr val="tx1"/>
                </a:solidFill>
              </a:rPr>
              <a:t>bảng</a:t>
            </a:r>
            <a:r>
              <a:rPr lang="en-US" sz="1800" dirty="0">
                <a:solidFill>
                  <a:schemeClr val="tx1"/>
                </a:solidFill>
              </a:rPr>
              <a:t> </a:t>
            </a:r>
            <a:r>
              <a:rPr lang="en-US" sz="1800" dirty="0" err="1">
                <a:solidFill>
                  <a:schemeClr val="tx1"/>
                </a:solidFill>
              </a:rPr>
              <a:t>băm</a:t>
            </a:r>
            <a:r>
              <a:rPr lang="en-US" sz="1800" dirty="0">
                <a:solidFill>
                  <a:schemeClr val="tx1"/>
                </a:solidFill>
              </a:rPr>
              <a:t> </a:t>
            </a:r>
            <a:r>
              <a:rPr lang="en-US" sz="1800" dirty="0" err="1">
                <a:solidFill>
                  <a:schemeClr val="tx1"/>
                </a:solidFill>
              </a:rPr>
              <a:t>với</a:t>
            </a:r>
            <a:r>
              <a:rPr lang="en-US" sz="1800" dirty="0">
                <a:solidFill>
                  <a:schemeClr val="tx1"/>
                </a:solidFill>
              </a:rPr>
              <a:t> </a:t>
            </a:r>
            <a:r>
              <a:rPr lang="en-US" sz="1800" dirty="0" err="1">
                <a:solidFill>
                  <a:schemeClr val="tx1"/>
                </a:solidFill>
              </a:rPr>
              <a:t>các</a:t>
            </a:r>
            <a:r>
              <a:rPr lang="en-US" sz="1800" dirty="0">
                <a:solidFill>
                  <a:schemeClr val="tx1"/>
                </a:solidFill>
              </a:rPr>
              <a:t> Minimizers</a:t>
            </a:r>
          </a:p>
          <a:p>
            <a:pPr marL="285750" lvl="1" indent="-285750" algn="just">
              <a:buFontTx/>
              <a:buChar char="-"/>
            </a:pPr>
            <a:r>
              <a:rPr lang="en-US" sz="1800" b="1" dirty="0" err="1">
                <a:solidFill>
                  <a:schemeClr val="tx1"/>
                </a:solidFill>
              </a:rPr>
              <a:t>Bước</a:t>
            </a:r>
            <a:r>
              <a:rPr lang="en-US" sz="1800" b="1" dirty="0">
                <a:solidFill>
                  <a:schemeClr val="tx1"/>
                </a:solidFill>
              </a:rPr>
              <a:t> 2 (Seeding)</a:t>
            </a:r>
            <a:r>
              <a:rPr lang="en-001" sz="1800" dirty="0">
                <a:solidFill>
                  <a:schemeClr val="tx1"/>
                </a:solidFill>
              </a:rPr>
              <a:t> – O(1)</a:t>
            </a:r>
            <a:endParaRPr lang="en-US" sz="1800" dirty="0">
              <a:solidFill>
                <a:schemeClr val="tx1"/>
              </a:solidFill>
            </a:endParaRPr>
          </a:p>
          <a:p>
            <a:pPr marL="285750" lvl="1" indent="-285750" algn="just">
              <a:buFontTx/>
              <a:buChar char="-"/>
            </a:pPr>
            <a:r>
              <a:rPr lang="en-US" sz="1800" b="1" dirty="0" err="1">
                <a:solidFill>
                  <a:schemeClr val="tx1"/>
                </a:solidFill>
              </a:rPr>
              <a:t>Bước</a:t>
            </a:r>
            <a:r>
              <a:rPr lang="en-US" sz="1800" b="1" dirty="0">
                <a:solidFill>
                  <a:schemeClr val="tx1"/>
                </a:solidFill>
              </a:rPr>
              <a:t> 3 (Chaining)</a:t>
            </a:r>
            <a:r>
              <a:rPr lang="en-US" sz="1800" dirty="0">
                <a:solidFill>
                  <a:schemeClr val="tx1"/>
                </a:solidFill>
              </a:rPr>
              <a:t> – </a:t>
            </a:r>
            <a:r>
              <a:rPr lang="en-US" sz="1800" dirty="0" err="1">
                <a:solidFill>
                  <a:schemeClr val="tx1"/>
                </a:solidFill>
              </a:rPr>
              <a:t>Cải</a:t>
            </a:r>
            <a:r>
              <a:rPr lang="en-US" sz="1800" dirty="0">
                <a:solidFill>
                  <a:schemeClr val="tx1"/>
                </a:solidFill>
              </a:rPr>
              <a:t> </a:t>
            </a:r>
            <a:r>
              <a:rPr lang="en-US" sz="1800" dirty="0" err="1">
                <a:solidFill>
                  <a:schemeClr val="tx1"/>
                </a:solidFill>
              </a:rPr>
              <a:t>tiến</a:t>
            </a:r>
            <a:r>
              <a:rPr lang="en-US" sz="1800" dirty="0">
                <a:solidFill>
                  <a:schemeClr val="tx1"/>
                </a:solidFill>
              </a:rPr>
              <a:t> so </a:t>
            </a:r>
            <a:r>
              <a:rPr lang="en-US" sz="1800" dirty="0" err="1">
                <a:solidFill>
                  <a:schemeClr val="tx1"/>
                </a:solidFill>
              </a:rPr>
              <a:t>với</a:t>
            </a:r>
            <a:r>
              <a:rPr lang="en-US" sz="1800" dirty="0">
                <a:solidFill>
                  <a:schemeClr val="tx1"/>
                </a:solidFill>
              </a:rPr>
              <a:t> </a:t>
            </a:r>
            <a:r>
              <a:rPr lang="en-US" sz="1800" dirty="0" err="1">
                <a:solidFill>
                  <a:schemeClr val="tx1"/>
                </a:solidFill>
              </a:rPr>
              <a:t>Minimap</a:t>
            </a:r>
            <a:endParaRPr lang="en-001" sz="1800" dirty="0">
              <a:solidFill>
                <a:schemeClr val="tx1"/>
              </a:solidFill>
            </a:endParaRPr>
          </a:p>
          <a:p>
            <a:pPr lvl="2" algn="just"/>
            <a:r>
              <a:rPr lang="en-001" sz="1800" dirty="0">
                <a:solidFill>
                  <a:schemeClr val="tx1"/>
                </a:solidFill>
              </a:rPr>
              <a:t>	+ Chạy trước DP trên các Minimizers để tìm được đường đi tối ưu nối các Minimizers lại</a:t>
            </a:r>
          </a:p>
          <a:p>
            <a:pPr lvl="2" algn="just"/>
            <a:r>
              <a:rPr lang="en-001" sz="1800" dirty="0">
                <a:solidFill>
                  <a:schemeClr val="tx1"/>
                </a:solidFill>
              </a:rPr>
              <a:t>	+ Tiêu chí nối: tình đồng thuận (Collinearity) và khoảng cách</a:t>
            </a:r>
            <a:endParaRPr lang="en-US" sz="1800" dirty="0">
              <a:solidFill>
                <a:schemeClr val="tx1"/>
              </a:solidFill>
            </a:endParaRPr>
          </a:p>
          <a:p>
            <a:pPr marL="285750" lvl="1" indent="-285750" algn="just">
              <a:buFontTx/>
              <a:buChar char="-"/>
            </a:pPr>
            <a:r>
              <a:rPr lang="en-US" sz="1800" b="1" dirty="0" err="1">
                <a:solidFill>
                  <a:schemeClr val="tx1"/>
                </a:solidFill>
              </a:rPr>
              <a:t>Bước</a:t>
            </a:r>
            <a:r>
              <a:rPr lang="en-US" sz="1800" b="1" dirty="0">
                <a:solidFill>
                  <a:schemeClr val="tx1"/>
                </a:solidFill>
              </a:rPr>
              <a:t> 4 (Base-level Alignment)</a:t>
            </a:r>
          </a:p>
          <a:p>
            <a:pPr lvl="2" algn="just"/>
            <a:r>
              <a:rPr lang="en-US" sz="1800" dirty="0">
                <a:solidFill>
                  <a:schemeClr val="tx1"/>
                </a:solidFill>
              </a:rPr>
              <a:t>	+ </a:t>
            </a:r>
            <a:r>
              <a:rPr lang="vi-VN" sz="1800" dirty="0">
                <a:solidFill>
                  <a:schemeClr val="tx1"/>
                </a:solidFill>
              </a:rPr>
              <a:t>Chỉ kích hoạt Smith-Waterman (có tăng tốc SIMD) ở các khe hở giữa các Minimizers đã được tạo chuỗi.</a:t>
            </a:r>
            <a:endParaRPr lang="en-US" sz="1800" dirty="0">
              <a:solidFill>
                <a:schemeClr val="tx1"/>
              </a:solidFill>
            </a:endParaRPr>
          </a:p>
          <a:p>
            <a:pPr lvl="2" algn="just"/>
            <a:r>
              <a:rPr lang="en-US" sz="1800" dirty="0">
                <a:solidFill>
                  <a:schemeClr val="tx1"/>
                </a:solidFill>
              </a:rPr>
              <a:t>	+ </a:t>
            </a:r>
            <a:r>
              <a:rPr lang="vi-VN" sz="1800" dirty="0">
                <a:solidFill>
                  <a:schemeClr val="tx1"/>
                </a:solidFill>
              </a:rPr>
              <a:t>Trả về kết quả dóng hàng chính xác ở cấp độ nucleotide.</a:t>
            </a:r>
            <a:endParaRPr lang="en-001" sz="1800" dirty="0">
              <a:solidFill>
                <a:schemeClr val="tx1"/>
              </a:solidFill>
            </a:endParaRPr>
          </a:p>
          <a:p>
            <a:pPr lvl="2" algn="just"/>
            <a:r>
              <a:rPr lang="en-001" sz="1800" b="1" dirty="0">
                <a:solidFill>
                  <a:schemeClr val="tx1"/>
                </a:solidFill>
              </a:rPr>
              <a:t>Độ phức tạp: </a:t>
            </a:r>
          </a:p>
          <a:p>
            <a:pPr marL="285750" lvl="2" indent="-285750" algn="just">
              <a:buFontTx/>
              <a:buChar char="-"/>
            </a:pPr>
            <a:r>
              <a:rPr lang="en-001" sz="1800" dirty="0">
                <a:solidFill>
                  <a:schemeClr val="tx1"/>
                </a:solidFill>
              </a:rPr>
              <a:t>Seeding: O(1)</a:t>
            </a:r>
          </a:p>
          <a:p>
            <a:pPr marL="285750" lvl="2" indent="-285750" algn="just">
              <a:buFontTx/>
              <a:buChar char="-"/>
            </a:pPr>
            <a:r>
              <a:rPr lang="en-001" sz="1800" dirty="0">
                <a:solidFill>
                  <a:schemeClr val="tx1"/>
                </a:solidFill>
              </a:rPr>
              <a:t>Tổng thể: O(N logN) với N là số seed khớp được</a:t>
            </a:r>
            <a:endParaRPr lang="en-US" sz="1800" dirty="0">
              <a:solidFill>
                <a:schemeClr val="tx1"/>
              </a:solidFill>
            </a:endParaRPr>
          </a:p>
          <a:p>
            <a:pPr lvl="1" algn="just"/>
            <a:endParaRPr lang="en-US" sz="1800" dirty="0">
              <a:solidFill>
                <a:schemeClr val="tx1"/>
              </a:solidFill>
            </a:endParaRPr>
          </a:p>
        </p:txBody>
      </p:sp>
    </p:spTree>
    <p:extLst>
      <p:ext uri="{BB962C8B-B14F-4D97-AF65-F5344CB8AC3E}">
        <p14:creationId xmlns:p14="http://schemas.microsoft.com/office/powerpoint/2010/main" val="2078591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AC055F66-89AE-0972-031C-906AFA542CAF}"/>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51AD709A-0553-6F02-F8CF-ECE6D81863DA}"/>
              </a:ext>
            </a:extLst>
          </p:cNvPr>
          <p:cNvSpPr txBox="1">
            <a:spLocks noGrp="1"/>
          </p:cNvSpPr>
          <p:nvPr>
            <p:ph type="title"/>
          </p:nvPr>
        </p:nvSpPr>
        <p:spPr>
          <a:xfrm>
            <a:off x="457200" y="196610"/>
            <a:ext cx="8229600" cy="990600"/>
          </a:xfrm>
          <a:prstGeom prst="rect">
            <a:avLst/>
          </a:prstGeom>
          <a:noFill/>
          <a:ln>
            <a:noFill/>
          </a:ln>
        </p:spPr>
        <p:txBody>
          <a:bodyPr spcFirstLastPara="1" wrap="square" lIns="91425" tIns="45700" rIns="91425" bIns="45700" anchor="b" anchorCtr="0">
            <a:normAutofit fontScale="90000"/>
          </a:bodyPr>
          <a:lstStyle/>
          <a:p>
            <a:pPr lvl="0">
              <a:lnSpc>
                <a:spcPct val="130000"/>
              </a:lnSpc>
              <a:buClr>
                <a:schemeClr val="accent4">
                  <a:lumMod val="75000"/>
                </a:schemeClr>
              </a:buClr>
              <a:buSzPts val="1976"/>
            </a:pPr>
            <a:r>
              <a:rPr lang="en-US"/>
              <a:t>Hai hướng phát triển: Nén hệ gen với BWT</a:t>
            </a:r>
          </a:p>
        </p:txBody>
      </p:sp>
      <p:sp>
        <p:nvSpPr>
          <p:cNvPr id="3" name="Slide Number Placeholder 2">
            <a:extLst>
              <a:ext uri="{FF2B5EF4-FFF2-40B4-BE49-F238E27FC236}">
                <a16:creationId xmlns:a16="http://schemas.microsoft.com/office/drawing/2014/main" id="{ED48C287-1041-8FA5-0C3B-9A77B0A408A4}"/>
              </a:ext>
            </a:extLst>
          </p:cNvPr>
          <p:cNvSpPr>
            <a:spLocks noGrp="1"/>
          </p:cNvSpPr>
          <p:nvPr>
            <p:ph type="sldNum" idx="12"/>
          </p:nvPr>
        </p:nvSpPr>
        <p:spPr/>
        <p:txBody>
          <a:bodyPr/>
          <a:lstStyle/>
          <a:p>
            <a:r>
              <a:rPr lang="en-US" dirty="0"/>
              <a:t>23</a:t>
            </a:r>
          </a:p>
        </p:txBody>
      </p:sp>
      <p:pic>
        <p:nvPicPr>
          <p:cNvPr id="2050" name="Picture 2" descr="Fig. 7">
            <a:extLst>
              <a:ext uri="{FF2B5EF4-FFF2-40B4-BE49-F238E27FC236}">
                <a16:creationId xmlns:a16="http://schemas.microsoft.com/office/drawing/2014/main" id="{4FFADDAB-C1C8-DEA4-8E8B-9BFB22F3AD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730" y="2663021"/>
            <a:ext cx="5715000" cy="29813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20DA414-5E42-42DE-C0AA-CBA30C7454FF}"/>
              </a:ext>
            </a:extLst>
          </p:cNvPr>
          <p:cNvSpPr txBox="1"/>
          <p:nvPr/>
        </p:nvSpPr>
        <p:spPr>
          <a:xfrm>
            <a:off x="198330" y="2663021"/>
            <a:ext cx="2975176" cy="3693319"/>
          </a:xfrm>
          <a:prstGeom prst="rect">
            <a:avLst/>
          </a:prstGeom>
          <a:noFill/>
        </p:spPr>
        <p:txBody>
          <a:bodyPr wrap="square" rtlCol="0">
            <a:spAutoFit/>
          </a:bodyPr>
          <a:lstStyle/>
          <a:p>
            <a:pPr algn="just"/>
            <a:r>
              <a:rPr lang="en-US" sz="1800">
                <a:latin typeface="+mn-lt"/>
              </a:rPr>
              <a:t>Các bước thực hiện</a:t>
            </a:r>
          </a:p>
          <a:p>
            <a:pPr marL="342900" indent="-342900" algn="just">
              <a:buAutoNum type="arabicPeriod"/>
            </a:pPr>
            <a:r>
              <a:rPr lang="en-US" sz="1800">
                <a:latin typeface="+mn-lt"/>
              </a:rPr>
              <a:t>Thêm ký tự kết thúc ($) vào cuối</a:t>
            </a:r>
          </a:p>
          <a:p>
            <a:pPr marL="342900" indent="-342900" algn="just">
              <a:buAutoNum type="arabicPeriod"/>
            </a:pPr>
            <a:r>
              <a:rPr lang="en-US" sz="1800">
                <a:latin typeface="+mn-lt"/>
              </a:rPr>
              <a:t>Tạo ma trận vòng tròn</a:t>
            </a:r>
          </a:p>
          <a:p>
            <a:pPr marL="342900" indent="-342900" algn="just">
              <a:buAutoNum type="arabicPeriod"/>
            </a:pPr>
            <a:r>
              <a:rPr lang="en-US" sz="1800">
                <a:latin typeface="+mn-lt"/>
              </a:rPr>
              <a:t>Sắp xếp theo thứ tự từ điển (Lexicographical Sort)</a:t>
            </a:r>
          </a:p>
          <a:p>
            <a:pPr marL="342900" indent="-342900" algn="just">
              <a:buAutoNum type="arabicPeriod"/>
            </a:pPr>
            <a:r>
              <a:rPr lang="en-US" sz="1800">
                <a:latin typeface="+mn-lt"/>
              </a:rPr>
              <a:t>Trích xuất BWT</a:t>
            </a:r>
          </a:p>
          <a:p>
            <a:pPr marL="342900" indent="-342900" algn="just">
              <a:buAutoNum type="arabicPeriod"/>
            </a:pPr>
            <a:endParaRPr lang="en-US" sz="1800">
              <a:latin typeface="+mn-lt"/>
            </a:endParaRPr>
          </a:p>
          <a:p>
            <a:pPr algn="just"/>
            <a:r>
              <a:rPr lang="en-US" sz="1800">
                <a:latin typeface="+mn-lt"/>
              </a:rPr>
              <a:t>=&gt; BWT(T) là cột cuối cùng (L) của ma trận vòng tròn</a:t>
            </a:r>
          </a:p>
          <a:p>
            <a:pPr marL="342900" indent="-342900" algn="just">
              <a:buAutoNum type="arabicPeriod"/>
            </a:pPr>
            <a:endParaRPr lang="en-US" sz="1800">
              <a:latin typeface="+mn-lt"/>
            </a:endParaRPr>
          </a:p>
          <a:p>
            <a:endParaRPr lang="en-US" sz="1800">
              <a:latin typeface="+mn-lt"/>
            </a:endParaRPr>
          </a:p>
        </p:txBody>
      </p:sp>
      <p:sp>
        <p:nvSpPr>
          <p:cNvPr id="6" name="TextBox 5">
            <a:extLst>
              <a:ext uri="{FF2B5EF4-FFF2-40B4-BE49-F238E27FC236}">
                <a16:creationId xmlns:a16="http://schemas.microsoft.com/office/drawing/2014/main" id="{3823BF3E-01F2-81DC-B2A0-9249D0108A7B}"/>
              </a:ext>
            </a:extLst>
          </p:cNvPr>
          <p:cNvSpPr txBox="1"/>
          <p:nvPr/>
        </p:nvSpPr>
        <p:spPr>
          <a:xfrm>
            <a:off x="198330" y="1775792"/>
            <a:ext cx="8354000" cy="646331"/>
          </a:xfrm>
          <a:prstGeom prst="rect">
            <a:avLst/>
          </a:prstGeom>
          <a:noFill/>
        </p:spPr>
        <p:txBody>
          <a:bodyPr wrap="square">
            <a:spAutoFit/>
          </a:bodyPr>
          <a:lstStyle/>
          <a:p>
            <a:pPr algn="just"/>
            <a:r>
              <a:rPr lang="vi-VN" sz="1800" b="1">
                <a:solidFill>
                  <a:schemeClr val="tx1"/>
                </a:solidFill>
              </a:rPr>
              <a:t>Phép biến đổi Burrows-Wheeler (BWT)</a:t>
            </a:r>
            <a:r>
              <a:rPr lang="en-US" sz="1800" b="1">
                <a:solidFill>
                  <a:schemeClr val="tx1"/>
                </a:solidFill>
              </a:rPr>
              <a:t>: </a:t>
            </a:r>
          </a:p>
          <a:p>
            <a:pPr algn="just"/>
            <a:r>
              <a:rPr lang="vi-VN" sz="1800">
                <a:solidFill>
                  <a:schemeClr val="tx1"/>
                </a:solidFill>
              </a:rPr>
              <a:t>Không tạo </a:t>
            </a:r>
            <a:r>
              <a:rPr lang="en-US" sz="1800">
                <a:solidFill>
                  <a:schemeClr val="tx1"/>
                </a:solidFill>
              </a:rPr>
              <a:t>chỉ mục riêng</a:t>
            </a:r>
            <a:r>
              <a:rPr lang="vi-VN" sz="1800">
                <a:solidFill>
                  <a:schemeClr val="tx1"/>
                </a:solidFill>
              </a:rPr>
              <a:t> </a:t>
            </a:r>
            <a:r>
              <a:rPr lang="en-US" sz="1800">
                <a:solidFill>
                  <a:schemeClr val="tx1"/>
                </a:solidFill>
              </a:rPr>
              <a:t>mà biến đổi cách thể hiện </a:t>
            </a:r>
            <a:r>
              <a:rPr lang="vi-VN" sz="1800">
                <a:solidFill>
                  <a:schemeClr val="tx1"/>
                </a:solidFill>
              </a:rPr>
              <a:t>toàn bộ cấu trúc hệ gen</a:t>
            </a:r>
            <a:r>
              <a:rPr lang="en-001" sz="1800">
                <a:solidFill>
                  <a:schemeClr val="tx1"/>
                </a:solidFill>
              </a:rPr>
              <a:t> (T)</a:t>
            </a:r>
            <a:endParaRPr lang="en-US" sz="1800">
              <a:solidFill>
                <a:schemeClr val="tx1"/>
              </a:solidFill>
            </a:endParaRPr>
          </a:p>
        </p:txBody>
      </p:sp>
    </p:spTree>
    <p:extLst>
      <p:ext uri="{BB962C8B-B14F-4D97-AF65-F5344CB8AC3E}">
        <p14:creationId xmlns:p14="http://schemas.microsoft.com/office/powerpoint/2010/main" val="3979844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B14BAB38-D88E-665B-10AD-E6DB28B302E3}"/>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FD238D49-D24A-056C-2082-7FF2A8298C11}"/>
              </a:ext>
            </a:extLst>
          </p:cNvPr>
          <p:cNvSpPr txBox="1">
            <a:spLocks noGrp="1"/>
          </p:cNvSpPr>
          <p:nvPr>
            <p:ph type="title"/>
          </p:nvPr>
        </p:nvSpPr>
        <p:spPr>
          <a:xfrm>
            <a:off x="457200" y="196610"/>
            <a:ext cx="8229600" cy="990600"/>
          </a:xfrm>
          <a:prstGeom prst="rect">
            <a:avLst/>
          </a:prstGeom>
          <a:noFill/>
          <a:ln>
            <a:noFill/>
          </a:ln>
        </p:spPr>
        <p:txBody>
          <a:bodyPr spcFirstLastPara="1" wrap="square" lIns="91425" tIns="45700" rIns="91425" bIns="45700" anchor="b" anchorCtr="0">
            <a:normAutofit fontScale="90000"/>
          </a:bodyPr>
          <a:lstStyle/>
          <a:p>
            <a:pPr lvl="0">
              <a:lnSpc>
                <a:spcPct val="130000"/>
              </a:lnSpc>
              <a:buClr>
                <a:schemeClr val="accent4">
                  <a:lumMod val="75000"/>
                </a:schemeClr>
              </a:buClr>
              <a:buSzPts val="1976"/>
            </a:pPr>
            <a:r>
              <a:rPr lang="en-US"/>
              <a:t>Hai hướng phát triển: Nén hệ gen với BWT</a:t>
            </a:r>
          </a:p>
        </p:txBody>
      </p:sp>
      <p:sp>
        <p:nvSpPr>
          <p:cNvPr id="3" name="Slide Number Placeholder 2">
            <a:extLst>
              <a:ext uri="{FF2B5EF4-FFF2-40B4-BE49-F238E27FC236}">
                <a16:creationId xmlns:a16="http://schemas.microsoft.com/office/drawing/2014/main" id="{79F1EB81-6A6A-E0E0-24DA-C1418FA019E5}"/>
              </a:ext>
            </a:extLst>
          </p:cNvPr>
          <p:cNvSpPr>
            <a:spLocks noGrp="1"/>
          </p:cNvSpPr>
          <p:nvPr>
            <p:ph type="sldNum" idx="12"/>
          </p:nvPr>
        </p:nvSpPr>
        <p:spPr/>
        <p:txBody>
          <a:bodyPr/>
          <a:lstStyle/>
          <a:p>
            <a:r>
              <a:rPr lang="en-US" dirty="0"/>
              <a:t>24</a:t>
            </a:r>
          </a:p>
        </p:txBody>
      </p:sp>
      <p:sp>
        <p:nvSpPr>
          <p:cNvPr id="2" name="Rectangle 1">
            <a:extLst>
              <a:ext uri="{FF2B5EF4-FFF2-40B4-BE49-F238E27FC236}">
                <a16:creationId xmlns:a16="http://schemas.microsoft.com/office/drawing/2014/main" id="{56042D09-2DD4-D766-D08A-FD61C3985403}"/>
              </a:ext>
            </a:extLst>
          </p:cNvPr>
          <p:cNvSpPr/>
          <p:nvPr/>
        </p:nvSpPr>
        <p:spPr>
          <a:xfrm>
            <a:off x="317600" y="1164185"/>
            <a:ext cx="8826400" cy="19517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US" sz="1800" b="1">
                <a:solidFill>
                  <a:schemeClr val="tx1"/>
                </a:solidFill>
              </a:rPr>
              <a:t>FM-index: </a:t>
            </a:r>
            <a:r>
              <a:rPr lang="en-US" sz="1800">
                <a:solidFill>
                  <a:schemeClr val="tx1"/>
                </a:solidFill>
              </a:rPr>
              <a:t>sử dụng LF-mapping (Last-to-First Mapping) để tra cứu nhanh</a:t>
            </a:r>
          </a:p>
          <a:p>
            <a:pPr algn="just"/>
            <a:r>
              <a:rPr lang="en-US" sz="1800">
                <a:solidFill>
                  <a:schemeClr val="tx1"/>
                </a:solidFill>
              </a:rPr>
              <a:t>Cách thực hiện: Ký</a:t>
            </a:r>
            <a:r>
              <a:rPr lang="en-001" sz="1800">
                <a:solidFill>
                  <a:schemeClr val="tx1"/>
                </a:solidFill>
              </a:rPr>
              <a:t> tự thứ i trong chuỗi BWT nằm ở vị trí LF(i) ở cột đầu (F) với:</a:t>
            </a:r>
          </a:p>
          <a:p>
            <a:pPr algn="just"/>
            <a:endParaRPr lang="en-001" sz="1800">
              <a:solidFill>
                <a:schemeClr val="tx1"/>
              </a:solidFill>
            </a:endParaRPr>
          </a:p>
          <a:p>
            <a:pPr algn="just"/>
            <a:endParaRPr lang="en-001" sz="1800">
              <a:solidFill>
                <a:schemeClr val="tx1"/>
              </a:solidFill>
            </a:endParaRPr>
          </a:p>
          <a:p>
            <a:pPr algn="just"/>
            <a:r>
              <a:rPr lang="en-001" sz="1800">
                <a:solidFill>
                  <a:schemeClr val="tx1"/>
                </a:solidFill>
              </a:rPr>
              <a:t>Trong đó: </a:t>
            </a:r>
          </a:p>
          <a:p>
            <a:pPr algn="just"/>
            <a:r>
              <a:rPr lang="en-001" sz="1800">
                <a:solidFill>
                  <a:schemeClr val="tx1"/>
                </a:solidFill>
              </a:rPr>
              <a:t>- C(c) là tổng số chữ cái trong T có thứ tự theo bảng chữ cái nhỏ hơn c =&gt; mảng</a:t>
            </a:r>
          </a:p>
          <a:p>
            <a:pPr algn="just"/>
            <a:r>
              <a:rPr lang="en-001" sz="1800">
                <a:solidFill>
                  <a:schemeClr val="tx1"/>
                </a:solidFill>
              </a:rPr>
              <a:t>- Occ(c, i) là số lần chữ c suất hiện trong tiền tố từ vị trí 1 đến i của chuỗi BWT =&gt;</a:t>
            </a:r>
          </a:p>
          <a:p>
            <a:pPr algn="just"/>
            <a:endParaRPr lang="en-US" sz="1800">
              <a:solidFill>
                <a:schemeClr val="tx1"/>
              </a:solidFill>
            </a:endParaRPr>
          </a:p>
          <a:p>
            <a:pPr algn="just"/>
            <a:endParaRPr lang="en-US" sz="1800">
              <a:solidFill>
                <a:schemeClr val="tx1"/>
              </a:solidFill>
            </a:endParaRPr>
          </a:p>
        </p:txBody>
      </p:sp>
      <p:sp>
        <p:nvSpPr>
          <p:cNvPr id="4" name="TextBox 3">
            <a:extLst>
              <a:ext uri="{FF2B5EF4-FFF2-40B4-BE49-F238E27FC236}">
                <a16:creationId xmlns:a16="http://schemas.microsoft.com/office/drawing/2014/main" id="{EA4B36AB-1EE6-D8C2-7E2F-3018DEB08B4E}"/>
              </a:ext>
            </a:extLst>
          </p:cNvPr>
          <p:cNvSpPr txBox="1"/>
          <p:nvPr/>
        </p:nvSpPr>
        <p:spPr>
          <a:xfrm>
            <a:off x="184883" y="3164681"/>
            <a:ext cx="2975176" cy="3416320"/>
          </a:xfrm>
          <a:prstGeom prst="rect">
            <a:avLst/>
          </a:prstGeom>
          <a:noFill/>
        </p:spPr>
        <p:txBody>
          <a:bodyPr wrap="square" rtlCol="0">
            <a:spAutoFit/>
          </a:bodyPr>
          <a:lstStyle/>
          <a:p>
            <a:pPr algn="just"/>
            <a:r>
              <a:rPr lang="en-US" sz="1800">
                <a:latin typeface="+mn-lt"/>
              </a:rPr>
              <a:t>Các bước thực hiện</a:t>
            </a:r>
            <a:r>
              <a:rPr lang="en-001" sz="1800">
                <a:latin typeface="+mn-lt"/>
              </a:rPr>
              <a:t> Tra cứu ngược Backward Search </a:t>
            </a:r>
            <a:endParaRPr lang="en-US" sz="1800">
              <a:latin typeface="+mn-lt"/>
            </a:endParaRPr>
          </a:p>
          <a:p>
            <a:pPr marL="342900" indent="-342900" algn="just">
              <a:buAutoNum type="arabicPeriod"/>
            </a:pPr>
            <a:r>
              <a:rPr lang="en-001" sz="1800">
                <a:latin typeface="+mn-lt"/>
              </a:rPr>
              <a:t>Tìm ký tự cuối cùng ở cột đầu (F)</a:t>
            </a:r>
            <a:endParaRPr lang="en-US" sz="1800">
              <a:latin typeface="+mn-lt"/>
            </a:endParaRPr>
          </a:p>
          <a:p>
            <a:pPr marL="342900" indent="-342900" algn="just">
              <a:buAutoNum type="arabicPeriod"/>
            </a:pPr>
            <a:r>
              <a:rPr lang="en-US" sz="1800">
                <a:latin typeface="+mn-lt"/>
              </a:rPr>
              <a:t>T</a:t>
            </a:r>
            <a:r>
              <a:rPr lang="en-001" sz="1800">
                <a:latin typeface="+mn-lt"/>
              </a:rPr>
              <a:t>ìm ký tự tiếp theo trong chuỗi từ cuối lên</a:t>
            </a:r>
            <a:endParaRPr lang="en-US" sz="1800">
              <a:latin typeface="+mn-lt"/>
            </a:endParaRPr>
          </a:p>
          <a:p>
            <a:pPr marL="342900" indent="-342900" algn="just">
              <a:buAutoNum type="arabicPeriod"/>
            </a:pPr>
            <a:r>
              <a:rPr lang="en-US" sz="1800">
                <a:latin typeface="+mn-lt"/>
              </a:rPr>
              <a:t>T</a:t>
            </a:r>
            <a:r>
              <a:rPr lang="en-001" sz="1800">
                <a:latin typeface="+mn-lt"/>
              </a:rPr>
              <a:t>hực hiện LF-mapping</a:t>
            </a:r>
          </a:p>
          <a:p>
            <a:pPr marL="342900" indent="-342900" algn="just">
              <a:buAutoNum type="arabicPeriod"/>
            </a:pPr>
            <a:r>
              <a:rPr lang="en-001" sz="1800">
                <a:latin typeface="+mn-lt"/>
              </a:rPr>
              <a:t>Lặp lại đến hết chuỗi </a:t>
            </a:r>
            <a:endParaRPr lang="en-US" sz="1800">
              <a:latin typeface="+mn-lt"/>
            </a:endParaRPr>
          </a:p>
          <a:p>
            <a:pPr marL="285750" indent="-285750" algn="just">
              <a:buFont typeface="Symbol" panose="05050102010706020507" pitchFamily="18" charset="2"/>
              <a:buChar char="Þ"/>
            </a:pPr>
            <a:r>
              <a:rPr lang="en-US" sz="1800">
                <a:latin typeface="+mn-lt"/>
              </a:rPr>
              <a:t>T</a:t>
            </a:r>
            <a:r>
              <a:rPr lang="en-001" sz="1800">
                <a:latin typeface="+mn-lt"/>
              </a:rPr>
              <a:t>ìm được đoạn tương đồng</a:t>
            </a:r>
          </a:p>
          <a:p>
            <a:endParaRPr lang="en-US" sz="1800">
              <a:latin typeface="+mn-lt"/>
            </a:endParaRPr>
          </a:p>
        </p:txBody>
      </p:sp>
      <p:pic>
        <p:nvPicPr>
          <p:cNvPr id="3076" name="Picture 4" descr="Fig. 8">
            <a:extLst>
              <a:ext uri="{FF2B5EF4-FFF2-40B4-BE49-F238E27FC236}">
                <a16:creationId xmlns:a16="http://schemas.microsoft.com/office/drawing/2014/main" id="{CB8EED0D-EB08-4E11-8124-6DECCF955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9549" y="3383756"/>
            <a:ext cx="5715000" cy="27622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126BB76-187C-1295-4C97-AEEE4A8E73C6}"/>
              </a:ext>
            </a:extLst>
          </p:cNvPr>
          <p:cNvPicPr>
            <a:picLocks noChangeAspect="1"/>
          </p:cNvPicPr>
          <p:nvPr/>
        </p:nvPicPr>
        <p:blipFill>
          <a:blip r:embed="rId4"/>
          <a:stretch>
            <a:fillRect/>
          </a:stretch>
        </p:blipFill>
        <p:spPr>
          <a:xfrm>
            <a:off x="2162453" y="1801882"/>
            <a:ext cx="4039164" cy="676369"/>
          </a:xfrm>
          <a:prstGeom prst="rect">
            <a:avLst/>
          </a:prstGeom>
        </p:spPr>
      </p:pic>
    </p:spTree>
    <p:extLst>
      <p:ext uri="{BB962C8B-B14F-4D97-AF65-F5344CB8AC3E}">
        <p14:creationId xmlns:p14="http://schemas.microsoft.com/office/powerpoint/2010/main" val="1266194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A9C36BB2-47BC-AEB7-F622-5FC623FD9675}"/>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2C319B61-01FC-B85A-144C-6781699488CE}"/>
              </a:ext>
            </a:extLst>
          </p:cNvPr>
          <p:cNvSpPr txBox="1">
            <a:spLocks noGrp="1"/>
          </p:cNvSpPr>
          <p:nvPr>
            <p:ph type="title"/>
          </p:nvPr>
        </p:nvSpPr>
        <p:spPr>
          <a:xfrm>
            <a:off x="457200" y="196610"/>
            <a:ext cx="8229600" cy="990600"/>
          </a:xfrm>
          <a:prstGeom prst="rect">
            <a:avLst/>
          </a:prstGeom>
          <a:noFill/>
          <a:ln>
            <a:noFill/>
          </a:ln>
        </p:spPr>
        <p:txBody>
          <a:bodyPr spcFirstLastPara="1" wrap="square" lIns="91425" tIns="45700" rIns="91425" bIns="45700" anchor="b" anchorCtr="0">
            <a:normAutofit fontScale="90000"/>
          </a:bodyPr>
          <a:lstStyle/>
          <a:p>
            <a:pPr lvl="0">
              <a:lnSpc>
                <a:spcPct val="130000"/>
              </a:lnSpc>
              <a:buClr>
                <a:schemeClr val="accent4">
                  <a:lumMod val="75000"/>
                </a:schemeClr>
              </a:buClr>
              <a:buSzPts val="1976"/>
            </a:pPr>
            <a:r>
              <a:rPr lang="en-US"/>
              <a:t>Hai hướng phát triển: Nén hệ gen với BWT</a:t>
            </a:r>
          </a:p>
        </p:txBody>
      </p:sp>
      <p:sp>
        <p:nvSpPr>
          <p:cNvPr id="3" name="Slide Number Placeholder 2">
            <a:extLst>
              <a:ext uri="{FF2B5EF4-FFF2-40B4-BE49-F238E27FC236}">
                <a16:creationId xmlns:a16="http://schemas.microsoft.com/office/drawing/2014/main" id="{93F20036-9A1A-DCB6-6662-451A370F2360}"/>
              </a:ext>
            </a:extLst>
          </p:cNvPr>
          <p:cNvSpPr>
            <a:spLocks noGrp="1"/>
          </p:cNvSpPr>
          <p:nvPr>
            <p:ph type="sldNum" idx="12"/>
          </p:nvPr>
        </p:nvSpPr>
        <p:spPr/>
        <p:txBody>
          <a:bodyPr/>
          <a:lstStyle/>
          <a:p>
            <a:r>
              <a:rPr lang="en-US" dirty="0"/>
              <a:t>25</a:t>
            </a:r>
          </a:p>
        </p:txBody>
      </p:sp>
      <p:sp>
        <p:nvSpPr>
          <p:cNvPr id="8" name="TextBox 7">
            <a:extLst>
              <a:ext uri="{FF2B5EF4-FFF2-40B4-BE49-F238E27FC236}">
                <a16:creationId xmlns:a16="http://schemas.microsoft.com/office/drawing/2014/main" id="{C8A7629D-A190-B8A0-3FA9-51A76C6E31AD}"/>
              </a:ext>
            </a:extLst>
          </p:cNvPr>
          <p:cNvSpPr txBox="1"/>
          <p:nvPr/>
        </p:nvSpPr>
        <p:spPr>
          <a:xfrm>
            <a:off x="313763" y="1674674"/>
            <a:ext cx="8373037" cy="1754326"/>
          </a:xfrm>
          <a:prstGeom prst="rect">
            <a:avLst/>
          </a:prstGeom>
          <a:noFill/>
        </p:spPr>
        <p:txBody>
          <a:bodyPr wrap="square">
            <a:spAutoFit/>
          </a:bodyPr>
          <a:lstStyle/>
          <a:p>
            <a:pPr algn="just"/>
            <a:r>
              <a:rPr lang="en-001" sz="1800" b="1">
                <a:latin typeface="+mn-lt"/>
              </a:rPr>
              <a:t>Độ phức tạp thuật toán</a:t>
            </a:r>
          </a:p>
          <a:p>
            <a:pPr algn="just"/>
            <a:r>
              <a:rPr lang="en-001" sz="1800" b="1">
                <a:latin typeface="+mn-lt"/>
              </a:rPr>
              <a:t>- Không gian: </a:t>
            </a:r>
            <a:r>
              <a:rPr lang="en-001" sz="1800">
                <a:latin typeface="+mn-lt"/>
              </a:rPr>
              <a:t>nén cực đại =&gt; </a:t>
            </a:r>
            <a:r>
              <a:rPr lang="vi-VN" sz="1800"/>
              <a:t>Chỉ tốn ~2-3 GB cho toàn bộ hệ gen ngườ</a:t>
            </a:r>
            <a:r>
              <a:rPr lang="en-001" sz="1800"/>
              <a:t>i</a:t>
            </a:r>
            <a:r>
              <a:rPr lang="en-001" sz="1800" b="1">
                <a:latin typeface="+mn-lt"/>
              </a:rPr>
              <a:t> </a:t>
            </a:r>
          </a:p>
          <a:p>
            <a:pPr algn="just"/>
            <a:r>
              <a:rPr lang="en-001" sz="1800">
                <a:latin typeface="+mn-lt"/>
              </a:rPr>
              <a:t>- </a:t>
            </a:r>
            <a:r>
              <a:rPr lang="en-001" sz="1800" b="1">
                <a:latin typeface="+mn-lt"/>
              </a:rPr>
              <a:t>Thời gian</a:t>
            </a:r>
          </a:p>
          <a:p>
            <a:pPr algn="just"/>
            <a:r>
              <a:rPr lang="en-001" sz="1800">
                <a:latin typeface="+mn-lt"/>
              </a:rPr>
              <a:t>	+ Khớp chính xác: O(m) (m: chiều dài chuỗi Query) </a:t>
            </a:r>
          </a:p>
          <a:p>
            <a:pPr algn="just"/>
            <a:r>
              <a:rPr lang="en-001" sz="1800">
                <a:latin typeface="+mn-lt"/>
              </a:rPr>
              <a:t>	+ Khớp có lỗi: Chậm dần </a:t>
            </a:r>
            <a:r>
              <a:rPr lang="en-US" sz="1600">
                <a:latin typeface="+mn-lt"/>
              </a:rPr>
              <a:t>O(</a:t>
            </a:r>
            <a:r>
              <a:rPr lang="el-GR" sz="1600">
                <a:latin typeface="+mn-lt"/>
              </a:rPr>
              <a:t>Σ</a:t>
            </a:r>
            <a:r>
              <a:rPr lang="en-US" sz="1600">
                <a:latin typeface="+mn-lt"/>
              </a:rPr>
              <a:t>ᵉ)</a:t>
            </a:r>
            <a:r>
              <a:rPr lang="en-001" sz="1800">
                <a:latin typeface="+mn-lt"/>
              </a:rPr>
              <a:t> do phải thực hiện quay lui (</a:t>
            </a:r>
            <a:r>
              <a:rPr lang="el-GR" sz="1800"/>
              <a:t>Σ</a:t>
            </a:r>
            <a:r>
              <a:rPr lang="en-001" sz="1800"/>
              <a:t>=4 với DNA, e: số lỗi cho phép)</a:t>
            </a:r>
            <a:endParaRPr lang="en-US" sz="1800">
              <a:latin typeface="+mn-lt"/>
            </a:endParaRPr>
          </a:p>
        </p:txBody>
      </p:sp>
      <p:sp>
        <p:nvSpPr>
          <p:cNvPr id="5" name="Rectangle 4">
            <a:extLst>
              <a:ext uri="{FF2B5EF4-FFF2-40B4-BE49-F238E27FC236}">
                <a16:creationId xmlns:a16="http://schemas.microsoft.com/office/drawing/2014/main" id="{818B18E0-32B5-710D-DDF6-521F09348F21}"/>
              </a:ext>
            </a:extLst>
          </p:cNvPr>
          <p:cNvSpPr/>
          <p:nvPr/>
        </p:nvSpPr>
        <p:spPr>
          <a:xfrm>
            <a:off x="313763" y="3700364"/>
            <a:ext cx="8826400" cy="165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001" sz="1800" b="1">
                <a:solidFill>
                  <a:schemeClr val="tx1"/>
                </a:solidFill>
              </a:rPr>
              <a:t>Các công cụ tiêu biểu: </a:t>
            </a:r>
          </a:p>
          <a:p>
            <a:pPr algn="just"/>
            <a:r>
              <a:rPr lang="en-001" sz="1800">
                <a:solidFill>
                  <a:schemeClr val="tx1"/>
                </a:solidFill>
              </a:rPr>
              <a:t>- Bowtie 2: Tối ưu hóa cho short-reads</a:t>
            </a:r>
          </a:p>
          <a:p>
            <a:pPr algn="just"/>
            <a:r>
              <a:rPr lang="en-001" sz="1800">
                <a:solidFill>
                  <a:schemeClr val="tx1"/>
                </a:solidFill>
              </a:rPr>
              <a:t>- BWA-MEM: chỉ dùng BWT để tìm seed không lỗi, sau đó extend bằng DP</a:t>
            </a:r>
          </a:p>
          <a:p>
            <a:pPr algn="just"/>
            <a:endParaRPr lang="en-001" sz="1800" b="1">
              <a:solidFill>
                <a:schemeClr val="tx1"/>
              </a:solidFill>
            </a:endParaRPr>
          </a:p>
        </p:txBody>
      </p:sp>
    </p:spTree>
    <p:extLst>
      <p:ext uri="{BB962C8B-B14F-4D97-AF65-F5344CB8AC3E}">
        <p14:creationId xmlns:p14="http://schemas.microsoft.com/office/powerpoint/2010/main" val="149269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3DB57780-8CBF-1139-B1BE-1A3AAF0085D6}"/>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C261357A-F795-0AD6-663A-99F0267B427D}"/>
              </a:ext>
            </a:extLst>
          </p:cNvPr>
          <p:cNvSpPr txBox="1">
            <a:spLocks noGrp="1"/>
          </p:cNvSpPr>
          <p:nvPr>
            <p:ph type="title"/>
          </p:nvPr>
        </p:nvSpPr>
        <p:spPr>
          <a:xfrm>
            <a:off x="457200" y="196610"/>
            <a:ext cx="8229600" cy="990600"/>
          </a:xfrm>
          <a:prstGeom prst="rect">
            <a:avLst/>
          </a:prstGeom>
          <a:noFill/>
          <a:ln>
            <a:noFill/>
          </a:ln>
        </p:spPr>
        <p:txBody>
          <a:bodyPr spcFirstLastPara="1" wrap="square" lIns="91425" tIns="45700" rIns="91425" bIns="45700" anchor="b" anchorCtr="0">
            <a:normAutofit/>
          </a:bodyPr>
          <a:lstStyle/>
          <a:p>
            <a:pPr lvl="0">
              <a:lnSpc>
                <a:spcPct val="130000"/>
              </a:lnSpc>
              <a:buClr>
                <a:schemeClr val="accent4">
                  <a:lumMod val="75000"/>
                </a:schemeClr>
              </a:buClr>
              <a:buSzPts val="1976"/>
            </a:pPr>
            <a:r>
              <a:rPr lang="en-US"/>
              <a:t>Hai hướng phát triển: So sánh</a:t>
            </a:r>
          </a:p>
        </p:txBody>
      </p:sp>
      <p:sp>
        <p:nvSpPr>
          <p:cNvPr id="3" name="Slide Number Placeholder 2">
            <a:extLst>
              <a:ext uri="{FF2B5EF4-FFF2-40B4-BE49-F238E27FC236}">
                <a16:creationId xmlns:a16="http://schemas.microsoft.com/office/drawing/2014/main" id="{0F521946-7501-260A-2158-AFC118A73120}"/>
              </a:ext>
            </a:extLst>
          </p:cNvPr>
          <p:cNvSpPr>
            <a:spLocks noGrp="1"/>
          </p:cNvSpPr>
          <p:nvPr>
            <p:ph type="sldNum" idx="12"/>
          </p:nvPr>
        </p:nvSpPr>
        <p:spPr/>
        <p:txBody>
          <a:bodyPr/>
          <a:lstStyle/>
          <a:p>
            <a:r>
              <a:rPr lang="en-US" dirty="0"/>
              <a:t>26</a:t>
            </a:r>
          </a:p>
        </p:txBody>
      </p:sp>
      <p:sp>
        <p:nvSpPr>
          <p:cNvPr id="2" name="Rectangle 1">
            <a:extLst>
              <a:ext uri="{FF2B5EF4-FFF2-40B4-BE49-F238E27FC236}">
                <a16:creationId xmlns:a16="http://schemas.microsoft.com/office/drawing/2014/main" id="{2971326D-D14C-5746-49CB-BC0C98111224}"/>
              </a:ext>
            </a:extLst>
          </p:cNvPr>
          <p:cNvSpPr/>
          <p:nvPr/>
        </p:nvSpPr>
        <p:spPr>
          <a:xfrm>
            <a:off x="198330" y="1221657"/>
            <a:ext cx="8795358" cy="46246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1" algn="just"/>
            <a:endParaRPr lang="en-US" sz="1800">
              <a:solidFill>
                <a:schemeClr val="tx1"/>
              </a:solidFill>
              <a:latin typeface="Gill Sans" panose="020B0604020202020204" charset="0"/>
            </a:endParaRPr>
          </a:p>
        </p:txBody>
      </p:sp>
      <p:graphicFrame>
        <p:nvGraphicFramePr>
          <p:cNvPr id="5" name="Table 4">
            <a:extLst>
              <a:ext uri="{FF2B5EF4-FFF2-40B4-BE49-F238E27FC236}">
                <a16:creationId xmlns:a16="http://schemas.microsoft.com/office/drawing/2014/main" id="{75307B25-FE5F-9D0D-39B8-F2A83C3185AB}"/>
              </a:ext>
            </a:extLst>
          </p:cNvPr>
          <p:cNvGraphicFramePr>
            <a:graphicFrameLocks noGrp="1"/>
          </p:cNvGraphicFramePr>
          <p:nvPr>
            <p:extLst>
              <p:ext uri="{D42A27DB-BD31-4B8C-83A1-F6EECF244321}">
                <p14:modId xmlns:p14="http://schemas.microsoft.com/office/powerpoint/2010/main" val="2845406015"/>
              </p:ext>
            </p:extLst>
          </p:nvPr>
        </p:nvGraphicFramePr>
        <p:xfrm>
          <a:off x="222339" y="1187210"/>
          <a:ext cx="8747340" cy="4719216"/>
        </p:xfrm>
        <a:graphic>
          <a:graphicData uri="http://schemas.openxmlformats.org/drawingml/2006/table">
            <a:tbl>
              <a:tblPr/>
              <a:tblGrid>
                <a:gridCol w="2114564">
                  <a:extLst>
                    <a:ext uri="{9D8B030D-6E8A-4147-A177-3AD203B41FA5}">
                      <a16:colId xmlns:a16="http://schemas.microsoft.com/office/drawing/2014/main" val="2621533258"/>
                    </a:ext>
                  </a:extLst>
                </a:gridCol>
                <a:gridCol w="3716996">
                  <a:extLst>
                    <a:ext uri="{9D8B030D-6E8A-4147-A177-3AD203B41FA5}">
                      <a16:colId xmlns:a16="http://schemas.microsoft.com/office/drawing/2014/main" val="1879338464"/>
                    </a:ext>
                  </a:extLst>
                </a:gridCol>
                <a:gridCol w="2915780">
                  <a:extLst>
                    <a:ext uri="{9D8B030D-6E8A-4147-A177-3AD203B41FA5}">
                      <a16:colId xmlns:a16="http://schemas.microsoft.com/office/drawing/2014/main" val="3356957114"/>
                    </a:ext>
                  </a:extLst>
                </a:gridCol>
              </a:tblGrid>
              <a:tr h="226939">
                <a:tc>
                  <a:txBody>
                    <a:bodyPr/>
                    <a:lstStyle/>
                    <a:p>
                      <a:pPr rtl="0">
                        <a:buNone/>
                      </a:pPr>
                      <a:r>
                        <a:rPr lang="en-US" sz="1600" b="1">
                          <a:solidFill>
                            <a:srgbClr val="1F1F1F"/>
                          </a:solidFill>
                          <a:effectLst/>
                          <a:latin typeface="+mn-lt"/>
                        </a:rPr>
                        <a:t>Tiêu chí</a:t>
                      </a:r>
                      <a:endParaRPr lang="en-US" sz="1600">
                        <a:solidFill>
                          <a:srgbClr val="1F1F1F"/>
                        </a:solidFill>
                        <a:effectLst/>
                        <a:latin typeface="+mn-lt"/>
                      </a:endParaRP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vi-VN" sz="1600" b="1">
                          <a:solidFill>
                            <a:srgbClr val="1F1F1F"/>
                          </a:solidFill>
                          <a:effectLst/>
                          <a:latin typeface="+mn-lt"/>
                        </a:rPr>
                        <a:t>Minimap2 (Trường phái Hash / Minimizers)</a:t>
                      </a:r>
                      <a:endParaRPr lang="vi-VN" sz="1600">
                        <a:solidFill>
                          <a:srgbClr val="1F1F1F"/>
                        </a:solidFill>
                        <a:effectLst/>
                        <a:latin typeface="+mn-lt"/>
                      </a:endParaRP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b="1">
                          <a:solidFill>
                            <a:srgbClr val="1F1F1F"/>
                          </a:solidFill>
                          <a:effectLst/>
                          <a:latin typeface="+mn-lt"/>
                        </a:rPr>
                        <a:t>Các công cụ BWT-based (BWA-MEM, Bowtie 2)</a:t>
                      </a:r>
                      <a:endParaRPr lang="en-US" sz="1600">
                        <a:solidFill>
                          <a:srgbClr val="1F1F1F"/>
                        </a:solidFill>
                        <a:effectLst/>
                        <a:latin typeface="+mn-lt"/>
                      </a:endParaRP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13225113"/>
                  </a:ext>
                </a:extLst>
              </a:tr>
              <a:tr h="876810">
                <a:tc>
                  <a:txBody>
                    <a:bodyPr/>
                    <a:lstStyle/>
                    <a:p>
                      <a:pPr rtl="0">
                        <a:buNone/>
                      </a:pPr>
                      <a:r>
                        <a:rPr lang="vi-VN" sz="1600" b="1">
                          <a:solidFill>
                            <a:srgbClr val="1F1F1F"/>
                          </a:solidFill>
                          <a:effectLst/>
                          <a:latin typeface="+mn-lt"/>
                        </a:rPr>
                        <a:t>Ưu điểm</a:t>
                      </a:r>
                      <a:endParaRPr lang="vi-VN" sz="1600">
                        <a:solidFill>
                          <a:srgbClr val="1F1F1F"/>
                        </a:solidFill>
                        <a:effectLst/>
                        <a:latin typeface="+mn-lt"/>
                      </a:endParaRP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001" sz="1600">
                          <a:solidFill>
                            <a:srgbClr val="1F1F1F"/>
                          </a:solidFill>
                          <a:effectLst/>
                          <a:latin typeface="+mn-lt"/>
                        </a:rPr>
                        <a:t>- </a:t>
                      </a:r>
                      <a:r>
                        <a:rPr lang="vi-VN" sz="1600">
                          <a:solidFill>
                            <a:srgbClr val="1F1F1F"/>
                          </a:solidFill>
                          <a:effectLst/>
                          <a:latin typeface="+mn-lt"/>
                        </a:rPr>
                        <a:t>Chịu được tỷ lệ lỗi cao (10% - 15%).</a:t>
                      </a:r>
                    </a:p>
                    <a:p>
                      <a:pPr rtl="0">
                        <a:buNone/>
                      </a:pPr>
                      <a:r>
                        <a:rPr lang="vi-VN" sz="1600">
                          <a:solidFill>
                            <a:srgbClr val="1F1F1F"/>
                          </a:solidFill>
                          <a:effectLst/>
                          <a:latin typeface="+mn-lt"/>
                        </a:rPr>
                        <a:t>- Xử lý </a:t>
                      </a:r>
                      <a:r>
                        <a:rPr lang="en-001" sz="1600">
                          <a:solidFill>
                            <a:srgbClr val="1F1F1F"/>
                          </a:solidFill>
                          <a:effectLst/>
                          <a:latin typeface="+mn-lt"/>
                        </a:rPr>
                        <a:t>tốt </a:t>
                      </a:r>
                      <a:r>
                        <a:rPr lang="vi-VN" sz="1600">
                          <a:solidFill>
                            <a:srgbClr val="1F1F1F"/>
                          </a:solidFill>
                          <a:effectLst/>
                          <a:latin typeface="+mn-lt"/>
                        </a:rPr>
                        <a:t>các đột biến Indels lớn.</a:t>
                      </a:r>
                    </a:p>
                    <a:p>
                      <a:pPr rtl="0">
                        <a:buNone/>
                      </a:pPr>
                      <a:r>
                        <a:rPr lang="vi-VN" sz="1600">
                          <a:solidFill>
                            <a:srgbClr val="1F1F1F"/>
                          </a:solidFill>
                          <a:effectLst/>
                          <a:latin typeface="+mn-lt"/>
                        </a:rPr>
                        <a:t>- </a:t>
                      </a:r>
                      <a:r>
                        <a:rPr lang="en-001" sz="1600">
                          <a:solidFill>
                            <a:srgbClr val="1F1F1F"/>
                          </a:solidFill>
                          <a:effectLst/>
                          <a:latin typeface="+mn-lt"/>
                        </a:rPr>
                        <a:t>Làm tốt </a:t>
                      </a:r>
                      <a:r>
                        <a:rPr lang="vi-VN" sz="1600">
                          <a:solidFill>
                            <a:srgbClr val="1F1F1F"/>
                          </a:solidFill>
                          <a:effectLst/>
                          <a:latin typeface="+mn-lt"/>
                        </a:rPr>
                        <a:t>việc dóng hàng đứt gãy cho dữ liệu RNA.</a:t>
                      </a: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 </a:t>
                      </a:r>
                      <a:r>
                        <a:rPr lang="en-001" sz="1600" b="1">
                          <a:solidFill>
                            <a:srgbClr val="1F1F1F"/>
                          </a:solidFill>
                          <a:effectLst/>
                          <a:latin typeface="+mn-lt"/>
                        </a:rPr>
                        <a:t>Rất nhanh</a:t>
                      </a:r>
                      <a:r>
                        <a:rPr lang="en-US" sz="1600">
                          <a:solidFill>
                            <a:srgbClr val="1F1F1F"/>
                          </a:solidFill>
                          <a:effectLst/>
                          <a:latin typeface="+mn-lt"/>
                        </a:rPr>
                        <a:t> cho dữ liệu sạch.</a:t>
                      </a:r>
                    </a:p>
                    <a:p>
                      <a:pPr rtl="0">
                        <a:buNone/>
                      </a:pPr>
                      <a:r>
                        <a:rPr lang="en-US" sz="1600">
                          <a:solidFill>
                            <a:srgbClr val="1F1F1F"/>
                          </a:solidFill>
                          <a:effectLst/>
                          <a:latin typeface="+mn-lt"/>
                        </a:rPr>
                        <a:t>- Độ chính xác cao khi sai số thấp.</a:t>
                      </a:r>
                    </a:p>
                    <a:p>
                      <a:pPr rtl="0">
                        <a:buNone/>
                      </a:pPr>
                      <a:r>
                        <a:rPr lang="en-US" sz="1600">
                          <a:solidFill>
                            <a:srgbClr val="1F1F1F"/>
                          </a:solidFill>
                          <a:effectLst/>
                          <a:latin typeface="+mn-lt"/>
                        </a:rPr>
                        <a:t>-</a:t>
                      </a:r>
                      <a:r>
                        <a:rPr lang="en-001" sz="1600">
                          <a:solidFill>
                            <a:srgbClr val="1F1F1F"/>
                          </a:solidFill>
                          <a:effectLst/>
                          <a:latin typeface="+mn-lt"/>
                        </a:rPr>
                        <a:t> </a:t>
                      </a:r>
                      <a:r>
                        <a:rPr lang="en-US" sz="1600">
                          <a:solidFill>
                            <a:srgbClr val="1F1F1F"/>
                          </a:solidFill>
                          <a:effectLst/>
                          <a:latin typeface="+mn-lt"/>
                        </a:rPr>
                        <a:t>Í</a:t>
                      </a:r>
                      <a:r>
                        <a:rPr lang="en-001" sz="1600">
                          <a:solidFill>
                            <a:srgbClr val="1F1F1F"/>
                          </a:solidFill>
                          <a:effectLst/>
                          <a:latin typeface="+mn-lt"/>
                        </a:rPr>
                        <a:t>t tốn bộ nhớ</a:t>
                      </a:r>
                      <a:endParaRPr lang="en-US" sz="1600">
                        <a:solidFill>
                          <a:srgbClr val="1F1F1F"/>
                        </a:solidFill>
                        <a:effectLst/>
                        <a:latin typeface="+mn-lt"/>
                      </a:endParaRP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72193507"/>
                  </a:ext>
                </a:extLst>
              </a:tr>
              <a:tr h="587979">
                <a:tc>
                  <a:txBody>
                    <a:bodyPr/>
                    <a:lstStyle/>
                    <a:p>
                      <a:pPr rtl="0">
                        <a:buNone/>
                      </a:pPr>
                      <a:r>
                        <a:rPr lang="vi-VN" sz="1600" b="1">
                          <a:solidFill>
                            <a:srgbClr val="1F1F1F"/>
                          </a:solidFill>
                          <a:effectLst/>
                          <a:latin typeface="+mn-lt"/>
                        </a:rPr>
                        <a:t>Nhược điểm</a:t>
                      </a:r>
                      <a:endParaRPr lang="vi-VN" sz="1600">
                        <a:solidFill>
                          <a:srgbClr val="1F1F1F"/>
                        </a:solidFill>
                        <a:effectLst/>
                        <a:latin typeface="+mn-lt"/>
                      </a:endParaRP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vi-VN" sz="1600">
                          <a:solidFill>
                            <a:srgbClr val="1F1F1F"/>
                          </a:solidFill>
                          <a:effectLst/>
                          <a:latin typeface="+mn-lt"/>
                        </a:rPr>
                        <a:t>- Tiêu tốn nhiều RAM hơn.</a:t>
                      </a:r>
                    </a:p>
                    <a:p>
                      <a:pPr rtl="0">
                        <a:buNone/>
                      </a:pPr>
                      <a:endParaRPr lang="vi-VN" sz="1600">
                        <a:solidFill>
                          <a:srgbClr val="1F1F1F"/>
                        </a:solidFill>
                        <a:effectLst/>
                        <a:latin typeface="+mn-lt"/>
                      </a:endParaRPr>
                    </a:p>
                    <a:p>
                      <a:pPr rtl="0">
                        <a:buNone/>
                      </a:pPr>
                      <a:r>
                        <a:rPr lang="vi-VN" sz="1600">
                          <a:solidFill>
                            <a:srgbClr val="1F1F1F"/>
                          </a:solidFill>
                          <a:effectLst/>
                          <a:latin typeface="+mn-lt"/>
                        </a:rPr>
                        <a:t>- Chạy chậm hơn và dư thừa tài nguyên nếu áp dụng cho dữ liệu reads quá ngắn và sạch (Illumina).</a:t>
                      </a: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vi-VN" sz="1600">
                          <a:solidFill>
                            <a:srgbClr val="1F1F1F"/>
                          </a:solidFill>
                          <a:effectLst/>
                          <a:latin typeface="+mn-lt"/>
                        </a:rPr>
                        <a:t>- </a:t>
                      </a:r>
                      <a:r>
                        <a:rPr lang="en-001" sz="1600">
                          <a:solidFill>
                            <a:srgbClr val="1F1F1F"/>
                          </a:solidFill>
                          <a:effectLst/>
                          <a:latin typeface="+mn-lt"/>
                        </a:rPr>
                        <a:t>Không chạy được với </a:t>
                      </a:r>
                      <a:r>
                        <a:rPr lang="vi-VN" sz="1600">
                          <a:solidFill>
                            <a:srgbClr val="1F1F1F"/>
                          </a:solidFill>
                          <a:effectLst/>
                          <a:latin typeface="+mn-lt"/>
                        </a:rPr>
                        <a:t>dữ liệu có tỷ lệ lỗi cao (PacBio/Nanopore).</a:t>
                      </a:r>
                    </a:p>
                    <a:p>
                      <a:pPr rtl="0">
                        <a:buNone/>
                      </a:pPr>
                      <a:r>
                        <a:rPr lang="vi-VN" sz="1600">
                          <a:solidFill>
                            <a:srgbClr val="1F1F1F"/>
                          </a:solidFill>
                          <a:effectLst/>
                          <a:latin typeface="+mn-lt"/>
                        </a:rPr>
                        <a:t>- Gặp khó khăn với các đột biến Indels dài.</a:t>
                      </a: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1125171"/>
                  </a:ext>
                </a:extLst>
              </a:tr>
              <a:tr h="876810">
                <a:tc>
                  <a:txBody>
                    <a:bodyPr/>
                    <a:lstStyle/>
                    <a:p>
                      <a:pPr rtl="0">
                        <a:buNone/>
                      </a:pPr>
                      <a:r>
                        <a:rPr lang="en-US" sz="1600" b="1">
                          <a:solidFill>
                            <a:srgbClr val="1F1F1F"/>
                          </a:solidFill>
                          <a:effectLst/>
                          <a:latin typeface="+mn-lt"/>
                        </a:rPr>
                        <a:t>Loại dữ liệu phù hợp &amp; Ứng dụng</a:t>
                      </a:r>
                      <a:endParaRPr lang="en-US" sz="1600">
                        <a:solidFill>
                          <a:srgbClr val="1F1F1F"/>
                        </a:solidFill>
                        <a:effectLst/>
                        <a:latin typeface="+mn-lt"/>
                      </a:endParaRP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mn-lt"/>
                        </a:rPr>
                        <a:t>- </a:t>
                      </a:r>
                      <a:r>
                        <a:rPr lang="en-US" sz="1600" b="1">
                          <a:solidFill>
                            <a:srgbClr val="1F1F1F"/>
                          </a:solidFill>
                          <a:effectLst/>
                          <a:latin typeface="+mn-lt"/>
                        </a:rPr>
                        <a:t>Dữ liệu Long-reads:</a:t>
                      </a:r>
                      <a:r>
                        <a:rPr lang="en-US" sz="1600">
                          <a:solidFill>
                            <a:srgbClr val="1F1F1F"/>
                          </a:solidFill>
                          <a:effectLst/>
                          <a:latin typeface="+mn-lt"/>
                        </a:rPr>
                        <a:t> PacBio (HiFi, CLR), Oxford Nanopore (ONT).</a:t>
                      </a:r>
                    </a:p>
                    <a:p>
                      <a:pPr rtl="0">
                        <a:buNone/>
                      </a:pPr>
                      <a:r>
                        <a:rPr lang="en-US" sz="1600">
                          <a:solidFill>
                            <a:srgbClr val="1F1F1F"/>
                          </a:solidFill>
                          <a:effectLst/>
                          <a:latin typeface="+mn-lt"/>
                        </a:rPr>
                        <a:t>- Lắp ráp hệ gen de novo (De novo assembly).</a:t>
                      </a:r>
                    </a:p>
                    <a:p>
                      <a:pPr rtl="0">
                        <a:buNone/>
                      </a:pPr>
                      <a:r>
                        <a:rPr lang="en-US" sz="1600">
                          <a:solidFill>
                            <a:srgbClr val="1F1F1F"/>
                          </a:solidFill>
                          <a:effectLst/>
                          <a:latin typeface="+mn-lt"/>
                        </a:rPr>
                        <a:t>- Gióng hàng hệ gen với hệ gen.</a:t>
                      </a: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vi-VN" sz="1600" dirty="0">
                          <a:solidFill>
                            <a:srgbClr val="1F1F1F"/>
                          </a:solidFill>
                          <a:effectLst/>
                          <a:latin typeface="+mn-lt"/>
                        </a:rPr>
                        <a:t>- </a:t>
                      </a:r>
                      <a:r>
                        <a:rPr lang="vi-VN" sz="1600" b="1" dirty="0">
                          <a:solidFill>
                            <a:srgbClr val="1F1F1F"/>
                          </a:solidFill>
                          <a:effectLst/>
                          <a:latin typeface="+mn-lt"/>
                        </a:rPr>
                        <a:t>Dữ liệu Short-reads</a:t>
                      </a:r>
                      <a:r>
                        <a:rPr lang="en-001" sz="1600" b="1" dirty="0">
                          <a:solidFill>
                            <a:srgbClr val="1F1F1F"/>
                          </a:solidFill>
                          <a:effectLst/>
                          <a:latin typeface="+mn-lt"/>
                        </a:rPr>
                        <a:t>, ít lỗi</a:t>
                      </a:r>
                      <a:r>
                        <a:rPr lang="vi-VN" sz="1600" b="1" dirty="0">
                          <a:solidFill>
                            <a:srgbClr val="1F1F1F"/>
                          </a:solidFill>
                          <a:effectLst/>
                          <a:latin typeface="+mn-lt"/>
                        </a:rPr>
                        <a:t>:</a:t>
                      </a:r>
                      <a:r>
                        <a:rPr lang="vi-VN" sz="1600" dirty="0">
                          <a:solidFill>
                            <a:srgbClr val="1F1F1F"/>
                          </a:solidFill>
                          <a:effectLst/>
                          <a:latin typeface="+mn-lt"/>
                        </a:rPr>
                        <a:t> Illumina.</a:t>
                      </a:r>
                    </a:p>
                    <a:p>
                      <a:pPr rtl="0">
                        <a:buNone/>
                      </a:pPr>
                      <a:endParaRPr lang="en-001" sz="1600" dirty="0">
                        <a:solidFill>
                          <a:srgbClr val="1F1F1F"/>
                        </a:solidFill>
                        <a:effectLst/>
                        <a:latin typeface="+mn-lt"/>
                      </a:endParaRPr>
                    </a:p>
                    <a:p>
                      <a:pPr rtl="0">
                        <a:buNone/>
                      </a:pPr>
                      <a:r>
                        <a:rPr lang="vi-VN" sz="1600" dirty="0">
                          <a:solidFill>
                            <a:srgbClr val="1F1F1F"/>
                          </a:solidFill>
                          <a:effectLst/>
                          <a:latin typeface="+mn-lt"/>
                        </a:rPr>
                        <a:t>- Phân tích gọi biến thể (trong y học chính xác.</a:t>
                      </a:r>
                    </a:p>
                    <a:p>
                      <a:pPr rtl="0">
                        <a:buNone/>
                      </a:pPr>
                      <a:r>
                        <a:rPr lang="vi-VN" sz="1600" dirty="0">
                          <a:solidFill>
                            <a:srgbClr val="1F1F1F"/>
                          </a:solidFill>
                          <a:effectLst/>
                          <a:latin typeface="+mn-lt"/>
                        </a:rPr>
                        <a:t>- Phân tích ChIP-Seq, phân tích biểu hiện gen cơ bản.</a:t>
                      </a:r>
                    </a:p>
                  </a:txBody>
                  <a:tcPr marL="30946" marR="30946" marT="41262" marB="41262">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67556224"/>
                  </a:ext>
                </a:extLst>
              </a:tr>
            </a:tbl>
          </a:graphicData>
        </a:graphic>
      </p:graphicFrame>
    </p:spTree>
    <p:extLst>
      <p:ext uri="{BB962C8B-B14F-4D97-AF65-F5344CB8AC3E}">
        <p14:creationId xmlns:p14="http://schemas.microsoft.com/office/powerpoint/2010/main" val="3093246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7065FD35-E86A-5FD5-06D1-1F1C4EE73A58}"/>
            </a:ext>
          </a:extLst>
        </p:cNvPr>
        <p:cNvGrpSpPr/>
        <p:nvPr/>
      </p:nvGrpSpPr>
      <p:grpSpPr>
        <a:xfrm>
          <a:off x="0" y="0"/>
          <a:ext cx="0" cy="0"/>
          <a:chOff x="0" y="0"/>
          <a:chExt cx="0" cy="0"/>
        </a:xfrm>
      </p:grpSpPr>
      <p:sp>
        <p:nvSpPr>
          <p:cNvPr id="125" name="Google Shape;125;p2">
            <a:extLst>
              <a:ext uri="{FF2B5EF4-FFF2-40B4-BE49-F238E27FC236}">
                <a16:creationId xmlns:a16="http://schemas.microsoft.com/office/drawing/2014/main" id="{888B1380-106D-6975-2288-4CA700F15FE5}"/>
              </a:ext>
            </a:extLst>
          </p:cNvPr>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p>
            <a:r>
              <a:rPr lang="en-US" dirty="0" err="1"/>
              <a:t>Sắp</a:t>
            </a:r>
            <a:r>
              <a:rPr lang="en-US" dirty="0"/>
              <a:t> </a:t>
            </a:r>
            <a:r>
              <a:rPr lang="en-US" dirty="0" err="1"/>
              <a:t>hàng</a:t>
            </a:r>
            <a:r>
              <a:rPr lang="en-US" dirty="0"/>
              <a:t> </a:t>
            </a:r>
            <a:r>
              <a:rPr lang="en-US" dirty="0" err="1"/>
              <a:t>đa</a:t>
            </a:r>
            <a:r>
              <a:rPr lang="en-US" dirty="0"/>
              <a:t> </a:t>
            </a:r>
            <a:r>
              <a:rPr lang="en-US" dirty="0" err="1"/>
              <a:t>trình</a:t>
            </a:r>
            <a:r>
              <a:rPr lang="en-US" dirty="0"/>
              <a:t> </a:t>
            </a:r>
            <a:r>
              <a:rPr lang="en-US" dirty="0" err="1"/>
              <a:t>tự</a:t>
            </a:r>
            <a:endParaRPr dirty="0"/>
          </a:p>
        </p:txBody>
      </p:sp>
      <p:sp>
        <p:nvSpPr>
          <p:cNvPr id="126" name="Google Shape;126;p2">
            <a:extLst>
              <a:ext uri="{FF2B5EF4-FFF2-40B4-BE49-F238E27FC236}">
                <a16:creationId xmlns:a16="http://schemas.microsoft.com/office/drawing/2014/main" id="{79918B0D-05F7-92F4-7E62-FDBEEA155BF9}"/>
              </a:ext>
            </a:extLst>
          </p:cNvPr>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p>
            <a:pPr marL="0" indent="0">
              <a:spcBef>
                <a:spcPts val="0"/>
              </a:spcBef>
            </a:pPr>
            <a:endParaRPr/>
          </a:p>
        </p:txBody>
      </p:sp>
      <p:sp>
        <p:nvSpPr>
          <p:cNvPr id="4" name="Slide Number Placeholder 3">
            <a:extLst>
              <a:ext uri="{FF2B5EF4-FFF2-40B4-BE49-F238E27FC236}">
                <a16:creationId xmlns:a16="http://schemas.microsoft.com/office/drawing/2014/main" id="{12F15D5C-24CE-371F-4CAA-0CA4AE30F53D}"/>
              </a:ext>
            </a:extLst>
          </p:cNvPr>
          <p:cNvSpPr>
            <a:spLocks noGrp="1"/>
          </p:cNvSpPr>
          <p:nvPr>
            <p:ph type="sldNum" idx="12"/>
          </p:nvPr>
        </p:nvSpPr>
        <p:spPr/>
        <p:txBody>
          <a:bodyPr/>
          <a:lstStyle/>
          <a:p>
            <a:fld id="{00000000-1234-1234-1234-123412341234}" type="slidenum">
              <a:rPr lang="en-US" smtClean="0"/>
              <a:pPr/>
              <a:t>27</a:t>
            </a:fld>
            <a:endParaRPr lang="en-US"/>
          </a:p>
        </p:txBody>
      </p:sp>
    </p:spTree>
    <p:extLst>
      <p:ext uri="{BB962C8B-B14F-4D97-AF65-F5344CB8AC3E}">
        <p14:creationId xmlns:p14="http://schemas.microsoft.com/office/powerpoint/2010/main" val="3222352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26D9C474-FBB8-5BF7-D4EC-B64947E62126}"/>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4E5AB88C-024F-BAF1-E090-919F664C5341}"/>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err="1"/>
              <a:t>Từ</a:t>
            </a:r>
            <a:r>
              <a:rPr lang="en-US" dirty="0"/>
              <a:t> PSA </a:t>
            </a:r>
            <a:r>
              <a:rPr lang="en-US" dirty="0" err="1"/>
              <a:t>đến</a:t>
            </a:r>
            <a:r>
              <a:rPr lang="en-US" dirty="0"/>
              <a:t> </a:t>
            </a:r>
            <a:r>
              <a:rPr lang="en-US" dirty="0" err="1"/>
              <a:t>bài</a:t>
            </a:r>
            <a:r>
              <a:rPr lang="en-US" dirty="0"/>
              <a:t> </a:t>
            </a:r>
            <a:r>
              <a:rPr lang="en-US" dirty="0" err="1"/>
              <a:t>toán</a:t>
            </a:r>
            <a:r>
              <a:rPr lang="en-US" dirty="0"/>
              <a:t> MSA</a:t>
            </a:r>
            <a:endParaRPr dirty="0"/>
          </a:p>
        </p:txBody>
      </p:sp>
      <p:sp>
        <p:nvSpPr>
          <p:cNvPr id="3" name="Slide Number Placeholder 2">
            <a:extLst>
              <a:ext uri="{FF2B5EF4-FFF2-40B4-BE49-F238E27FC236}">
                <a16:creationId xmlns:a16="http://schemas.microsoft.com/office/drawing/2014/main" id="{8AC13A0D-1F76-03E4-B7FD-3B3BCD531D54}"/>
              </a:ext>
            </a:extLst>
          </p:cNvPr>
          <p:cNvSpPr>
            <a:spLocks noGrp="1"/>
          </p:cNvSpPr>
          <p:nvPr>
            <p:ph type="sldNum" idx="12"/>
          </p:nvPr>
        </p:nvSpPr>
        <p:spPr/>
        <p:txBody>
          <a:bodyPr/>
          <a:lstStyle/>
          <a:p>
            <a:r>
              <a:rPr lang="en-US" dirty="0"/>
              <a:t>28</a:t>
            </a:r>
          </a:p>
        </p:txBody>
      </p:sp>
      <p:sp>
        <p:nvSpPr>
          <p:cNvPr id="2" name="Google Shape;138;p3">
            <a:extLst>
              <a:ext uri="{FF2B5EF4-FFF2-40B4-BE49-F238E27FC236}">
                <a16:creationId xmlns:a16="http://schemas.microsoft.com/office/drawing/2014/main" id="{C8461343-8522-2D04-18CC-17B9AD53A099}"/>
              </a:ext>
            </a:extLst>
          </p:cNvPr>
          <p:cNvSpPr txBox="1">
            <a:spLocks noGrp="1"/>
          </p:cNvSpPr>
          <p:nvPr>
            <p:ph type="body" idx="1"/>
          </p:nvPr>
        </p:nvSpPr>
        <p:spPr>
          <a:xfrm>
            <a:off x="457200" y="1219200"/>
            <a:ext cx="8229600" cy="1154723"/>
          </a:xfrm>
          <a:prstGeom prst="rect">
            <a:avLst/>
          </a:prstGeom>
          <a:noFill/>
          <a:ln>
            <a:noFill/>
          </a:ln>
        </p:spPr>
        <p:txBody>
          <a:bodyPr spcFirstLastPara="1" wrap="square" lIns="91425" tIns="45700" rIns="91425" bIns="45700" anchor="t" anchorCtr="0">
            <a:noAutofit/>
          </a:bodyPr>
          <a:lstStyle/>
          <a:p>
            <a:pPr lvl="0" indent="-457200" algn="just">
              <a:lnSpc>
                <a:spcPct val="130000"/>
              </a:lnSpc>
              <a:buClr>
                <a:schemeClr val="accent4">
                  <a:lumMod val="75000"/>
                </a:schemeClr>
              </a:buClr>
              <a:buSzPts val="1976"/>
              <a:buFont typeface="Wingdings" panose="05000000000000000000" pitchFamily="2" charset="2"/>
              <a:buChar char="q"/>
            </a:pPr>
            <a:r>
              <a:rPr lang="en-US" sz="1800" dirty="0" err="1"/>
              <a:t>Sắp</a:t>
            </a:r>
            <a:r>
              <a:rPr lang="en-US" sz="1800" dirty="0"/>
              <a:t> </a:t>
            </a:r>
            <a:r>
              <a:rPr lang="en-US" sz="1800" dirty="0" err="1"/>
              <a:t>hàng</a:t>
            </a:r>
            <a:r>
              <a:rPr lang="en-US" sz="1800" dirty="0"/>
              <a:t> </a:t>
            </a:r>
            <a:r>
              <a:rPr lang="en-US" sz="1800" dirty="0" err="1"/>
              <a:t>đa</a:t>
            </a:r>
            <a:r>
              <a:rPr lang="en-US" sz="1800" dirty="0"/>
              <a:t> </a:t>
            </a:r>
            <a:r>
              <a:rPr lang="en-US" sz="1800" dirty="0" err="1"/>
              <a:t>trình</a:t>
            </a:r>
            <a:r>
              <a:rPr lang="en-US" sz="1800" dirty="0"/>
              <a:t> </a:t>
            </a:r>
            <a:r>
              <a:rPr lang="en-US" sz="1800" dirty="0" err="1"/>
              <a:t>tự</a:t>
            </a:r>
            <a:r>
              <a:rPr lang="en-US" sz="1800" dirty="0"/>
              <a:t> (MSA) </a:t>
            </a:r>
            <a:r>
              <a:rPr lang="en-US" sz="1800" dirty="0" err="1"/>
              <a:t>là</a:t>
            </a:r>
            <a:r>
              <a:rPr lang="en-US" sz="1800" dirty="0"/>
              <a:t> </a:t>
            </a:r>
            <a:r>
              <a:rPr lang="en-US" sz="1800" dirty="0" err="1"/>
              <a:t>quá</a:t>
            </a:r>
            <a:r>
              <a:rPr lang="en-US" sz="1800" dirty="0"/>
              <a:t> </a:t>
            </a:r>
            <a:r>
              <a:rPr lang="en-US" sz="1800" dirty="0" err="1"/>
              <a:t>trình</a:t>
            </a:r>
            <a:r>
              <a:rPr lang="en-US" sz="1800" dirty="0"/>
              <a:t> </a:t>
            </a:r>
            <a:r>
              <a:rPr lang="en-US" sz="1800" dirty="0" err="1"/>
              <a:t>gióng</a:t>
            </a:r>
            <a:r>
              <a:rPr lang="en-US" sz="1800" dirty="0"/>
              <a:t> </a:t>
            </a:r>
            <a:r>
              <a:rPr lang="en-US" sz="1800" dirty="0" err="1"/>
              <a:t>hàng</a:t>
            </a:r>
            <a:r>
              <a:rPr lang="en-US" sz="1800" dirty="0"/>
              <a:t> </a:t>
            </a:r>
            <a:r>
              <a:rPr lang="en-US" sz="1800" dirty="0" err="1"/>
              <a:t>từ</a:t>
            </a:r>
            <a:r>
              <a:rPr lang="en-US" sz="1800" dirty="0"/>
              <a:t> </a:t>
            </a:r>
            <a:r>
              <a:rPr lang="en-US" sz="1800" dirty="0" err="1"/>
              <a:t>ba</a:t>
            </a:r>
            <a:r>
              <a:rPr lang="en-US" sz="1800" dirty="0"/>
              <a:t> </a:t>
            </a:r>
            <a:r>
              <a:rPr lang="en-US" sz="1800" dirty="0" err="1"/>
              <a:t>trình</a:t>
            </a:r>
            <a:r>
              <a:rPr lang="en-US" sz="1800" dirty="0"/>
              <a:t> </a:t>
            </a:r>
            <a:r>
              <a:rPr lang="en-US" sz="1800" dirty="0" err="1"/>
              <a:t>tự</a:t>
            </a:r>
            <a:r>
              <a:rPr lang="en-US" sz="1800" dirty="0"/>
              <a:t> </a:t>
            </a:r>
            <a:r>
              <a:rPr lang="en-US" sz="1800" dirty="0" err="1"/>
              <a:t>sinh</a:t>
            </a:r>
            <a:r>
              <a:rPr lang="en-US" sz="1800" dirty="0"/>
              <a:t> </a:t>
            </a:r>
            <a:r>
              <a:rPr lang="en-US" sz="1800" dirty="0" err="1"/>
              <a:t>học</a:t>
            </a:r>
            <a:r>
              <a:rPr lang="en-US" sz="1800" dirty="0"/>
              <a:t> </a:t>
            </a:r>
            <a:r>
              <a:rPr lang="en-US" sz="1800" dirty="0" err="1"/>
              <a:t>trở</a:t>
            </a:r>
            <a:r>
              <a:rPr lang="en-US" sz="1800" dirty="0"/>
              <a:t> </a:t>
            </a:r>
            <a:r>
              <a:rPr lang="en-US" sz="1800" dirty="0" err="1"/>
              <a:t>lên</a:t>
            </a:r>
            <a:r>
              <a:rPr lang="en-US" sz="1800" dirty="0"/>
              <a:t> </a:t>
            </a:r>
            <a:r>
              <a:rPr lang="en-US" sz="1800" dirty="0" err="1"/>
              <a:t>để</a:t>
            </a:r>
            <a:r>
              <a:rPr lang="en-US" sz="1800" dirty="0"/>
              <a:t> </a:t>
            </a:r>
            <a:r>
              <a:rPr lang="en-US" sz="1800" dirty="0" err="1"/>
              <a:t>tìm</a:t>
            </a:r>
            <a:r>
              <a:rPr lang="en-US" sz="1800" dirty="0"/>
              <a:t> </a:t>
            </a:r>
            <a:r>
              <a:rPr lang="en-US" sz="1800" dirty="0" err="1"/>
              <a:t>ra</a:t>
            </a:r>
            <a:r>
              <a:rPr lang="en-US" sz="1800" dirty="0"/>
              <a:t> </a:t>
            </a:r>
            <a:r>
              <a:rPr lang="en-US" sz="1800" dirty="0" err="1"/>
              <a:t>các</a:t>
            </a:r>
            <a:r>
              <a:rPr lang="en-US" sz="1800" dirty="0"/>
              <a:t> </a:t>
            </a:r>
            <a:r>
              <a:rPr lang="en-US" sz="1800" dirty="0" err="1"/>
              <a:t>vùng</a:t>
            </a:r>
            <a:r>
              <a:rPr lang="en-US" sz="1800" dirty="0"/>
              <a:t> </a:t>
            </a:r>
            <a:r>
              <a:rPr lang="en-US" sz="1800" dirty="0" err="1"/>
              <a:t>tương</a:t>
            </a:r>
            <a:r>
              <a:rPr lang="en-US" sz="1800" dirty="0"/>
              <a:t> </a:t>
            </a:r>
            <a:r>
              <a:rPr lang="en-US" sz="1800" dirty="0" err="1"/>
              <a:t>đồng</a:t>
            </a:r>
            <a:r>
              <a:rPr lang="en-US" sz="1800" dirty="0"/>
              <a:t> </a:t>
            </a:r>
            <a:r>
              <a:rPr lang="en-US" sz="1800" dirty="0" err="1"/>
              <a:t>giữa</a:t>
            </a:r>
            <a:r>
              <a:rPr lang="en-US" sz="1800" dirty="0"/>
              <a:t> </a:t>
            </a:r>
            <a:r>
              <a:rPr lang="en-US" sz="1800" dirty="0" err="1"/>
              <a:t>chúng</a:t>
            </a:r>
            <a:r>
              <a:rPr lang="en-US" sz="1800" dirty="0"/>
              <a:t>. </a:t>
            </a:r>
          </a:p>
          <a:p>
            <a:pPr lvl="0" indent="-457200" algn="just">
              <a:lnSpc>
                <a:spcPct val="130000"/>
              </a:lnSpc>
              <a:buClr>
                <a:schemeClr val="accent4">
                  <a:lumMod val="75000"/>
                </a:schemeClr>
              </a:buClr>
              <a:buSzPts val="1976"/>
              <a:buFont typeface="Wingdings" panose="05000000000000000000" pitchFamily="2" charset="2"/>
              <a:buChar char="q"/>
            </a:pPr>
            <a:r>
              <a:rPr lang="en-US" sz="1800" dirty="0" err="1"/>
              <a:t>Mọi</a:t>
            </a:r>
            <a:r>
              <a:rPr lang="en-US" sz="1800" dirty="0"/>
              <a:t> </a:t>
            </a:r>
            <a:r>
              <a:rPr lang="en-US" sz="1800" dirty="0" err="1"/>
              <a:t>phương</a:t>
            </a:r>
            <a:r>
              <a:rPr lang="en-US" sz="1800" dirty="0"/>
              <a:t> </a:t>
            </a:r>
            <a:r>
              <a:rPr lang="en-US" sz="1800" dirty="0" err="1"/>
              <a:t>pháp</a:t>
            </a:r>
            <a:r>
              <a:rPr lang="en-US" sz="1800" dirty="0"/>
              <a:t> </a:t>
            </a:r>
            <a:r>
              <a:rPr lang="en-US" sz="1800" dirty="0" err="1"/>
              <a:t>tiếp</a:t>
            </a:r>
            <a:r>
              <a:rPr lang="en-US" sz="1800" dirty="0"/>
              <a:t> </a:t>
            </a:r>
            <a:r>
              <a:rPr lang="en-US" sz="1800" dirty="0" err="1"/>
              <a:t>cận</a:t>
            </a:r>
            <a:r>
              <a:rPr lang="en-US" sz="1800" dirty="0"/>
              <a:t> MSA </a:t>
            </a:r>
            <a:r>
              <a:rPr lang="en-US" sz="1800" dirty="0" err="1"/>
              <a:t>đều</a:t>
            </a:r>
            <a:r>
              <a:rPr lang="en-US" sz="1800" dirty="0"/>
              <a:t> </a:t>
            </a:r>
            <a:r>
              <a:rPr lang="en-US" sz="1800" dirty="0" err="1"/>
              <a:t>phải</a:t>
            </a:r>
            <a:r>
              <a:rPr lang="en-US" sz="1800" dirty="0"/>
              <a:t> </a:t>
            </a:r>
            <a:r>
              <a:rPr lang="en-US" sz="1800" dirty="0" err="1"/>
              <a:t>dùng</a:t>
            </a:r>
            <a:r>
              <a:rPr lang="en-US" sz="1800" dirty="0"/>
              <a:t> PSA </a:t>
            </a:r>
            <a:r>
              <a:rPr lang="en-US" sz="1800" dirty="0" err="1"/>
              <a:t>làm</a:t>
            </a:r>
            <a:r>
              <a:rPr lang="en-US" sz="1800" dirty="0"/>
              <a:t> </a:t>
            </a:r>
            <a:r>
              <a:rPr lang="en-US" sz="1800" dirty="0" err="1"/>
              <a:t>cơ</a:t>
            </a:r>
            <a:r>
              <a:rPr lang="en-US" sz="1800" dirty="0"/>
              <a:t> </a:t>
            </a:r>
            <a:r>
              <a:rPr lang="en-US" sz="1800" dirty="0" err="1"/>
              <a:t>sở</a:t>
            </a:r>
            <a:r>
              <a:rPr lang="en-US" sz="1800" dirty="0"/>
              <a:t> </a:t>
            </a:r>
            <a:r>
              <a:rPr lang="en-US" sz="1800" dirty="0" err="1"/>
              <a:t>cốt</a:t>
            </a:r>
            <a:r>
              <a:rPr lang="en-US" sz="1800" dirty="0"/>
              <a:t> </a:t>
            </a:r>
            <a:r>
              <a:rPr lang="en-US" sz="1800" dirty="0" err="1"/>
              <a:t>lõi</a:t>
            </a:r>
            <a:r>
              <a:rPr lang="en-US" sz="1800" dirty="0"/>
              <a:t> </a:t>
            </a:r>
            <a:r>
              <a:rPr lang="en-US" sz="1800" dirty="0" err="1"/>
              <a:t>để</a:t>
            </a:r>
            <a:r>
              <a:rPr lang="en-US" sz="1800" dirty="0"/>
              <a:t> </a:t>
            </a:r>
            <a:r>
              <a:rPr lang="en-US" sz="1800" dirty="0" err="1"/>
              <a:t>xây</a:t>
            </a:r>
            <a:r>
              <a:rPr lang="en-US" sz="1800" dirty="0"/>
              <a:t> </a:t>
            </a:r>
            <a:r>
              <a:rPr lang="en-US" sz="1800" dirty="0" err="1"/>
              <a:t>dựng</a:t>
            </a:r>
            <a:r>
              <a:rPr lang="en-US" sz="1800" dirty="0"/>
              <a:t> ma </a:t>
            </a:r>
            <a:r>
              <a:rPr lang="en-US" sz="1800" dirty="0" err="1"/>
              <a:t>trận</a:t>
            </a:r>
            <a:r>
              <a:rPr lang="en-US" sz="1800" dirty="0"/>
              <a:t> </a:t>
            </a:r>
            <a:r>
              <a:rPr lang="en-US" sz="1800" dirty="0" err="1"/>
              <a:t>khoảng</a:t>
            </a:r>
            <a:r>
              <a:rPr lang="en-US" sz="1800" dirty="0"/>
              <a:t> </a:t>
            </a:r>
            <a:r>
              <a:rPr lang="en-US" sz="1800" dirty="0" err="1"/>
              <a:t>cách</a:t>
            </a:r>
            <a:r>
              <a:rPr lang="en-US" sz="1800" dirty="0"/>
              <a:t> </a:t>
            </a:r>
            <a:r>
              <a:rPr lang="en-US" sz="1800" dirty="0" err="1"/>
              <a:t>trước</a:t>
            </a:r>
            <a:r>
              <a:rPr lang="en-US" sz="1800" dirty="0"/>
              <a:t> </a:t>
            </a:r>
            <a:r>
              <a:rPr lang="en-US" sz="1800" dirty="0" err="1"/>
              <a:t>khi</a:t>
            </a:r>
            <a:r>
              <a:rPr lang="en-US" sz="1800" dirty="0"/>
              <a:t> </a:t>
            </a:r>
            <a:r>
              <a:rPr lang="en-US" sz="1800" dirty="0" err="1"/>
              <a:t>xử</a:t>
            </a:r>
            <a:r>
              <a:rPr lang="en-US" sz="1800" dirty="0"/>
              <a:t> </a:t>
            </a:r>
            <a:r>
              <a:rPr lang="en-US" sz="1800" dirty="0" err="1"/>
              <a:t>lý</a:t>
            </a:r>
            <a:r>
              <a:rPr lang="en-US" sz="1800" dirty="0"/>
              <a:t> </a:t>
            </a:r>
            <a:r>
              <a:rPr lang="en-US" sz="1800" dirty="0" err="1"/>
              <a:t>đa</a:t>
            </a:r>
            <a:r>
              <a:rPr lang="en-US" sz="1800" dirty="0"/>
              <a:t> </a:t>
            </a:r>
            <a:r>
              <a:rPr lang="en-US" sz="1800" dirty="0" err="1"/>
              <a:t>trình</a:t>
            </a:r>
            <a:r>
              <a:rPr lang="en-US" sz="1800" dirty="0"/>
              <a:t> </a:t>
            </a:r>
            <a:r>
              <a:rPr lang="en-US" sz="1800" dirty="0" err="1"/>
              <a:t>tự</a:t>
            </a:r>
            <a:r>
              <a:rPr lang="en-US" sz="1800" dirty="0"/>
              <a:t>.</a:t>
            </a:r>
          </a:p>
          <a:p>
            <a:pPr lvl="0" indent="-457200" algn="just">
              <a:lnSpc>
                <a:spcPct val="130000"/>
              </a:lnSpc>
              <a:buClr>
                <a:schemeClr val="accent4">
                  <a:lumMod val="75000"/>
                </a:schemeClr>
              </a:buClr>
              <a:buSzPts val="1976"/>
              <a:buFont typeface="Wingdings" panose="05000000000000000000" pitchFamily="2" charset="2"/>
              <a:buChar char="q"/>
            </a:pPr>
            <a:r>
              <a:rPr lang="en-US" sz="1800" dirty="0" err="1"/>
              <a:t>Một</a:t>
            </a:r>
            <a:r>
              <a:rPr lang="en-US" sz="1800" dirty="0"/>
              <a:t> </a:t>
            </a:r>
            <a:r>
              <a:rPr lang="en-US" sz="1800" dirty="0" err="1"/>
              <a:t>số</a:t>
            </a:r>
            <a:r>
              <a:rPr lang="en-US" sz="1800" dirty="0"/>
              <a:t> </a:t>
            </a:r>
            <a:r>
              <a:rPr lang="en-US" sz="1800" dirty="0" err="1"/>
              <a:t>ứng</a:t>
            </a:r>
            <a:r>
              <a:rPr lang="en-US" sz="1800" dirty="0"/>
              <a:t> </a:t>
            </a:r>
            <a:r>
              <a:rPr lang="en-US" sz="1800" dirty="0" err="1"/>
              <a:t>dụng</a:t>
            </a:r>
            <a:r>
              <a:rPr lang="en-US" sz="1800" dirty="0"/>
              <a:t> bao </a:t>
            </a:r>
            <a:r>
              <a:rPr lang="en-US" sz="1800" dirty="0" err="1"/>
              <a:t>gồm</a:t>
            </a:r>
            <a:r>
              <a:rPr lang="en-US" sz="1800" dirty="0"/>
              <a:t>: </a:t>
            </a:r>
            <a:r>
              <a:rPr lang="en-US" sz="1800" dirty="0" err="1"/>
              <a:t>phát</a:t>
            </a:r>
            <a:r>
              <a:rPr lang="en-US" sz="1800" dirty="0"/>
              <a:t> </a:t>
            </a:r>
            <a:r>
              <a:rPr lang="en-US" sz="1800" dirty="0" err="1"/>
              <a:t>hiện</a:t>
            </a:r>
            <a:r>
              <a:rPr lang="en-US" sz="1800" dirty="0"/>
              <a:t> </a:t>
            </a:r>
            <a:r>
              <a:rPr lang="en-US" sz="1800" dirty="0" err="1"/>
              <a:t>vùng</a:t>
            </a:r>
            <a:r>
              <a:rPr lang="en-US" sz="1800" dirty="0"/>
              <a:t> </a:t>
            </a:r>
            <a:r>
              <a:rPr lang="en-US" sz="1800" dirty="0" err="1"/>
              <a:t>bảo</a:t>
            </a:r>
            <a:r>
              <a:rPr lang="en-US" sz="1800" dirty="0"/>
              <a:t> </a:t>
            </a:r>
            <a:r>
              <a:rPr lang="en-US" sz="1800" dirty="0" err="1"/>
              <a:t>thủ</a:t>
            </a:r>
            <a:r>
              <a:rPr lang="en-US" sz="1800" dirty="0"/>
              <a:t> </a:t>
            </a:r>
            <a:r>
              <a:rPr lang="en-US" sz="1800" dirty="0" err="1"/>
              <a:t>và</a:t>
            </a:r>
            <a:r>
              <a:rPr lang="en-US" sz="1800" dirty="0"/>
              <a:t> </a:t>
            </a:r>
            <a:r>
              <a:rPr lang="en-US" sz="1800" dirty="0" err="1"/>
              <a:t>dự</a:t>
            </a:r>
            <a:r>
              <a:rPr lang="en-US" sz="1800" dirty="0"/>
              <a:t> </a:t>
            </a:r>
            <a:r>
              <a:rPr lang="en-US" sz="1800" dirty="0" err="1"/>
              <a:t>đoán</a:t>
            </a:r>
            <a:r>
              <a:rPr lang="en-US" sz="1800" dirty="0"/>
              <a:t> </a:t>
            </a:r>
            <a:r>
              <a:rPr lang="en-US" sz="1800" dirty="0" err="1"/>
              <a:t>chức</a:t>
            </a:r>
            <a:r>
              <a:rPr lang="en-US" sz="1800" dirty="0"/>
              <a:t> </a:t>
            </a:r>
            <a:r>
              <a:rPr lang="en-US" sz="1800" dirty="0" err="1"/>
              <a:t>năng</a:t>
            </a:r>
            <a:r>
              <a:rPr lang="en-US" sz="1800" dirty="0"/>
              <a:t>, </a:t>
            </a:r>
            <a:r>
              <a:rPr lang="en-US" sz="1800" dirty="0" err="1"/>
              <a:t>nghiên</a:t>
            </a:r>
            <a:r>
              <a:rPr lang="en-US" sz="1800" dirty="0"/>
              <a:t> </a:t>
            </a:r>
            <a:r>
              <a:rPr lang="en-US" sz="1800" dirty="0" err="1"/>
              <a:t>cứu</a:t>
            </a:r>
            <a:r>
              <a:rPr lang="en-US" sz="1800" dirty="0"/>
              <a:t> </a:t>
            </a:r>
            <a:r>
              <a:rPr lang="en-US" sz="1800" dirty="0" err="1"/>
              <a:t>tiến</a:t>
            </a:r>
            <a:r>
              <a:rPr lang="en-US" sz="1800" dirty="0"/>
              <a:t> </a:t>
            </a:r>
            <a:r>
              <a:rPr lang="en-US" sz="1800" dirty="0" err="1"/>
              <a:t>hóa</a:t>
            </a:r>
            <a:r>
              <a:rPr lang="en-US" sz="1800" dirty="0"/>
              <a:t> </a:t>
            </a:r>
            <a:r>
              <a:rPr lang="en-US" sz="1800" dirty="0" err="1"/>
              <a:t>và</a:t>
            </a:r>
            <a:r>
              <a:rPr lang="en-US" sz="1800" dirty="0"/>
              <a:t> </a:t>
            </a:r>
            <a:r>
              <a:rPr lang="en-US" sz="1800" dirty="0" err="1"/>
              <a:t>xây</a:t>
            </a:r>
            <a:r>
              <a:rPr lang="en-US" sz="1800" dirty="0"/>
              <a:t> </a:t>
            </a:r>
            <a:r>
              <a:rPr lang="en-US" sz="1800" dirty="0" err="1"/>
              <a:t>dựng</a:t>
            </a:r>
            <a:r>
              <a:rPr lang="en-US" sz="1800" dirty="0"/>
              <a:t> </a:t>
            </a:r>
            <a:r>
              <a:rPr lang="en-US" sz="1800" dirty="0" err="1"/>
              <a:t>cây</a:t>
            </a:r>
            <a:r>
              <a:rPr lang="en-US" sz="1800" dirty="0"/>
              <a:t> </a:t>
            </a:r>
            <a:r>
              <a:rPr lang="en-US" sz="1800" dirty="0" err="1"/>
              <a:t>phát</a:t>
            </a:r>
            <a:r>
              <a:rPr lang="en-US" sz="1800" dirty="0"/>
              <a:t> </a:t>
            </a:r>
            <a:r>
              <a:rPr lang="en-US" sz="1800" dirty="0" err="1"/>
              <a:t>sinh</a:t>
            </a:r>
            <a:r>
              <a:rPr lang="en-US" sz="1800" dirty="0"/>
              <a:t> </a:t>
            </a:r>
            <a:r>
              <a:rPr lang="en-US" sz="1800" dirty="0" err="1"/>
              <a:t>loài</a:t>
            </a:r>
            <a:r>
              <a:rPr lang="en-US" sz="1800" dirty="0"/>
              <a:t>, </a:t>
            </a:r>
            <a:r>
              <a:rPr lang="en-US" sz="1800" dirty="0" err="1"/>
              <a:t>phát</a:t>
            </a:r>
            <a:r>
              <a:rPr lang="en-US" sz="1800" dirty="0"/>
              <a:t> </a:t>
            </a:r>
            <a:r>
              <a:rPr lang="en-US" sz="1800" dirty="0" err="1"/>
              <a:t>hiện</a:t>
            </a:r>
            <a:r>
              <a:rPr lang="en-US" sz="1800" dirty="0"/>
              <a:t> </a:t>
            </a:r>
            <a:r>
              <a:rPr lang="en-US" sz="1800" dirty="0" err="1"/>
              <a:t>đột</a:t>
            </a:r>
            <a:r>
              <a:rPr lang="en-US" sz="1800" dirty="0"/>
              <a:t> </a:t>
            </a:r>
            <a:r>
              <a:rPr lang="en-US" sz="1800" dirty="0" err="1"/>
              <a:t>biến</a:t>
            </a:r>
            <a:r>
              <a:rPr lang="en-US" sz="1800" dirty="0"/>
              <a:t>, ….</a:t>
            </a:r>
          </a:p>
          <a:p>
            <a:pPr lvl="0" indent="-457200" algn="just" rtl="0">
              <a:lnSpc>
                <a:spcPct val="150000"/>
              </a:lnSpc>
              <a:spcAft>
                <a:spcPts val="0"/>
              </a:spcAft>
              <a:buClr>
                <a:schemeClr val="accent4">
                  <a:lumMod val="75000"/>
                </a:schemeClr>
              </a:buClr>
              <a:buSzPts val="1976"/>
              <a:buFont typeface="Wingdings" panose="05000000000000000000" pitchFamily="2" charset="2"/>
              <a:buChar char="q"/>
            </a:pPr>
            <a:endParaRPr lang="en-US" sz="2000" dirty="0"/>
          </a:p>
          <a:p>
            <a:pPr marL="0" lvl="0" indent="0" algn="just" rtl="0">
              <a:lnSpc>
                <a:spcPct val="150000"/>
              </a:lnSpc>
              <a:spcAft>
                <a:spcPts val="0"/>
              </a:spcAft>
              <a:buClr>
                <a:schemeClr val="accent4">
                  <a:lumMod val="75000"/>
                </a:schemeClr>
              </a:buClr>
              <a:buSzPts val="1976"/>
              <a:buNone/>
            </a:pPr>
            <a:endParaRPr lang="en-US" sz="2000" dirty="0"/>
          </a:p>
        </p:txBody>
      </p:sp>
      <p:pic>
        <p:nvPicPr>
          <p:cNvPr id="7" name="Picture 6">
            <a:extLst>
              <a:ext uri="{FF2B5EF4-FFF2-40B4-BE49-F238E27FC236}">
                <a16:creationId xmlns:a16="http://schemas.microsoft.com/office/drawing/2014/main" id="{2D9610E3-1659-88B8-03CE-0DEB0CCC3132}"/>
              </a:ext>
            </a:extLst>
          </p:cNvPr>
          <p:cNvPicPr>
            <a:picLocks noChangeAspect="1"/>
          </p:cNvPicPr>
          <p:nvPr/>
        </p:nvPicPr>
        <p:blipFill>
          <a:blip r:embed="rId3"/>
          <a:stretch>
            <a:fillRect/>
          </a:stretch>
        </p:blipFill>
        <p:spPr>
          <a:xfrm>
            <a:off x="1280443" y="3745057"/>
            <a:ext cx="6583114" cy="2404308"/>
          </a:xfrm>
          <a:prstGeom prst="rect">
            <a:avLst/>
          </a:prstGeom>
        </p:spPr>
      </p:pic>
    </p:spTree>
    <p:extLst>
      <p:ext uri="{BB962C8B-B14F-4D97-AF65-F5344CB8AC3E}">
        <p14:creationId xmlns:p14="http://schemas.microsoft.com/office/powerpoint/2010/main" val="3141461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33DA86A2-3E4E-7190-8CD3-5AAE2B66041C}"/>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B03D907D-6313-4510-80E8-4C1EBC6E7270}"/>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a:t>Các </a:t>
            </a:r>
            <a:r>
              <a:rPr lang="en-US" dirty="0" err="1"/>
              <a:t>họ</a:t>
            </a:r>
            <a:r>
              <a:rPr lang="en-US" dirty="0"/>
              <a:t> </a:t>
            </a:r>
            <a:r>
              <a:rPr lang="en-US" dirty="0" err="1"/>
              <a:t>thuật</a:t>
            </a:r>
            <a:r>
              <a:rPr lang="en-US" dirty="0"/>
              <a:t> </a:t>
            </a:r>
            <a:r>
              <a:rPr lang="en-US" dirty="0" err="1"/>
              <a:t>toán</a:t>
            </a:r>
            <a:r>
              <a:rPr lang="en-US" dirty="0"/>
              <a:t> MSA</a:t>
            </a:r>
            <a:endParaRPr dirty="0"/>
          </a:p>
        </p:txBody>
      </p:sp>
      <p:sp>
        <p:nvSpPr>
          <p:cNvPr id="3" name="Slide Number Placeholder 2">
            <a:extLst>
              <a:ext uri="{FF2B5EF4-FFF2-40B4-BE49-F238E27FC236}">
                <a16:creationId xmlns:a16="http://schemas.microsoft.com/office/drawing/2014/main" id="{A6034231-A861-7116-82FA-FFB4531F6EDA}"/>
              </a:ext>
            </a:extLst>
          </p:cNvPr>
          <p:cNvSpPr>
            <a:spLocks noGrp="1"/>
          </p:cNvSpPr>
          <p:nvPr>
            <p:ph type="sldNum" idx="12"/>
          </p:nvPr>
        </p:nvSpPr>
        <p:spPr/>
        <p:txBody>
          <a:bodyPr/>
          <a:lstStyle/>
          <a:p>
            <a:r>
              <a:rPr lang="en-US" dirty="0"/>
              <a:t>29</a:t>
            </a:r>
          </a:p>
        </p:txBody>
      </p:sp>
      <p:sp>
        <p:nvSpPr>
          <p:cNvPr id="2" name="Google Shape;138;p3">
            <a:extLst>
              <a:ext uri="{FF2B5EF4-FFF2-40B4-BE49-F238E27FC236}">
                <a16:creationId xmlns:a16="http://schemas.microsoft.com/office/drawing/2014/main" id="{583416C6-5D7D-2FC8-4ED6-70BB6B32EDBF}"/>
              </a:ext>
            </a:extLst>
          </p:cNvPr>
          <p:cNvSpPr txBox="1">
            <a:spLocks noGrp="1"/>
          </p:cNvSpPr>
          <p:nvPr>
            <p:ph type="body" idx="1"/>
          </p:nvPr>
        </p:nvSpPr>
        <p:spPr>
          <a:xfrm>
            <a:off x="540871" y="1143000"/>
            <a:ext cx="4031129" cy="3542553"/>
          </a:xfrm>
          <a:prstGeom prst="rect">
            <a:avLst/>
          </a:prstGeom>
          <a:noFill/>
          <a:ln>
            <a:noFill/>
          </a:ln>
        </p:spPr>
        <p:txBody>
          <a:bodyPr spcFirstLastPara="1" wrap="square" lIns="91425" tIns="45700" rIns="91425" bIns="45700" anchor="t" anchorCtr="0">
            <a:noAutofit/>
          </a:bodyPr>
          <a:lstStyle/>
          <a:p>
            <a:pPr marL="0" lvl="0" indent="0" algn="just">
              <a:lnSpc>
                <a:spcPct val="130000"/>
              </a:lnSpc>
              <a:buClr>
                <a:schemeClr val="accent4">
                  <a:lumMod val="75000"/>
                </a:schemeClr>
              </a:buClr>
              <a:buSzPts val="1976"/>
              <a:buNone/>
            </a:pPr>
            <a:r>
              <a:rPr lang="en-US" sz="1800" dirty="0"/>
              <a:t>7 </a:t>
            </a:r>
            <a:r>
              <a:rPr lang="en-US" sz="1800" dirty="0" err="1"/>
              <a:t>họ</a:t>
            </a:r>
            <a:r>
              <a:rPr lang="en-US" sz="1800" dirty="0"/>
              <a:t> </a:t>
            </a:r>
            <a:r>
              <a:rPr lang="en-US" sz="1800" dirty="0" err="1"/>
              <a:t>thuật</a:t>
            </a:r>
            <a:r>
              <a:rPr lang="en-US" sz="1800" dirty="0"/>
              <a:t> </a:t>
            </a:r>
            <a:r>
              <a:rPr lang="en-US" sz="1800" dirty="0" err="1"/>
              <a:t>toán</a:t>
            </a:r>
            <a:r>
              <a:rPr lang="en-US" sz="1800" dirty="0"/>
              <a:t> MSA </a:t>
            </a:r>
            <a:r>
              <a:rPr lang="en-US" sz="1800" dirty="0" err="1"/>
              <a:t>chính</a:t>
            </a:r>
            <a:r>
              <a:rPr lang="en-US" sz="1800" dirty="0"/>
              <a:t>:</a:t>
            </a:r>
          </a:p>
          <a:p>
            <a:pPr lvl="0" indent="-457200" algn="just">
              <a:lnSpc>
                <a:spcPct val="130000"/>
              </a:lnSpc>
              <a:buClr>
                <a:schemeClr val="accent4">
                  <a:lumMod val="75000"/>
                </a:schemeClr>
              </a:buClr>
              <a:buSzPts val="1976"/>
              <a:buFont typeface="Wingdings" panose="05000000000000000000" pitchFamily="2" charset="2"/>
              <a:buChar char="q"/>
            </a:pPr>
            <a:r>
              <a:rPr lang="en-US" sz="1800" dirty="0"/>
              <a:t>Star</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800" dirty="0"/>
              <a:t>Progressive</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800" dirty="0"/>
              <a:t>Iterative</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800" dirty="0"/>
              <a:t>Evolutionary</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800" dirty="0"/>
              <a:t>HMM-based</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800" dirty="0"/>
              <a:t>Divide &amp; Conquer</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800" dirty="0"/>
              <a:t>Machine Learning</a:t>
            </a:r>
            <a:endParaRPr lang="en-US" sz="2000" dirty="0"/>
          </a:p>
          <a:p>
            <a:pPr marL="0" lvl="0" indent="0" algn="just" rtl="0">
              <a:lnSpc>
                <a:spcPct val="150000"/>
              </a:lnSpc>
              <a:spcAft>
                <a:spcPts val="0"/>
              </a:spcAft>
              <a:buClr>
                <a:schemeClr val="accent4">
                  <a:lumMod val="75000"/>
                </a:schemeClr>
              </a:buClr>
              <a:buSzPts val="1976"/>
              <a:buNone/>
            </a:pPr>
            <a:endParaRPr lang="en-US" sz="2000" dirty="0"/>
          </a:p>
        </p:txBody>
      </p:sp>
      <p:pic>
        <p:nvPicPr>
          <p:cNvPr id="1026" name="Picture 2">
            <a:extLst>
              <a:ext uri="{FF2B5EF4-FFF2-40B4-BE49-F238E27FC236}">
                <a16:creationId xmlns:a16="http://schemas.microsoft.com/office/drawing/2014/main" id="{79D066D5-A650-70F0-F020-462D3D9CE8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09" t="3041" r="13493" b="3003"/>
          <a:stretch>
            <a:fillRect/>
          </a:stretch>
        </p:blipFill>
        <p:spPr bwMode="auto">
          <a:xfrm>
            <a:off x="3376706" y="1272539"/>
            <a:ext cx="5447505" cy="40524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38;p3">
            <a:extLst>
              <a:ext uri="{FF2B5EF4-FFF2-40B4-BE49-F238E27FC236}">
                <a16:creationId xmlns:a16="http://schemas.microsoft.com/office/drawing/2014/main" id="{530A83BF-1A31-0BBA-2BF8-99069F37586B}"/>
              </a:ext>
            </a:extLst>
          </p:cNvPr>
          <p:cNvSpPr txBox="1">
            <a:spLocks/>
          </p:cNvSpPr>
          <p:nvPr/>
        </p:nvSpPr>
        <p:spPr>
          <a:xfrm>
            <a:off x="1949824" y="5325036"/>
            <a:ext cx="5244353" cy="8845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dirty="0"/>
              <a:t>Trong </a:t>
            </a:r>
            <a:r>
              <a:rPr lang="en-US" sz="1800" dirty="0" err="1"/>
              <a:t>thực</a:t>
            </a:r>
            <a:r>
              <a:rPr lang="en-US" sz="1800" dirty="0"/>
              <a:t> </a:t>
            </a:r>
            <a:r>
              <a:rPr lang="en-US" sz="1800" dirty="0" err="1"/>
              <a:t>tiễn</a:t>
            </a:r>
            <a:r>
              <a:rPr lang="en-US" sz="1800" dirty="0"/>
              <a:t>, </a:t>
            </a:r>
            <a:r>
              <a:rPr lang="en-US" sz="1800" b="1" dirty="0"/>
              <a:t>Progressive</a:t>
            </a:r>
            <a:r>
              <a:rPr lang="en-US" sz="1800" dirty="0"/>
              <a:t> </a:t>
            </a:r>
            <a:r>
              <a:rPr lang="en-US" sz="1800" dirty="0" err="1"/>
              <a:t>và</a:t>
            </a:r>
            <a:r>
              <a:rPr lang="en-US" sz="1800" dirty="0"/>
              <a:t> </a:t>
            </a:r>
            <a:r>
              <a:rPr lang="en-US" sz="1800" b="1" dirty="0"/>
              <a:t>Iterative</a:t>
            </a:r>
            <a:r>
              <a:rPr lang="en-US" sz="1800" dirty="0"/>
              <a:t> </a:t>
            </a:r>
            <a:r>
              <a:rPr lang="en-US" sz="1800" dirty="0" err="1"/>
              <a:t>là</a:t>
            </a:r>
            <a:r>
              <a:rPr lang="en-US" sz="1800" dirty="0"/>
              <a:t> </a:t>
            </a:r>
            <a:r>
              <a:rPr lang="en-US" sz="1800" dirty="0" err="1"/>
              <a:t>hai</a:t>
            </a:r>
            <a:r>
              <a:rPr lang="en-US" sz="1800" dirty="0"/>
              <a:t> </a:t>
            </a:r>
            <a:r>
              <a:rPr lang="en-US" sz="1800" dirty="0" err="1"/>
              <a:t>họ</a:t>
            </a:r>
            <a:r>
              <a:rPr lang="en-US" sz="1800" dirty="0"/>
              <a:t> </a:t>
            </a:r>
            <a:r>
              <a:rPr lang="en-US" sz="1800" dirty="0" err="1"/>
              <a:t>thuật</a:t>
            </a:r>
            <a:r>
              <a:rPr lang="en-US" sz="1800" dirty="0"/>
              <a:t> </a:t>
            </a:r>
            <a:r>
              <a:rPr lang="en-US" sz="1800" dirty="0" err="1"/>
              <a:t>toán</a:t>
            </a:r>
            <a:r>
              <a:rPr lang="en-US" sz="1800" dirty="0"/>
              <a:t> </a:t>
            </a:r>
            <a:r>
              <a:rPr lang="en-US" sz="1800" dirty="0" err="1"/>
              <a:t>truyền</a:t>
            </a:r>
            <a:r>
              <a:rPr lang="en-US" sz="1800" dirty="0"/>
              <a:t> </a:t>
            </a:r>
            <a:r>
              <a:rPr lang="en-US" sz="1800" dirty="0" err="1"/>
              <a:t>thống</a:t>
            </a:r>
            <a:r>
              <a:rPr lang="en-US" sz="1800" dirty="0"/>
              <a:t> </a:t>
            </a:r>
            <a:r>
              <a:rPr lang="en-US" sz="1800" dirty="0" err="1"/>
              <a:t>được</a:t>
            </a:r>
            <a:r>
              <a:rPr lang="en-US" sz="1800" dirty="0"/>
              <a:t> </a:t>
            </a:r>
            <a:r>
              <a:rPr lang="en-US" sz="1800" dirty="0" err="1"/>
              <a:t>ứng</a:t>
            </a:r>
            <a:r>
              <a:rPr lang="en-US" sz="1800" dirty="0"/>
              <a:t> </a:t>
            </a:r>
            <a:r>
              <a:rPr lang="en-US" sz="1800" dirty="0" err="1"/>
              <a:t>dụng</a:t>
            </a:r>
            <a:r>
              <a:rPr lang="en-US" sz="1800" dirty="0"/>
              <a:t> </a:t>
            </a:r>
            <a:r>
              <a:rPr lang="en-US" sz="1800" dirty="0" err="1"/>
              <a:t>rộng</a:t>
            </a:r>
            <a:r>
              <a:rPr lang="en-US" sz="1800" dirty="0"/>
              <a:t> </a:t>
            </a:r>
            <a:r>
              <a:rPr lang="en-US" sz="1800" dirty="0" err="1"/>
              <a:t>rãi</a:t>
            </a:r>
            <a:r>
              <a:rPr lang="en-US" sz="1800" dirty="0"/>
              <a:t> </a:t>
            </a:r>
            <a:r>
              <a:rPr lang="en-US" sz="1800" dirty="0" err="1"/>
              <a:t>nhất</a:t>
            </a:r>
            <a:r>
              <a:rPr lang="en-US" sz="1800" dirty="0"/>
              <a:t>.</a:t>
            </a:r>
          </a:p>
          <a:p>
            <a:pPr marL="0" indent="0" algn="just">
              <a:lnSpc>
                <a:spcPct val="130000"/>
              </a:lnSpc>
              <a:buClr>
                <a:schemeClr val="accent4">
                  <a:lumMod val="75000"/>
                </a:schemeClr>
              </a:buClr>
              <a:buSzPts val="1976"/>
              <a:buFont typeface="Noto Sans Symbols"/>
              <a:buNone/>
            </a:pPr>
            <a:endParaRPr lang="en-US" sz="1800" dirty="0"/>
          </a:p>
        </p:txBody>
      </p:sp>
    </p:spTree>
    <p:extLst>
      <p:ext uri="{BB962C8B-B14F-4D97-AF65-F5344CB8AC3E}">
        <p14:creationId xmlns:p14="http://schemas.microsoft.com/office/powerpoint/2010/main" val="3195744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50065692-52C9-AD95-51AB-4410FB5A9B89}"/>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7F5024A8-4A50-321B-ABE9-A17E29EFDB91}"/>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a:t>Progressive Alignment</a:t>
            </a:r>
            <a:endParaRPr dirty="0"/>
          </a:p>
        </p:txBody>
      </p:sp>
      <p:sp>
        <p:nvSpPr>
          <p:cNvPr id="3" name="Slide Number Placeholder 2">
            <a:extLst>
              <a:ext uri="{FF2B5EF4-FFF2-40B4-BE49-F238E27FC236}">
                <a16:creationId xmlns:a16="http://schemas.microsoft.com/office/drawing/2014/main" id="{2E89EBE0-6827-B02F-E269-62A7E09D34D8}"/>
              </a:ext>
            </a:extLst>
          </p:cNvPr>
          <p:cNvSpPr>
            <a:spLocks noGrp="1"/>
          </p:cNvSpPr>
          <p:nvPr>
            <p:ph type="sldNum" idx="12"/>
          </p:nvPr>
        </p:nvSpPr>
        <p:spPr/>
        <p:txBody>
          <a:bodyPr/>
          <a:lstStyle/>
          <a:p>
            <a:r>
              <a:rPr lang="en-US" dirty="0"/>
              <a:t>30</a:t>
            </a:r>
          </a:p>
        </p:txBody>
      </p:sp>
      <p:sp>
        <p:nvSpPr>
          <p:cNvPr id="2" name="Google Shape;138;p3">
            <a:extLst>
              <a:ext uri="{FF2B5EF4-FFF2-40B4-BE49-F238E27FC236}">
                <a16:creationId xmlns:a16="http://schemas.microsoft.com/office/drawing/2014/main" id="{E7B646CD-B9AB-E993-96B7-D3533FCBC89F}"/>
              </a:ext>
            </a:extLst>
          </p:cNvPr>
          <p:cNvSpPr txBox="1">
            <a:spLocks noGrp="1"/>
          </p:cNvSpPr>
          <p:nvPr>
            <p:ph type="body" idx="1"/>
          </p:nvPr>
        </p:nvSpPr>
        <p:spPr>
          <a:xfrm>
            <a:off x="540871" y="1143000"/>
            <a:ext cx="7677006" cy="4841631"/>
          </a:xfrm>
          <a:prstGeom prst="rect">
            <a:avLst/>
          </a:prstGeom>
          <a:noFill/>
          <a:ln>
            <a:noFill/>
          </a:ln>
        </p:spPr>
        <p:txBody>
          <a:bodyPr spcFirstLastPara="1" wrap="square" lIns="91425" tIns="45700" rIns="91425" bIns="45700" anchor="t" anchorCtr="0">
            <a:noAutofit/>
          </a:bodyPr>
          <a:lstStyle/>
          <a:p>
            <a:pPr marL="0" lvl="0" indent="0" algn="just">
              <a:lnSpc>
                <a:spcPct val="130000"/>
              </a:lnSpc>
              <a:buClr>
                <a:schemeClr val="accent4">
                  <a:lumMod val="75000"/>
                </a:schemeClr>
              </a:buClr>
              <a:buSzPts val="1976"/>
              <a:buNone/>
            </a:pPr>
            <a:r>
              <a:rPr lang="en-US" sz="1600" b="1" dirty="0"/>
              <a:t>Các </a:t>
            </a:r>
            <a:r>
              <a:rPr lang="en-US" sz="1600" b="1" dirty="0" err="1"/>
              <a:t>bước</a:t>
            </a:r>
            <a:r>
              <a:rPr lang="en-US" sz="1600" b="1" dirty="0"/>
              <a:t> </a:t>
            </a:r>
            <a:r>
              <a:rPr lang="en-US" sz="1600" b="1" dirty="0" err="1"/>
              <a:t>hoạt</a:t>
            </a:r>
            <a:r>
              <a:rPr lang="en-US" sz="1600" b="1" dirty="0"/>
              <a:t> </a:t>
            </a:r>
            <a:r>
              <a:rPr lang="en-US" sz="1600" b="1" dirty="0" err="1"/>
              <a:t>động</a:t>
            </a:r>
            <a:r>
              <a:rPr lang="en-US" sz="1600" b="1" dirty="0"/>
              <a:t> </a:t>
            </a:r>
            <a:r>
              <a:rPr lang="en-US" sz="1600" b="1" dirty="0" err="1"/>
              <a:t>của</a:t>
            </a:r>
            <a:r>
              <a:rPr lang="en-US" sz="1600" b="1" dirty="0"/>
              <a:t> </a:t>
            </a:r>
            <a:r>
              <a:rPr lang="en-US" sz="1600" b="1" dirty="0" err="1"/>
              <a:t>phương</a:t>
            </a:r>
            <a:r>
              <a:rPr lang="en-US" sz="1600" b="1" dirty="0"/>
              <a:t> </a:t>
            </a:r>
            <a:r>
              <a:rPr lang="en-US" sz="1600" b="1" dirty="0" err="1"/>
              <a:t>pháp</a:t>
            </a:r>
            <a:r>
              <a:rPr lang="en-US" sz="1600" b="1" dirty="0"/>
              <a:t> Progressive Alignment:</a:t>
            </a:r>
          </a:p>
          <a:p>
            <a:pPr lvl="0" indent="-457200" algn="just">
              <a:lnSpc>
                <a:spcPct val="130000"/>
              </a:lnSpc>
              <a:buClr>
                <a:schemeClr val="accent4">
                  <a:lumMod val="75000"/>
                </a:schemeClr>
              </a:buClr>
              <a:buSzPts val="1976"/>
              <a:buFont typeface="Wingdings" panose="05000000000000000000" pitchFamily="2" charset="2"/>
              <a:buChar char="q"/>
            </a:pPr>
            <a:r>
              <a:rPr lang="en-US" sz="1600" b="1" dirty="0" err="1"/>
              <a:t>Tính</a:t>
            </a:r>
            <a:r>
              <a:rPr lang="en-US" sz="1600" b="1" dirty="0"/>
              <a:t> </a:t>
            </a:r>
            <a:r>
              <a:rPr lang="en-US" sz="1600" b="1" dirty="0" err="1"/>
              <a:t>toán</a:t>
            </a:r>
            <a:r>
              <a:rPr lang="en-US" sz="1600" b="1" dirty="0"/>
              <a:t> ma </a:t>
            </a:r>
            <a:r>
              <a:rPr lang="en-US" sz="1600" b="1" dirty="0" err="1"/>
              <a:t>trận</a:t>
            </a:r>
            <a:r>
              <a:rPr lang="en-US" sz="1600" b="1" dirty="0"/>
              <a:t> </a:t>
            </a:r>
            <a:r>
              <a:rPr lang="en-US" sz="1600" b="1" dirty="0" err="1"/>
              <a:t>khoảng</a:t>
            </a:r>
            <a:r>
              <a:rPr lang="en-US" sz="1600" b="1" dirty="0"/>
              <a:t> </a:t>
            </a:r>
            <a:r>
              <a:rPr lang="en-US" sz="1600" b="1" dirty="0" err="1"/>
              <a:t>cách</a:t>
            </a:r>
            <a:r>
              <a:rPr lang="en-US" sz="1600" b="1" dirty="0"/>
              <a:t> (Distance Matrix):</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err="1"/>
              <a:t>Thực</a:t>
            </a:r>
            <a:r>
              <a:rPr lang="en-US" sz="1400" dirty="0"/>
              <a:t> </a:t>
            </a:r>
            <a:r>
              <a:rPr lang="en-US" sz="1400" dirty="0" err="1"/>
              <a:t>hiện</a:t>
            </a:r>
            <a:r>
              <a:rPr lang="en-US" sz="1400" dirty="0"/>
              <a:t> PSA </a:t>
            </a:r>
            <a:r>
              <a:rPr lang="en-US" sz="1400" dirty="0" err="1"/>
              <a:t>cho</a:t>
            </a:r>
            <a:r>
              <a:rPr lang="en-US" sz="1400" dirty="0"/>
              <a:t> </a:t>
            </a:r>
            <a:r>
              <a:rPr lang="en-US" sz="1400" dirty="0" err="1"/>
              <a:t>tất</a:t>
            </a:r>
            <a:r>
              <a:rPr lang="en-US" sz="1400" dirty="0"/>
              <a:t> </a:t>
            </a:r>
            <a:r>
              <a:rPr lang="en-US" sz="1400" dirty="0" err="1"/>
              <a:t>cả</a:t>
            </a:r>
            <a:r>
              <a:rPr lang="en-US" sz="1400" dirty="0"/>
              <a:t> </a:t>
            </a:r>
            <a:r>
              <a:rPr lang="en-US" sz="1400" dirty="0" err="1"/>
              <a:t>các</a:t>
            </a:r>
            <a:r>
              <a:rPr lang="en-US" sz="1400" dirty="0"/>
              <a:t> </a:t>
            </a:r>
            <a:r>
              <a:rPr lang="en-US" sz="1400" dirty="0" err="1"/>
              <a:t>tổ</a:t>
            </a:r>
            <a:r>
              <a:rPr lang="en-US" sz="1400" dirty="0"/>
              <a:t> </a:t>
            </a:r>
            <a:r>
              <a:rPr lang="en-US" sz="1400" dirty="0" err="1"/>
              <a:t>hợp</a:t>
            </a:r>
            <a:r>
              <a:rPr lang="en-US" sz="1400" dirty="0"/>
              <a:t> </a:t>
            </a:r>
            <a:r>
              <a:rPr lang="en-US" sz="1400" dirty="0" err="1"/>
              <a:t>cặp</a:t>
            </a:r>
            <a:r>
              <a:rPr lang="en-US" sz="1400" dirty="0"/>
              <a:t> </a:t>
            </a:r>
            <a:r>
              <a:rPr lang="en-US" sz="1400" dirty="0" err="1"/>
              <a:t>trình</a:t>
            </a:r>
            <a:r>
              <a:rPr lang="en-US" sz="1400" dirty="0"/>
              <a:t> </a:t>
            </a:r>
            <a:r>
              <a:rPr lang="en-US" sz="1400" dirty="0" err="1"/>
              <a:t>tự</a:t>
            </a:r>
            <a:r>
              <a:rPr lang="en-US" sz="1400" dirty="0"/>
              <a:t> </a:t>
            </a:r>
            <a:r>
              <a:rPr lang="en-US" sz="1400" dirty="0" err="1"/>
              <a:t>có</a:t>
            </a:r>
            <a:r>
              <a:rPr lang="en-US" sz="1400" dirty="0"/>
              <a:t> </a:t>
            </a:r>
            <a:r>
              <a:rPr lang="en-US" sz="1400" dirty="0" err="1"/>
              <a:t>trong</a:t>
            </a:r>
            <a:r>
              <a:rPr lang="en-US" sz="1400" dirty="0"/>
              <a:t> </a:t>
            </a:r>
            <a:r>
              <a:rPr lang="en-US" sz="1400" dirty="0" err="1"/>
              <a:t>tập</a:t>
            </a:r>
            <a:r>
              <a:rPr lang="en-US" sz="1400" dirty="0"/>
              <a:t> </a:t>
            </a:r>
            <a:r>
              <a:rPr lang="en-US" sz="1400" dirty="0" err="1"/>
              <a:t>dữ</a:t>
            </a:r>
            <a:r>
              <a:rPr lang="en-US" sz="1400" dirty="0"/>
              <a:t> </a:t>
            </a:r>
            <a:r>
              <a:rPr lang="en-US" sz="1400" dirty="0" err="1"/>
              <a:t>liệu</a:t>
            </a:r>
            <a:r>
              <a:rPr lang="en-US" sz="1400" dirty="0"/>
              <a:t>.</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err="1"/>
              <a:t>Dựa</a:t>
            </a:r>
            <a:r>
              <a:rPr lang="en-US" sz="1400" dirty="0"/>
              <a:t> </a:t>
            </a:r>
            <a:r>
              <a:rPr lang="en-US" sz="1400" dirty="0" err="1"/>
              <a:t>vào</a:t>
            </a:r>
            <a:r>
              <a:rPr lang="en-US" sz="1400" dirty="0"/>
              <a:t> </a:t>
            </a:r>
            <a:r>
              <a:rPr lang="en-US" sz="1400" dirty="0" err="1"/>
              <a:t>điểm</a:t>
            </a:r>
            <a:r>
              <a:rPr lang="en-US" sz="1400" dirty="0"/>
              <a:t> </a:t>
            </a:r>
            <a:r>
              <a:rPr lang="en-US" sz="1400" dirty="0" err="1"/>
              <a:t>số</a:t>
            </a:r>
            <a:r>
              <a:rPr lang="en-US" sz="1400" dirty="0"/>
              <a:t> </a:t>
            </a:r>
            <a:r>
              <a:rPr lang="en-US" sz="1400" dirty="0" err="1"/>
              <a:t>gióng</a:t>
            </a:r>
            <a:r>
              <a:rPr lang="en-US" sz="1400" dirty="0"/>
              <a:t> </a:t>
            </a:r>
            <a:r>
              <a:rPr lang="en-US" sz="1400" dirty="0" err="1"/>
              <a:t>hàng</a:t>
            </a:r>
            <a:r>
              <a:rPr lang="en-US" sz="1400" dirty="0"/>
              <a:t> </a:t>
            </a:r>
            <a:r>
              <a:rPr lang="en-US" sz="1400" dirty="0" err="1"/>
              <a:t>để</a:t>
            </a:r>
            <a:r>
              <a:rPr lang="en-US" sz="1400" dirty="0"/>
              <a:t> </a:t>
            </a:r>
            <a:r>
              <a:rPr lang="en-US" sz="1400" dirty="0" err="1"/>
              <a:t>tạo</a:t>
            </a:r>
            <a:r>
              <a:rPr lang="en-US" sz="1400" dirty="0"/>
              <a:t> ma </a:t>
            </a:r>
            <a:r>
              <a:rPr lang="en-US" sz="1400" dirty="0" err="1"/>
              <a:t>trận</a:t>
            </a:r>
            <a:r>
              <a:rPr lang="en-US" sz="1400" dirty="0"/>
              <a:t> </a:t>
            </a:r>
            <a:r>
              <a:rPr lang="en-US" sz="1400" dirty="0" err="1"/>
              <a:t>khoảng</a:t>
            </a:r>
            <a:r>
              <a:rPr lang="en-US" sz="1400" dirty="0"/>
              <a:t> </a:t>
            </a:r>
            <a:r>
              <a:rPr lang="en-US" sz="1400" dirty="0" err="1"/>
              <a:t>cách</a:t>
            </a:r>
            <a:r>
              <a:rPr lang="en-US" sz="1400" dirty="0"/>
              <a:t>.</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600" b="1" dirty="0" err="1"/>
              <a:t>Xây</a:t>
            </a:r>
            <a:r>
              <a:rPr lang="en-US" sz="1600" b="1" dirty="0"/>
              <a:t> </a:t>
            </a:r>
            <a:r>
              <a:rPr lang="en-US" sz="1600" b="1" dirty="0" err="1"/>
              <a:t>dựng</a:t>
            </a:r>
            <a:r>
              <a:rPr lang="en-US" sz="1600" b="1" dirty="0"/>
              <a:t> </a:t>
            </a:r>
            <a:r>
              <a:rPr lang="en-US" sz="1600" b="1" dirty="0" err="1"/>
              <a:t>cây</a:t>
            </a:r>
            <a:r>
              <a:rPr lang="en-US" sz="1600" b="1" dirty="0"/>
              <a:t> </a:t>
            </a:r>
            <a:r>
              <a:rPr lang="en-US" sz="1600" b="1" dirty="0" err="1"/>
              <a:t>hướng</a:t>
            </a:r>
            <a:r>
              <a:rPr lang="en-US" sz="1600" b="1" dirty="0"/>
              <a:t> </a:t>
            </a:r>
            <a:r>
              <a:rPr lang="en-US" sz="1600" b="1" dirty="0" err="1"/>
              <a:t>dẫn</a:t>
            </a:r>
            <a:r>
              <a:rPr lang="en-US" sz="1600" b="1" dirty="0"/>
              <a:t> (Guide Tree):</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err="1"/>
              <a:t>Chức</a:t>
            </a:r>
            <a:r>
              <a:rPr lang="en-US" sz="1400" dirty="0"/>
              <a:t> </a:t>
            </a:r>
            <a:r>
              <a:rPr lang="en-US" sz="1400" dirty="0" err="1"/>
              <a:t>năng</a:t>
            </a:r>
            <a:r>
              <a:rPr lang="en-US" sz="1400" dirty="0"/>
              <a:t> </a:t>
            </a:r>
            <a:r>
              <a:rPr lang="en-US" sz="1400" dirty="0" err="1"/>
              <a:t>chính</a:t>
            </a:r>
            <a:r>
              <a:rPr lang="en-US" sz="1400" dirty="0"/>
              <a:t> </a:t>
            </a:r>
            <a:r>
              <a:rPr lang="en-US" sz="1400" dirty="0" err="1"/>
              <a:t>của</a:t>
            </a:r>
            <a:r>
              <a:rPr lang="en-US" sz="1400" dirty="0"/>
              <a:t> </a:t>
            </a:r>
            <a:r>
              <a:rPr lang="en-US" sz="1400" dirty="0" err="1"/>
              <a:t>cây</a:t>
            </a:r>
            <a:r>
              <a:rPr lang="en-US" sz="1400" dirty="0"/>
              <a:t> </a:t>
            </a:r>
            <a:r>
              <a:rPr lang="en-US" sz="1400" dirty="0" err="1"/>
              <a:t>là</a:t>
            </a:r>
            <a:r>
              <a:rPr lang="en-US" sz="1400" dirty="0"/>
              <a:t> </a:t>
            </a:r>
            <a:r>
              <a:rPr lang="en-US" sz="1400" dirty="0" err="1"/>
              <a:t>chỉ</a:t>
            </a:r>
            <a:r>
              <a:rPr lang="en-US" sz="1400" dirty="0"/>
              <a:t> </a:t>
            </a:r>
            <a:r>
              <a:rPr lang="en-US" sz="1400" dirty="0" err="1"/>
              <a:t>ra</a:t>
            </a:r>
            <a:r>
              <a:rPr lang="en-US" sz="1400" dirty="0"/>
              <a:t> </a:t>
            </a:r>
            <a:r>
              <a:rPr lang="en-US" sz="1400" dirty="0" err="1"/>
              <a:t>thứ</a:t>
            </a:r>
            <a:r>
              <a:rPr lang="en-US" sz="1400" dirty="0"/>
              <a:t> </a:t>
            </a:r>
            <a:r>
              <a:rPr lang="en-US" sz="1400" dirty="0" err="1"/>
              <a:t>tự</a:t>
            </a:r>
            <a:r>
              <a:rPr lang="en-US" sz="1400" dirty="0"/>
              <a:t> </a:t>
            </a:r>
            <a:r>
              <a:rPr lang="en-US" sz="1400" dirty="0" err="1"/>
              <a:t>thực</a:t>
            </a:r>
            <a:r>
              <a:rPr lang="en-US" sz="1400" dirty="0"/>
              <a:t> </a:t>
            </a:r>
            <a:r>
              <a:rPr lang="en-US" sz="1400" dirty="0" err="1"/>
              <a:t>hiện</a:t>
            </a:r>
            <a:r>
              <a:rPr lang="en-US" sz="1400" dirty="0"/>
              <a:t> </a:t>
            </a:r>
            <a:r>
              <a:rPr lang="en-US" sz="1400" dirty="0" err="1"/>
              <a:t>gióng</a:t>
            </a:r>
            <a:r>
              <a:rPr lang="en-US" sz="1400" dirty="0"/>
              <a:t> </a:t>
            </a:r>
            <a:r>
              <a:rPr lang="en-US" sz="1400" dirty="0" err="1"/>
              <a:t>hàng</a:t>
            </a:r>
            <a:r>
              <a:rPr lang="en-US" sz="1400" dirty="0"/>
              <a:t>.</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a:t>Các </a:t>
            </a:r>
            <a:r>
              <a:rPr lang="en-US" sz="1400" dirty="0" err="1"/>
              <a:t>trình</a:t>
            </a:r>
            <a:r>
              <a:rPr lang="en-US" sz="1400" dirty="0"/>
              <a:t> </a:t>
            </a:r>
            <a:r>
              <a:rPr lang="en-US" sz="1400" dirty="0" err="1"/>
              <a:t>tự</a:t>
            </a:r>
            <a:r>
              <a:rPr lang="en-US" sz="1400" dirty="0"/>
              <a:t> </a:t>
            </a:r>
            <a:r>
              <a:rPr lang="en-US" sz="1400" dirty="0" err="1"/>
              <a:t>giống</a:t>
            </a:r>
            <a:r>
              <a:rPr lang="en-US" sz="1400" dirty="0"/>
              <a:t> </a:t>
            </a:r>
            <a:r>
              <a:rPr lang="en-US" sz="1400" dirty="0" err="1"/>
              <a:t>nhau</a:t>
            </a:r>
            <a:r>
              <a:rPr lang="en-US" sz="1400" dirty="0"/>
              <a:t> </a:t>
            </a:r>
            <a:r>
              <a:rPr lang="en-US" sz="1400" dirty="0" err="1"/>
              <a:t>nhất</a:t>
            </a:r>
            <a:r>
              <a:rPr lang="en-US" sz="1400" dirty="0"/>
              <a:t> </a:t>
            </a:r>
            <a:r>
              <a:rPr lang="en-US" sz="1400" dirty="0" err="1"/>
              <a:t>sẽ</a:t>
            </a:r>
            <a:r>
              <a:rPr lang="en-US" sz="1400" dirty="0"/>
              <a:t> </a:t>
            </a:r>
            <a:r>
              <a:rPr lang="en-US" sz="1400" dirty="0" err="1"/>
              <a:t>nằm</a:t>
            </a:r>
            <a:r>
              <a:rPr lang="en-US" sz="1400" dirty="0"/>
              <a:t> </a:t>
            </a:r>
            <a:r>
              <a:rPr lang="en-US" sz="1400" dirty="0" err="1"/>
              <a:t>chung</a:t>
            </a:r>
            <a:r>
              <a:rPr lang="en-US" sz="1400" dirty="0"/>
              <a:t> </a:t>
            </a:r>
            <a:r>
              <a:rPr lang="en-US" sz="1400" dirty="0" err="1"/>
              <a:t>trên</a:t>
            </a:r>
            <a:r>
              <a:rPr lang="en-US" sz="1400" dirty="0"/>
              <a:t> </a:t>
            </a:r>
            <a:r>
              <a:rPr lang="en-US" sz="1400" dirty="0" err="1"/>
              <a:t>các</a:t>
            </a:r>
            <a:r>
              <a:rPr lang="en-US" sz="1400" dirty="0"/>
              <a:t> </a:t>
            </a:r>
            <a:r>
              <a:rPr lang="en-US" sz="1400" dirty="0" err="1"/>
              <a:t>nhánh</a:t>
            </a:r>
            <a:r>
              <a:rPr lang="en-US" sz="1400" dirty="0"/>
              <a:t> </a:t>
            </a:r>
            <a:r>
              <a:rPr lang="en-US" sz="1400" dirty="0" err="1"/>
              <a:t>gần</a:t>
            </a:r>
            <a:r>
              <a:rPr lang="en-US" sz="1400" dirty="0"/>
              <a:t> </a:t>
            </a:r>
            <a:r>
              <a:rPr lang="en-US" sz="1400" dirty="0" err="1"/>
              <a:t>nhau</a:t>
            </a:r>
            <a:r>
              <a:rPr lang="en-US" sz="1400" dirty="0"/>
              <a:t>.</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600" b="1" dirty="0" err="1"/>
              <a:t>Sắp</a:t>
            </a:r>
            <a:r>
              <a:rPr lang="en-US" sz="1600" b="1" dirty="0"/>
              <a:t> </a:t>
            </a:r>
            <a:r>
              <a:rPr lang="en-US" sz="1600" b="1" dirty="0" err="1"/>
              <a:t>hàng</a:t>
            </a:r>
            <a:r>
              <a:rPr lang="en-US" sz="1600" b="1" dirty="0"/>
              <a:t> </a:t>
            </a:r>
            <a:r>
              <a:rPr lang="en-US" sz="1600" b="1" dirty="0" err="1"/>
              <a:t>đa</a:t>
            </a:r>
            <a:r>
              <a:rPr lang="en-US" sz="1600" b="1" dirty="0"/>
              <a:t> </a:t>
            </a:r>
            <a:r>
              <a:rPr lang="en-US" sz="1600" b="1" dirty="0" err="1"/>
              <a:t>trình</a:t>
            </a:r>
            <a:r>
              <a:rPr lang="en-US" sz="1600" b="1" dirty="0"/>
              <a:t> </a:t>
            </a:r>
            <a:r>
              <a:rPr lang="en-US" sz="1600" b="1" dirty="0" err="1"/>
              <a:t>tự</a:t>
            </a:r>
            <a:r>
              <a:rPr lang="en-US" sz="1600" b="1" dirty="0"/>
              <a:t> </a:t>
            </a:r>
            <a:r>
              <a:rPr lang="en-US" sz="1600" b="1" dirty="0" err="1"/>
              <a:t>dần</a:t>
            </a:r>
            <a:r>
              <a:rPr lang="en-US" sz="1600" b="1" dirty="0"/>
              <a:t> </a:t>
            </a:r>
            <a:r>
              <a:rPr lang="en-US" sz="1600" b="1" dirty="0" err="1"/>
              <a:t>dần</a:t>
            </a:r>
            <a:r>
              <a:rPr lang="en-US" sz="1600" b="1" dirty="0"/>
              <a:t> (Progressive Alignment):</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err="1"/>
              <a:t>Chọn</a:t>
            </a:r>
            <a:r>
              <a:rPr lang="en-US" sz="1400" dirty="0"/>
              <a:t> 2 </a:t>
            </a:r>
            <a:r>
              <a:rPr lang="en-US" sz="1400" dirty="0" err="1"/>
              <a:t>trình</a:t>
            </a:r>
            <a:r>
              <a:rPr lang="en-US" sz="1400" dirty="0"/>
              <a:t> </a:t>
            </a:r>
            <a:r>
              <a:rPr lang="en-US" sz="1400" dirty="0" err="1"/>
              <a:t>tự</a:t>
            </a:r>
            <a:r>
              <a:rPr lang="en-US" sz="1400" dirty="0"/>
              <a:t> </a:t>
            </a:r>
            <a:r>
              <a:rPr lang="en-US" sz="1400" dirty="0" err="1"/>
              <a:t>gần</a:t>
            </a:r>
            <a:r>
              <a:rPr lang="en-US" sz="1400" dirty="0"/>
              <a:t> </a:t>
            </a:r>
            <a:r>
              <a:rPr lang="en-US" sz="1400" dirty="0" err="1"/>
              <a:t>nhau</a:t>
            </a:r>
            <a:r>
              <a:rPr lang="en-US" sz="1400" dirty="0"/>
              <a:t> </a:t>
            </a:r>
            <a:r>
              <a:rPr lang="en-US" sz="1400" dirty="0" err="1"/>
              <a:t>nhất</a:t>
            </a:r>
            <a:r>
              <a:rPr lang="en-US" sz="1400" dirty="0"/>
              <a:t> </a:t>
            </a:r>
            <a:r>
              <a:rPr lang="en-US" sz="1400" dirty="0" err="1"/>
              <a:t>trên</a:t>
            </a:r>
            <a:r>
              <a:rPr lang="en-US" sz="1400" dirty="0"/>
              <a:t> </a:t>
            </a:r>
            <a:r>
              <a:rPr lang="en-US" sz="1400" dirty="0" err="1"/>
              <a:t>cây</a:t>
            </a:r>
            <a:r>
              <a:rPr lang="en-US" sz="1400" dirty="0"/>
              <a:t> </a:t>
            </a:r>
            <a:r>
              <a:rPr lang="en-US" sz="1400" dirty="0" err="1"/>
              <a:t>và</a:t>
            </a:r>
            <a:r>
              <a:rPr lang="en-US" sz="1400" dirty="0"/>
              <a:t> </a:t>
            </a:r>
            <a:r>
              <a:rPr lang="en-US" sz="1400" dirty="0" err="1"/>
              <a:t>gióng</a:t>
            </a:r>
            <a:r>
              <a:rPr lang="en-US" sz="1400" dirty="0"/>
              <a:t> </a:t>
            </a:r>
            <a:r>
              <a:rPr lang="en-US" sz="1400" dirty="0" err="1"/>
              <a:t>hàng</a:t>
            </a:r>
            <a:r>
              <a:rPr lang="en-US" sz="1400" dirty="0"/>
              <a:t> </a:t>
            </a:r>
            <a:r>
              <a:rPr lang="en-US" sz="1400" dirty="0" err="1"/>
              <a:t>chúng</a:t>
            </a:r>
            <a:r>
              <a:rPr lang="en-US" sz="1400" dirty="0"/>
              <a:t> </a:t>
            </a:r>
            <a:r>
              <a:rPr lang="en-US" sz="1400" dirty="0" err="1"/>
              <a:t>với</a:t>
            </a:r>
            <a:r>
              <a:rPr lang="en-US" sz="1400" dirty="0"/>
              <a:t> </a:t>
            </a:r>
            <a:r>
              <a:rPr lang="en-US" sz="1400" dirty="0" err="1"/>
              <a:t>nhau</a:t>
            </a:r>
            <a:r>
              <a:rPr lang="en-US" sz="1400" dirty="0"/>
              <a:t> </a:t>
            </a:r>
            <a:r>
              <a:rPr lang="en-US" sz="1400" dirty="0" err="1"/>
              <a:t>để</a:t>
            </a:r>
            <a:r>
              <a:rPr lang="en-US" sz="1400" dirty="0"/>
              <a:t> </a:t>
            </a:r>
            <a:r>
              <a:rPr lang="en-US" sz="1400" dirty="0" err="1"/>
              <a:t>tạo</a:t>
            </a:r>
            <a:r>
              <a:rPr lang="en-US" sz="1400" dirty="0"/>
              <a:t> </a:t>
            </a:r>
            <a:r>
              <a:rPr lang="en-US" sz="1400" dirty="0" err="1"/>
              <a:t>thành</a:t>
            </a:r>
            <a:r>
              <a:rPr lang="en-US" sz="1400" dirty="0"/>
              <a:t> </a:t>
            </a:r>
            <a:r>
              <a:rPr lang="en-US" sz="1400" dirty="0" err="1"/>
              <a:t>một</a:t>
            </a:r>
            <a:r>
              <a:rPr lang="en-US" sz="1400" dirty="0"/>
              <a:t> </a:t>
            </a:r>
            <a:r>
              <a:rPr lang="en-US" sz="1400" dirty="0" err="1"/>
              <a:t>nhóm</a:t>
            </a:r>
            <a:r>
              <a:rPr lang="en-US" sz="1400" dirty="0"/>
              <a:t> </a:t>
            </a:r>
            <a:r>
              <a:rPr lang="en-US" sz="1400" dirty="0" err="1"/>
              <a:t>chung</a:t>
            </a:r>
            <a:r>
              <a:rPr lang="en-US" sz="1400" dirty="0"/>
              <a:t>.</a:t>
            </a:r>
          </a:p>
          <a:p>
            <a:pPr lvl="1" indent="-457200" algn="just">
              <a:lnSpc>
                <a:spcPct val="130000"/>
              </a:lnSpc>
              <a:buClr>
                <a:schemeClr val="accent4">
                  <a:lumMod val="75000"/>
                </a:schemeClr>
              </a:buClr>
              <a:buSzPts val="1976"/>
              <a:buFont typeface="Courier New" panose="02070309020205020404" pitchFamily="49" charset="0"/>
              <a:buChar char="o"/>
            </a:pPr>
            <a:r>
              <a:rPr lang="vi-VN" sz="1400" dirty="0"/>
              <a:t>Di chuyển tiếp lên nhánh của cây, thuật toán có thể lấy một trình tự thứ ba để gióng hàng </a:t>
            </a:r>
            <a:r>
              <a:rPr lang="en-US" sz="1400" dirty="0" err="1"/>
              <a:t>nhóm</a:t>
            </a:r>
            <a:r>
              <a:rPr lang="en-US" sz="1400" dirty="0"/>
              <a:t> </a:t>
            </a:r>
            <a:r>
              <a:rPr lang="vi-VN" sz="1400" dirty="0"/>
              <a:t>vừa tạo ở bước 1, hoặc gióng hàng hai </a:t>
            </a:r>
            <a:r>
              <a:rPr lang="en-US" sz="1400" dirty="0" err="1"/>
              <a:t>nhóm</a:t>
            </a:r>
            <a:r>
              <a:rPr lang="en-US" sz="1400" dirty="0"/>
              <a:t> </a:t>
            </a:r>
            <a:r>
              <a:rPr lang="vi-VN" sz="1400" dirty="0"/>
              <a:t>của hai nhánh riêng biệt với nhau.</a:t>
            </a:r>
            <a:endParaRPr lang="en-US" sz="1400" dirty="0"/>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err="1"/>
              <a:t>Quá</a:t>
            </a:r>
            <a:r>
              <a:rPr lang="en-US" sz="1400" dirty="0"/>
              <a:t> </a:t>
            </a:r>
            <a:r>
              <a:rPr lang="en-US" sz="1400" dirty="0" err="1"/>
              <a:t>trình</a:t>
            </a:r>
            <a:r>
              <a:rPr lang="en-US" sz="1400" dirty="0"/>
              <a:t> </a:t>
            </a:r>
            <a:r>
              <a:rPr lang="en-US" sz="1400" dirty="0" err="1"/>
              <a:t>này</a:t>
            </a:r>
            <a:r>
              <a:rPr lang="en-US" sz="1400" dirty="0"/>
              <a:t> </a:t>
            </a:r>
            <a:r>
              <a:rPr lang="en-US" sz="1400" dirty="0" err="1"/>
              <a:t>lặp</a:t>
            </a:r>
            <a:r>
              <a:rPr lang="en-US" sz="1400" dirty="0"/>
              <a:t> </a:t>
            </a:r>
            <a:r>
              <a:rPr lang="en-US" sz="1400" dirty="0" err="1"/>
              <a:t>lại</a:t>
            </a:r>
            <a:r>
              <a:rPr lang="en-US" sz="1400" dirty="0"/>
              <a:t> </a:t>
            </a:r>
            <a:r>
              <a:rPr lang="en-US" sz="1400" dirty="0" err="1"/>
              <a:t>cho</a:t>
            </a:r>
            <a:r>
              <a:rPr lang="en-US" sz="1400" dirty="0"/>
              <a:t> </a:t>
            </a:r>
            <a:r>
              <a:rPr lang="en-US" sz="1400" dirty="0" err="1"/>
              <a:t>đến</a:t>
            </a:r>
            <a:r>
              <a:rPr lang="en-US" sz="1400" dirty="0"/>
              <a:t> </a:t>
            </a:r>
            <a:r>
              <a:rPr lang="en-US" sz="1400" dirty="0" err="1"/>
              <a:t>khi</a:t>
            </a:r>
            <a:r>
              <a:rPr lang="en-US" sz="1400" dirty="0"/>
              <a:t> </a:t>
            </a:r>
            <a:r>
              <a:rPr lang="en-US" sz="1400" dirty="0" err="1"/>
              <a:t>đi</a:t>
            </a:r>
            <a:r>
              <a:rPr lang="en-US" sz="1400" dirty="0"/>
              <a:t> </a:t>
            </a:r>
            <a:r>
              <a:rPr lang="en-US" sz="1400" dirty="0" err="1"/>
              <a:t>đến</a:t>
            </a:r>
            <a:r>
              <a:rPr lang="en-US" sz="1400" dirty="0"/>
              <a:t> </a:t>
            </a:r>
            <a:r>
              <a:rPr lang="en-US" sz="1400" dirty="0" err="1"/>
              <a:t>gốc</a:t>
            </a:r>
            <a:r>
              <a:rPr lang="en-US" sz="1400" dirty="0"/>
              <a:t> </a:t>
            </a:r>
            <a:r>
              <a:rPr lang="en-US" sz="1400" dirty="0" err="1"/>
              <a:t>của</a:t>
            </a:r>
            <a:r>
              <a:rPr lang="en-US" sz="1400" dirty="0"/>
              <a:t> </a:t>
            </a:r>
            <a:r>
              <a:rPr lang="en-US" sz="1400" dirty="0" err="1"/>
              <a:t>cây</a:t>
            </a:r>
            <a:r>
              <a:rPr lang="en-US" sz="1400" dirty="0"/>
              <a:t>.</a:t>
            </a:r>
          </a:p>
          <a:p>
            <a:pPr marL="0" lvl="0" indent="0" algn="just" rtl="0">
              <a:lnSpc>
                <a:spcPct val="150000"/>
              </a:lnSpc>
              <a:spcAft>
                <a:spcPts val="0"/>
              </a:spcAft>
              <a:buClr>
                <a:schemeClr val="accent4">
                  <a:lumMod val="75000"/>
                </a:schemeClr>
              </a:buClr>
              <a:buSzPts val="1976"/>
              <a:buNone/>
            </a:pPr>
            <a:endParaRPr lang="en-US" sz="2000" dirty="0"/>
          </a:p>
        </p:txBody>
      </p:sp>
    </p:spTree>
    <p:extLst>
      <p:ext uri="{BB962C8B-B14F-4D97-AF65-F5344CB8AC3E}">
        <p14:creationId xmlns:p14="http://schemas.microsoft.com/office/powerpoint/2010/main" val="2836215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A74DE4E0-83F3-844E-5154-683A0D88A6EF}"/>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3049E8E2-1FCD-E896-19AF-6F3035F05868}"/>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a:t>Progressive Alignment</a:t>
            </a:r>
            <a:endParaRPr dirty="0"/>
          </a:p>
        </p:txBody>
      </p:sp>
      <p:sp>
        <p:nvSpPr>
          <p:cNvPr id="3" name="Slide Number Placeholder 2">
            <a:extLst>
              <a:ext uri="{FF2B5EF4-FFF2-40B4-BE49-F238E27FC236}">
                <a16:creationId xmlns:a16="http://schemas.microsoft.com/office/drawing/2014/main" id="{88D45A69-304C-98A7-5A61-98A707AF5BBE}"/>
              </a:ext>
            </a:extLst>
          </p:cNvPr>
          <p:cNvSpPr>
            <a:spLocks noGrp="1"/>
          </p:cNvSpPr>
          <p:nvPr>
            <p:ph type="sldNum" idx="12"/>
          </p:nvPr>
        </p:nvSpPr>
        <p:spPr/>
        <p:txBody>
          <a:bodyPr/>
          <a:lstStyle/>
          <a:p>
            <a:r>
              <a:rPr lang="en-US" dirty="0"/>
              <a:t>31</a:t>
            </a:r>
          </a:p>
        </p:txBody>
      </p:sp>
      <p:sp>
        <p:nvSpPr>
          <p:cNvPr id="8" name="TextBox 7">
            <a:extLst>
              <a:ext uri="{FF2B5EF4-FFF2-40B4-BE49-F238E27FC236}">
                <a16:creationId xmlns:a16="http://schemas.microsoft.com/office/drawing/2014/main" id="{C4FF8AC7-87D6-64A1-BC7F-F5F6A7FB2718}"/>
              </a:ext>
            </a:extLst>
          </p:cNvPr>
          <p:cNvSpPr txBox="1"/>
          <p:nvPr/>
        </p:nvSpPr>
        <p:spPr>
          <a:xfrm>
            <a:off x="457199" y="1542180"/>
            <a:ext cx="3640015" cy="1886819"/>
          </a:xfrm>
          <a:prstGeom prst="rect">
            <a:avLst/>
          </a:prstGeom>
          <a:noFill/>
        </p:spPr>
        <p:txBody>
          <a:bodyPr wrap="square">
            <a:spAutoFit/>
          </a:bodyPr>
          <a:lstStyle/>
          <a:p>
            <a:r>
              <a:rPr lang="en-US" dirty="0"/>
              <a:t>&gt;Seq1_Human</a:t>
            </a:r>
          </a:p>
          <a:p>
            <a:r>
              <a:rPr lang="en-US" dirty="0"/>
              <a:t>ATGCTAGCTAGCTAGCTGATCGCAT</a:t>
            </a:r>
          </a:p>
          <a:p>
            <a:r>
              <a:rPr lang="en-US" dirty="0"/>
              <a:t>&gt;Seq2_Mouse</a:t>
            </a:r>
          </a:p>
          <a:p>
            <a:r>
              <a:rPr lang="en-US" dirty="0"/>
              <a:t>ATGCTAGCTAGCAAGCTGATCGCAT</a:t>
            </a:r>
          </a:p>
          <a:p>
            <a:r>
              <a:rPr lang="en-US" dirty="0"/>
              <a:t>&gt;Seq3_Rat</a:t>
            </a:r>
          </a:p>
          <a:p>
            <a:r>
              <a:rPr lang="en-US" dirty="0"/>
              <a:t>ATGCTAGCTAGCAAGCTGATCGC-T</a:t>
            </a:r>
          </a:p>
          <a:p>
            <a:r>
              <a:rPr lang="en-US" dirty="0"/>
              <a:t>&gt;Seq4_Chicken</a:t>
            </a:r>
          </a:p>
          <a:p>
            <a:r>
              <a:rPr lang="en-US" dirty="0"/>
              <a:t>ATGCTAGCTAG-AAGCTGATCGCAT</a:t>
            </a:r>
          </a:p>
        </p:txBody>
      </p:sp>
      <p:sp>
        <p:nvSpPr>
          <p:cNvPr id="9" name="Google Shape;138;p3">
            <a:extLst>
              <a:ext uri="{FF2B5EF4-FFF2-40B4-BE49-F238E27FC236}">
                <a16:creationId xmlns:a16="http://schemas.microsoft.com/office/drawing/2014/main" id="{64771D0D-FF2E-C38F-FACC-4754C4912A4F}"/>
              </a:ext>
            </a:extLst>
          </p:cNvPr>
          <p:cNvSpPr txBox="1">
            <a:spLocks/>
          </p:cNvSpPr>
          <p:nvPr/>
        </p:nvSpPr>
        <p:spPr>
          <a:xfrm>
            <a:off x="457201" y="1099922"/>
            <a:ext cx="1963614"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Chuỗi</a:t>
            </a:r>
            <a:r>
              <a:rPr lang="en-US" sz="1800" b="1" dirty="0"/>
              <a:t> </a:t>
            </a:r>
            <a:r>
              <a:rPr lang="en-US" sz="1800" b="1" dirty="0" err="1"/>
              <a:t>đầu</a:t>
            </a:r>
            <a:r>
              <a:rPr lang="en-US" sz="1800" b="1" dirty="0"/>
              <a:t> </a:t>
            </a:r>
            <a:r>
              <a:rPr lang="en-US" sz="1800" b="1" dirty="0" err="1"/>
              <a:t>vào</a:t>
            </a:r>
            <a:r>
              <a:rPr lang="en-US" sz="1800" b="1" dirty="0"/>
              <a:t>:</a:t>
            </a:r>
          </a:p>
          <a:p>
            <a:pPr marL="0" indent="0" algn="just">
              <a:lnSpc>
                <a:spcPct val="130000"/>
              </a:lnSpc>
              <a:buClr>
                <a:schemeClr val="accent4">
                  <a:lumMod val="75000"/>
                </a:schemeClr>
              </a:buClr>
              <a:buSzPts val="1976"/>
              <a:buFont typeface="Noto Sans Symbols"/>
              <a:buNone/>
            </a:pPr>
            <a:endParaRPr lang="en-US" sz="1800" dirty="0"/>
          </a:p>
        </p:txBody>
      </p:sp>
      <p:graphicFrame>
        <p:nvGraphicFramePr>
          <p:cNvPr id="10" name="Table 9">
            <a:extLst>
              <a:ext uri="{FF2B5EF4-FFF2-40B4-BE49-F238E27FC236}">
                <a16:creationId xmlns:a16="http://schemas.microsoft.com/office/drawing/2014/main" id="{0EBE06F1-9DBF-2773-CFEC-2BE7278A2049}"/>
              </a:ext>
            </a:extLst>
          </p:cNvPr>
          <p:cNvGraphicFramePr>
            <a:graphicFrameLocks noGrp="1"/>
          </p:cNvGraphicFramePr>
          <p:nvPr>
            <p:extLst>
              <p:ext uri="{D42A27DB-BD31-4B8C-83A1-F6EECF244321}">
                <p14:modId xmlns:p14="http://schemas.microsoft.com/office/powerpoint/2010/main" val="3212436522"/>
              </p:ext>
            </p:extLst>
          </p:nvPr>
        </p:nvGraphicFramePr>
        <p:xfrm>
          <a:off x="4337538" y="1542181"/>
          <a:ext cx="4290645" cy="1854200"/>
        </p:xfrm>
        <a:graphic>
          <a:graphicData uri="http://schemas.openxmlformats.org/drawingml/2006/table">
            <a:tbl>
              <a:tblPr firstRow="1" bandRow="1">
                <a:tableStyleId>{5940675A-B579-460E-94D1-54222C63F5DA}</a:tableStyleId>
              </a:tblPr>
              <a:tblGrid>
                <a:gridCol w="858129">
                  <a:extLst>
                    <a:ext uri="{9D8B030D-6E8A-4147-A177-3AD203B41FA5}">
                      <a16:colId xmlns:a16="http://schemas.microsoft.com/office/drawing/2014/main" val="3226109411"/>
                    </a:ext>
                  </a:extLst>
                </a:gridCol>
                <a:gridCol w="858129">
                  <a:extLst>
                    <a:ext uri="{9D8B030D-6E8A-4147-A177-3AD203B41FA5}">
                      <a16:colId xmlns:a16="http://schemas.microsoft.com/office/drawing/2014/main" val="3004163583"/>
                    </a:ext>
                  </a:extLst>
                </a:gridCol>
                <a:gridCol w="858129">
                  <a:extLst>
                    <a:ext uri="{9D8B030D-6E8A-4147-A177-3AD203B41FA5}">
                      <a16:colId xmlns:a16="http://schemas.microsoft.com/office/drawing/2014/main" val="840421714"/>
                    </a:ext>
                  </a:extLst>
                </a:gridCol>
                <a:gridCol w="858129">
                  <a:extLst>
                    <a:ext uri="{9D8B030D-6E8A-4147-A177-3AD203B41FA5}">
                      <a16:colId xmlns:a16="http://schemas.microsoft.com/office/drawing/2014/main" val="1548228263"/>
                    </a:ext>
                  </a:extLst>
                </a:gridCol>
                <a:gridCol w="858129">
                  <a:extLst>
                    <a:ext uri="{9D8B030D-6E8A-4147-A177-3AD203B41FA5}">
                      <a16:colId xmlns:a16="http://schemas.microsoft.com/office/drawing/2014/main" val="1132354576"/>
                    </a:ext>
                  </a:extLst>
                </a:gridCol>
              </a:tblGrid>
              <a:tr h="370840">
                <a:tc>
                  <a:txBody>
                    <a:bodyPr/>
                    <a:lstStyle/>
                    <a:p>
                      <a:pPr algn="ctr"/>
                      <a:endParaRPr lang="en-US" dirty="0"/>
                    </a:p>
                  </a:txBody>
                  <a:tcPr/>
                </a:tc>
                <a:tc>
                  <a:txBody>
                    <a:bodyPr/>
                    <a:lstStyle/>
                    <a:p>
                      <a:pPr algn="ctr"/>
                      <a:r>
                        <a:rPr lang="en-US" dirty="0"/>
                        <a:t>Seq1</a:t>
                      </a:r>
                    </a:p>
                  </a:txBody>
                  <a:tcPr/>
                </a:tc>
                <a:tc>
                  <a:txBody>
                    <a:bodyPr/>
                    <a:lstStyle/>
                    <a:p>
                      <a:pPr algn="ctr"/>
                      <a:r>
                        <a:rPr lang="en-US" dirty="0"/>
                        <a:t>Seq2</a:t>
                      </a:r>
                    </a:p>
                  </a:txBody>
                  <a:tcPr/>
                </a:tc>
                <a:tc>
                  <a:txBody>
                    <a:bodyPr/>
                    <a:lstStyle/>
                    <a:p>
                      <a:pPr algn="ctr"/>
                      <a:r>
                        <a:rPr lang="en-US" dirty="0"/>
                        <a:t>Seq3</a:t>
                      </a:r>
                    </a:p>
                  </a:txBody>
                  <a:tcPr/>
                </a:tc>
                <a:tc>
                  <a:txBody>
                    <a:bodyPr/>
                    <a:lstStyle/>
                    <a:p>
                      <a:pPr algn="ctr"/>
                      <a:r>
                        <a:rPr lang="en-US" dirty="0"/>
                        <a:t>Seq4</a:t>
                      </a:r>
                    </a:p>
                  </a:txBody>
                  <a:tcPr/>
                </a:tc>
                <a:extLst>
                  <a:ext uri="{0D108BD9-81ED-4DB2-BD59-A6C34878D82A}">
                    <a16:rowId xmlns:a16="http://schemas.microsoft.com/office/drawing/2014/main" val="3034885316"/>
                  </a:ext>
                </a:extLst>
              </a:tr>
              <a:tr h="370840">
                <a:tc>
                  <a:txBody>
                    <a:bodyPr/>
                    <a:lstStyle/>
                    <a:p>
                      <a:pPr algn="ctr"/>
                      <a:r>
                        <a:rPr lang="en-US" dirty="0"/>
                        <a:t>Seq1</a:t>
                      </a:r>
                    </a:p>
                  </a:txBody>
                  <a:tcPr/>
                </a:tc>
                <a:tc>
                  <a:txBody>
                    <a:bodyPr/>
                    <a:lstStyle/>
                    <a:p>
                      <a:pPr algn="ctr"/>
                      <a:r>
                        <a:rPr lang="en-US" dirty="0"/>
                        <a:t>100</a:t>
                      </a:r>
                    </a:p>
                  </a:txBody>
                  <a:tcPr/>
                </a:tc>
                <a:tc>
                  <a:txBody>
                    <a:bodyPr/>
                    <a:lstStyle/>
                    <a:p>
                      <a:pPr algn="ctr"/>
                      <a:r>
                        <a:rPr lang="en-US" dirty="0"/>
                        <a:t>96</a:t>
                      </a:r>
                    </a:p>
                  </a:txBody>
                  <a:tcPr/>
                </a:tc>
                <a:tc>
                  <a:txBody>
                    <a:bodyPr/>
                    <a:lstStyle/>
                    <a:p>
                      <a:pPr algn="ctr"/>
                      <a:r>
                        <a:rPr lang="en-US" dirty="0"/>
                        <a:t>92</a:t>
                      </a:r>
                    </a:p>
                  </a:txBody>
                  <a:tcPr/>
                </a:tc>
                <a:tc>
                  <a:txBody>
                    <a:bodyPr/>
                    <a:lstStyle/>
                    <a:p>
                      <a:pPr algn="ctr"/>
                      <a:r>
                        <a:rPr lang="en-US" dirty="0"/>
                        <a:t>92</a:t>
                      </a:r>
                    </a:p>
                  </a:txBody>
                  <a:tcPr/>
                </a:tc>
                <a:extLst>
                  <a:ext uri="{0D108BD9-81ED-4DB2-BD59-A6C34878D82A}">
                    <a16:rowId xmlns:a16="http://schemas.microsoft.com/office/drawing/2014/main" val="267200003"/>
                  </a:ext>
                </a:extLst>
              </a:tr>
              <a:tr h="370840">
                <a:tc>
                  <a:txBody>
                    <a:bodyPr/>
                    <a:lstStyle/>
                    <a:p>
                      <a:pPr algn="ctr"/>
                      <a:r>
                        <a:rPr lang="en-US" dirty="0"/>
                        <a:t>Seq2</a:t>
                      </a:r>
                    </a:p>
                  </a:txBody>
                  <a:tcPr/>
                </a:tc>
                <a:tc>
                  <a:txBody>
                    <a:bodyPr/>
                    <a:lstStyle/>
                    <a:p>
                      <a:pPr algn="ctr"/>
                      <a:r>
                        <a:rPr lang="en-US" dirty="0"/>
                        <a:t>96</a:t>
                      </a:r>
                    </a:p>
                  </a:txBody>
                  <a:tcPr/>
                </a:tc>
                <a:tc>
                  <a:txBody>
                    <a:bodyPr/>
                    <a:lstStyle/>
                    <a:p>
                      <a:pPr algn="ctr"/>
                      <a:r>
                        <a:rPr lang="en-US" dirty="0"/>
                        <a:t>100</a:t>
                      </a:r>
                    </a:p>
                  </a:txBody>
                  <a:tcPr/>
                </a:tc>
                <a:tc>
                  <a:txBody>
                    <a:bodyPr/>
                    <a:lstStyle/>
                    <a:p>
                      <a:pPr algn="ctr"/>
                      <a:r>
                        <a:rPr lang="en-US" dirty="0"/>
                        <a:t>96</a:t>
                      </a:r>
                    </a:p>
                  </a:txBody>
                  <a:tcPr/>
                </a:tc>
                <a:tc>
                  <a:txBody>
                    <a:bodyPr/>
                    <a:lstStyle/>
                    <a:p>
                      <a:pPr algn="ctr"/>
                      <a:r>
                        <a:rPr lang="en-US" dirty="0"/>
                        <a:t>96</a:t>
                      </a:r>
                    </a:p>
                  </a:txBody>
                  <a:tcPr/>
                </a:tc>
                <a:extLst>
                  <a:ext uri="{0D108BD9-81ED-4DB2-BD59-A6C34878D82A}">
                    <a16:rowId xmlns:a16="http://schemas.microsoft.com/office/drawing/2014/main" val="2887034684"/>
                  </a:ext>
                </a:extLst>
              </a:tr>
              <a:tr h="370840">
                <a:tc>
                  <a:txBody>
                    <a:bodyPr/>
                    <a:lstStyle/>
                    <a:p>
                      <a:pPr algn="ctr"/>
                      <a:r>
                        <a:rPr lang="en-US" dirty="0"/>
                        <a:t>Seq3</a:t>
                      </a:r>
                    </a:p>
                  </a:txBody>
                  <a:tcPr/>
                </a:tc>
                <a:tc>
                  <a:txBody>
                    <a:bodyPr/>
                    <a:lstStyle/>
                    <a:p>
                      <a:pPr algn="ctr"/>
                      <a:r>
                        <a:rPr lang="en-US" dirty="0"/>
                        <a:t>92</a:t>
                      </a:r>
                    </a:p>
                  </a:txBody>
                  <a:tcPr/>
                </a:tc>
                <a:tc>
                  <a:txBody>
                    <a:bodyPr/>
                    <a:lstStyle/>
                    <a:p>
                      <a:pPr algn="ctr"/>
                      <a:r>
                        <a:rPr lang="en-US" dirty="0"/>
                        <a:t>96</a:t>
                      </a:r>
                    </a:p>
                  </a:txBody>
                  <a:tcPr/>
                </a:tc>
                <a:tc>
                  <a:txBody>
                    <a:bodyPr/>
                    <a:lstStyle/>
                    <a:p>
                      <a:pPr algn="ctr"/>
                      <a:r>
                        <a:rPr lang="en-US" dirty="0"/>
                        <a:t>100</a:t>
                      </a:r>
                    </a:p>
                  </a:txBody>
                  <a:tcPr/>
                </a:tc>
                <a:tc>
                  <a:txBody>
                    <a:bodyPr/>
                    <a:lstStyle/>
                    <a:p>
                      <a:pPr algn="ctr"/>
                      <a:r>
                        <a:rPr lang="en-US" dirty="0"/>
                        <a:t>92</a:t>
                      </a:r>
                    </a:p>
                  </a:txBody>
                  <a:tcPr/>
                </a:tc>
                <a:extLst>
                  <a:ext uri="{0D108BD9-81ED-4DB2-BD59-A6C34878D82A}">
                    <a16:rowId xmlns:a16="http://schemas.microsoft.com/office/drawing/2014/main" val="3039539980"/>
                  </a:ext>
                </a:extLst>
              </a:tr>
              <a:tr h="370840">
                <a:tc>
                  <a:txBody>
                    <a:bodyPr/>
                    <a:lstStyle/>
                    <a:p>
                      <a:pPr algn="ctr"/>
                      <a:r>
                        <a:rPr lang="en-US" dirty="0"/>
                        <a:t>Seq4</a:t>
                      </a:r>
                    </a:p>
                  </a:txBody>
                  <a:tcPr/>
                </a:tc>
                <a:tc>
                  <a:txBody>
                    <a:bodyPr/>
                    <a:lstStyle/>
                    <a:p>
                      <a:pPr algn="ctr"/>
                      <a:r>
                        <a:rPr lang="en-US" dirty="0"/>
                        <a:t>92</a:t>
                      </a:r>
                    </a:p>
                  </a:txBody>
                  <a:tcPr/>
                </a:tc>
                <a:tc>
                  <a:txBody>
                    <a:bodyPr/>
                    <a:lstStyle/>
                    <a:p>
                      <a:pPr algn="ctr"/>
                      <a:r>
                        <a:rPr lang="en-US" dirty="0"/>
                        <a:t>96</a:t>
                      </a:r>
                    </a:p>
                  </a:txBody>
                  <a:tcPr/>
                </a:tc>
                <a:tc>
                  <a:txBody>
                    <a:bodyPr/>
                    <a:lstStyle/>
                    <a:p>
                      <a:pPr algn="ctr"/>
                      <a:r>
                        <a:rPr lang="en-US" dirty="0"/>
                        <a:t>92</a:t>
                      </a:r>
                    </a:p>
                  </a:txBody>
                  <a:tcPr/>
                </a:tc>
                <a:tc>
                  <a:txBody>
                    <a:bodyPr/>
                    <a:lstStyle/>
                    <a:p>
                      <a:pPr algn="ctr"/>
                      <a:r>
                        <a:rPr lang="en-US" dirty="0"/>
                        <a:t>100</a:t>
                      </a:r>
                    </a:p>
                  </a:txBody>
                  <a:tcPr/>
                </a:tc>
                <a:extLst>
                  <a:ext uri="{0D108BD9-81ED-4DB2-BD59-A6C34878D82A}">
                    <a16:rowId xmlns:a16="http://schemas.microsoft.com/office/drawing/2014/main" val="3040740118"/>
                  </a:ext>
                </a:extLst>
              </a:tr>
            </a:tbl>
          </a:graphicData>
        </a:graphic>
      </p:graphicFrame>
      <p:sp>
        <p:nvSpPr>
          <p:cNvPr id="11" name="Google Shape;138;p3">
            <a:extLst>
              <a:ext uri="{FF2B5EF4-FFF2-40B4-BE49-F238E27FC236}">
                <a16:creationId xmlns:a16="http://schemas.microsoft.com/office/drawing/2014/main" id="{37557F2D-9CE1-E945-0478-CB1553BE8358}"/>
              </a:ext>
            </a:extLst>
          </p:cNvPr>
          <p:cNvSpPr txBox="1">
            <a:spLocks/>
          </p:cNvSpPr>
          <p:nvPr/>
        </p:nvSpPr>
        <p:spPr>
          <a:xfrm>
            <a:off x="4255476" y="1041307"/>
            <a:ext cx="2690445"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a:t>Ma </a:t>
            </a:r>
            <a:r>
              <a:rPr lang="en-US" sz="1800" b="1" dirty="0" err="1"/>
              <a:t>trận</a:t>
            </a:r>
            <a:r>
              <a:rPr lang="en-US" sz="1800" b="1" dirty="0"/>
              <a:t> </a:t>
            </a:r>
            <a:r>
              <a:rPr lang="en-US" sz="1800" b="1" dirty="0" err="1"/>
              <a:t>khoảng</a:t>
            </a:r>
            <a:r>
              <a:rPr lang="en-US" sz="1800" b="1" dirty="0"/>
              <a:t> </a:t>
            </a:r>
            <a:r>
              <a:rPr lang="en-US" sz="1800" b="1" dirty="0" err="1"/>
              <a:t>cách</a:t>
            </a:r>
            <a:r>
              <a:rPr lang="en-US" sz="1800" b="1" dirty="0"/>
              <a:t>:</a:t>
            </a:r>
          </a:p>
          <a:p>
            <a:pPr marL="0" indent="0" algn="just">
              <a:lnSpc>
                <a:spcPct val="130000"/>
              </a:lnSpc>
              <a:buClr>
                <a:schemeClr val="accent4">
                  <a:lumMod val="75000"/>
                </a:schemeClr>
              </a:buClr>
              <a:buSzPts val="1976"/>
              <a:buFont typeface="Noto Sans Symbols"/>
              <a:buNone/>
            </a:pPr>
            <a:endParaRPr lang="en-US" sz="1800" dirty="0"/>
          </a:p>
        </p:txBody>
      </p:sp>
      <p:pic>
        <p:nvPicPr>
          <p:cNvPr id="13" name="Picture 12">
            <a:extLst>
              <a:ext uri="{FF2B5EF4-FFF2-40B4-BE49-F238E27FC236}">
                <a16:creationId xmlns:a16="http://schemas.microsoft.com/office/drawing/2014/main" id="{4E12B623-F80D-AED9-E578-B4B9CC1F0EF6}"/>
              </a:ext>
            </a:extLst>
          </p:cNvPr>
          <p:cNvPicPr>
            <a:picLocks noChangeAspect="1"/>
          </p:cNvPicPr>
          <p:nvPr/>
        </p:nvPicPr>
        <p:blipFill>
          <a:blip r:embed="rId3"/>
          <a:srcRect l="1590" t="25468" r="1316" b="18616"/>
          <a:stretch>
            <a:fillRect/>
          </a:stretch>
        </p:blipFill>
        <p:spPr>
          <a:xfrm>
            <a:off x="1441940" y="4434116"/>
            <a:ext cx="6600091" cy="1689359"/>
          </a:xfrm>
          <a:prstGeom prst="rect">
            <a:avLst/>
          </a:prstGeom>
        </p:spPr>
      </p:pic>
      <p:sp>
        <p:nvSpPr>
          <p:cNvPr id="14" name="Google Shape;138;p3">
            <a:extLst>
              <a:ext uri="{FF2B5EF4-FFF2-40B4-BE49-F238E27FC236}">
                <a16:creationId xmlns:a16="http://schemas.microsoft.com/office/drawing/2014/main" id="{CBCE3411-2BF9-AE58-7738-45973AB759A3}"/>
              </a:ext>
            </a:extLst>
          </p:cNvPr>
          <p:cNvSpPr txBox="1">
            <a:spLocks/>
          </p:cNvSpPr>
          <p:nvPr/>
        </p:nvSpPr>
        <p:spPr>
          <a:xfrm>
            <a:off x="457199" y="3710428"/>
            <a:ext cx="2690445"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Cây</a:t>
            </a:r>
            <a:r>
              <a:rPr lang="en-US" sz="1800" b="1" dirty="0"/>
              <a:t> </a:t>
            </a:r>
            <a:r>
              <a:rPr lang="en-US" sz="1800" b="1" dirty="0" err="1"/>
              <a:t>hướng</a:t>
            </a:r>
            <a:r>
              <a:rPr lang="en-US" sz="1800" b="1" dirty="0"/>
              <a:t> </a:t>
            </a:r>
            <a:r>
              <a:rPr lang="en-US" sz="1800" b="1" dirty="0" err="1"/>
              <a:t>dẫn</a:t>
            </a:r>
            <a:r>
              <a:rPr lang="en-US" sz="1800" b="1" dirty="0"/>
              <a:t>:</a:t>
            </a:r>
          </a:p>
          <a:p>
            <a:pPr marL="0" indent="0" algn="just">
              <a:lnSpc>
                <a:spcPct val="130000"/>
              </a:lnSpc>
              <a:buClr>
                <a:schemeClr val="accent4">
                  <a:lumMod val="75000"/>
                </a:schemeClr>
              </a:buClr>
              <a:buSzPts val="1976"/>
              <a:buFont typeface="Noto Sans Symbols"/>
              <a:buNone/>
            </a:pPr>
            <a:endParaRPr lang="en-US" sz="1800" dirty="0"/>
          </a:p>
        </p:txBody>
      </p:sp>
    </p:spTree>
    <p:extLst>
      <p:ext uri="{BB962C8B-B14F-4D97-AF65-F5344CB8AC3E}">
        <p14:creationId xmlns:p14="http://schemas.microsoft.com/office/powerpoint/2010/main" val="736348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B958B999-031F-543B-2E3A-8CFE71B79695}"/>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CB2E0A97-1ACE-6D3A-2D7E-D6C711FCEA27}"/>
              </a:ext>
            </a:extLst>
          </p:cNvPr>
          <p:cNvSpPr txBox="1">
            <a:spLocks noGrp="1"/>
          </p:cNvSpPr>
          <p:nvPr>
            <p:ph type="title"/>
          </p:nvPr>
        </p:nvSpPr>
        <p:spPr>
          <a:xfrm>
            <a:off x="398583" y="14913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a:t>Progressive Alignment</a:t>
            </a:r>
            <a:endParaRPr dirty="0"/>
          </a:p>
        </p:txBody>
      </p:sp>
      <p:sp>
        <p:nvSpPr>
          <p:cNvPr id="3" name="Slide Number Placeholder 2">
            <a:extLst>
              <a:ext uri="{FF2B5EF4-FFF2-40B4-BE49-F238E27FC236}">
                <a16:creationId xmlns:a16="http://schemas.microsoft.com/office/drawing/2014/main" id="{AA3B2B1D-0D10-5409-9E58-3983547106B7}"/>
              </a:ext>
            </a:extLst>
          </p:cNvPr>
          <p:cNvSpPr>
            <a:spLocks noGrp="1"/>
          </p:cNvSpPr>
          <p:nvPr>
            <p:ph type="sldNum" idx="12"/>
          </p:nvPr>
        </p:nvSpPr>
        <p:spPr/>
        <p:txBody>
          <a:bodyPr/>
          <a:lstStyle/>
          <a:p>
            <a:r>
              <a:rPr lang="en-US" dirty="0"/>
              <a:t>32</a:t>
            </a:r>
          </a:p>
        </p:txBody>
      </p:sp>
      <p:sp>
        <p:nvSpPr>
          <p:cNvPr id="9" name="Google Shape;138;p3">
            <a:extLst>
              <a:ext uri="{FF2B5EF4-FFF2-40B4-BE49-F238E27FC236}">
                <a16:creationId xmlns:a16="http://schemas.microsoft.com/office/drawing/2014/main" id="{DE681944-9E4F-3C93-FD81-992F6E4604D0}"/>
              </a:ext>
            </a:extLst>
          </p:cNvPr>
          <p:cNvSpPr txBox="1">
            <a:spLocks/>
          </p:cNvSpPr>
          <p:nvPr/>
        </p:nvSpPr>
        <p:spPr>
          <a:xfrm>
            <a:off x="398584" y="1099922"/>
            <a:ext cx="2737337"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Sắp</a:t>
            </a:r>
            <a:r>
              <a:rPr lang="en-US" sz="1800" b="1" dirty="0"/>
              <a:t> </a:t>
            </a:r>
            <a:r>
              <a:rPr lang="en-US" sz="1800" b="1" dirty="0" err="1"/>
              <a:t>hàng</a:t>
            </a:r>
            <a:r>
              <a:rPr lang="en-US" sz="1800" b="1" dirty="0"/>
              <a:t> Seq1 </a:t>
            </a:r>
            <a:r>
              <a:rPr lang="en-US" sz="1800" b="1" dirty="0" err="1"/>
              <a:t>và</a:t>
            </a:r>
            <a:r>
              <a:rPr lang="en-US" sz="1800" b="1" dirty="0"/>
              <a:t> Seq2:</a:t>
            </a:r>
          </a:p>
          <a:p>
            <a:pPr marL="0" indent="0" algn="just">
              <a:lnSpc>
                <a:spcPct val="130000"/>
              </a:lnSpc>
              <a:buClr>
                <a:schemeClr val="accent4">
                  <a:lumMod val="75000"/>
                </a:schemeClr>
              </a:buClr>
              <a:buSzPts val="1976"/>
              <a:buFont typeface="Noto Sans Symbols"/>
              <a:buNone/>
            </a:pPr>
            <a:endParaRPr lang="en-US" sz="1800" dirty="0"/>
          </a:p>
        </p:txBody>
      </p:sp>
      <p:pic>
        <p:nvPicPr>
          <p:cNvPr id="4" name="Picture 3">
            <a:extLst>
              <a:ext uri="{FF2B5EF4-FFF2-40B4-BE49-F238E27FC236}">
                <a16:creationId xmlns:a16="http://schemas.microsoft.com/office/drawing/2014/main" id="{28183903-F5F7-1C88-2096-9E12FE0AECFB}"/>
              </a:ext>
            </a:extLst>
          </p:cNvPr>
          <p:cNvPicPr>
            <a:picLocks noChangeAspect="1"/>
          </p:cNvPicPr>
          <p:nvPr/>
        </p:nvPicPr>
        <p:blipFill>
          <a:blip r:embed="rId3"/>
          <a:stretch>
            <a:fillRect/>
          </a:stretch>
        </p:blipFill>
        <p:spPr>
          <a:xfrm>
            <a:off x="3408787" y="1185300"/>
            <a:ext cx="4345195" cy="1238584"/>
          </a:xfrm>
          <a:prstGeom prst="rect">
            <a:avLst/>
          </a:prstGeom>
        </p:spPr>
      </p:pic>
      <p:sp>
        <p:nvSpPr>
          <p:cNvPr id="5" name="Google Shape;138;p3">
            <a:extLst>
              <a:ext uri="{FF2B5EF4-FFF2-40B4-BE49-F238E27FC236}">
                <a16:creationId xmlns:a16="http://schemas.microsoft.com/office/drawing/2014/main" id="{29CBA0D1-7DC4-7916-CACC-44A12662C3E3}"/>
              </a:ext>
            </a:extLst>
          </p:cNvPr>
          <p:cNvSpPr txBox="1">
            <a:spLocks/>
          </p:cNvSpPr>
          <p:nvPr/>
        </p:nvSpPr>
        <p:spPr>
          <a:xfrm>
            <a:off x="398584" y="2623922"/>
            <a:ext cx="2737337"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Sắp</a:t>
            </a:r>
            <a:r>
              <a:rPr lang="en-US" sz="1800" b="1" dirty="0"/>
              <a:t> </a:t>
            </a:r>
            <a:r>
              <a:rPr lang="en-US" sz="1800" b="1" dirty="0" err="1"/>
              <a:t>hàng</a:t>
            </a:r>
            <a:r>
              <a:rPr lang="en-US" sz="1800" b="1" dirty="0"/>
              <a:t> Seq3 </a:t>
            </a:r>
            <a:r>
              <a:rPr lang="en-US" sz="1800" b="1" dirty="0" err="1"/>
              <a:t>với</a:t>
            </a:r>
            <a:r>
              <a:rPr lang="en-US" sz="1800" b="1" dirty="0"/>
              <a:t> </a:t>
            </a:r>
            <a:r>
              <a:rPr lang="en-US" sz="1800" b="1" dirty="0" err="1"/>
              <a:t>kết</a:t>
            </a:r>
            <a:r>
              <a:rPr lang="en-US" sz="1800" b="1" dirty="0"/>
              <a:t> </a:t>
            </a:r>
            <a:r>
              <a:rPr lang="en-US" sz="1800" b="1" dirty="0" err="1"/>
              <a:t>quả</a:t>
            </a:r>
            <a:r>
              <a:rPr lang="en-US" sz="1800" b="1" dirty="0"/>
              <a:t> ở </a:t>
            </a:r>
            <a:r>
              <a:rPr lang="en-US" sz="1800" b="1" dirty="0" err="1"/>
              <a:t>bước</a:t>
            </a:r>
            <a:r>
              <a:rPr lang="en-US" sz="1800" b="1" dirty="0"/>
              <a:t> </a:t>
            </a:r>
            <a:r>
              <a:rPr lang="en-US" sz="1800" b="1" dirty="0" err="1"/>
              <a:t>trên</a:t>
            </a:r>
            <a:r>
              <a:rPr lang="en-US" sz="1800" b="1" dirty="0"/>
              <a:t>:</a:t>
            </a:r>
          </a:p>
          <a:p>
            <a:pPr marL="0" indent="0" algn="just">
              <a:lnSpc>
                <a:spcPct val="130000"/>
              </a:lnSpc>
              <a:buClr>
                <a:schemeClr val="accent4">
                  <a:lumMod val="75000"/>
                </a:schemeClr>
              </a:buClr>
              <a:buSzPts val="1976"/>
              <a:buFont typeface="Noto Sans Symbols"/>
              <a:buNone/>
            </a:pPr>
            <a:endParaRPr lang="en-US" sz="1800" dirty="0"/>
          </a:p>
        </p:txBody>
      </p:sp>
      <p:pic>
        <p:nvPicPr>
          <p:cNvPr id="6" name="Picture 5">
            <a:extLst>
              <a:ext uri="{FF2B5EF4-FFF2-40B4-BE49-F238E27FC236}">
                <a16:creationId xmlns:a16="http://schemas.microsoft.com/office/drawing/2014/main" id="{D09FF6DA-3ADD-0162-89F0-48BD8FCD1A30}"/>
              </a:ext>
            </a:extLst>
          </p:cNvPr>
          <p:cNvPicPr>
            <a:picLocks noChangeAspect="1"/>
          </p:cNvPicPr>
          <p:nvPr/>
        </p:nvPicPr>
        <p:blipFill>
          <a:blip r:embed="rId4"/>
          <a:srcRect/>
          <a:stretch/>
        </p:blipFill>
        <p:spPr>
          <a:xfrm>
            <a:off x="3408785" y="2671570"/>
            <a:ext cx="4345195" cy="1589215"/>
          </a:xfrm>
          <a:prstGeom prst="rect">
            <a:avLst/>
          </a:prstGeom>
        </p:spPr>
      </p:pic>
      <p:sp>
        <p:nvSpPr>
          <p:cNvPr id="7" name="Google Shape;138;p3">
            <a:extLst>
              <a:ext uri="{FF2B5EF4-FFF2-40B4-BE49-F238E27FC236}">
                <a16:creationId xmlns:a16="http://schemas.microsoft.com/office/drawing/2014/main" id="{2A611DDB-9F1C-CC55-08E1-7DACFD0CD6CE}"/>
              </a:ext>
            </a:extLst>
          </p:cNvPr>
          <p:cNvSpPr txBox="1">
            <a:spLocks/>
          </p:cNvSpPr>
          <p:nvPr/>
        </p:nvSpPr>
        <p:spPr>
          <a:xfrm>
            <a:off x="398583" y="4461458"/>
            <a:ext cx="2737337"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Sắp</a:t>
            </a:r>
            <a:r>
              <a:rPr lang="en-US" sz="1800" b="1" dirty="0"/>
              <a:t> </a:t>
            </a:r>
            <a:r>
              <a:rPr lang="en-US" sz="1800" b="1" dirty="0" err="1"/>
              <a:t>hàng</a:t>
            </a:r>
            <a:r>
              <a:rPr lang="en-US" sz="1800" b="1" dirty="0"/>
              <a:t> Seq4 </a:t>
            </a:r>
            <a:r>
              <a:rPr lang="en-US" sz="1800" b="1" dirty="0" err="1"/>
              <a:t>với</a:t>
            </a:r>
            <a:r>
              <a:rPr lang="en-US" sz="1800" b="1" dirty="0"/>
              <a:t> </a:t>
            </a:r>
            <a:r>
              <a:rPr lang="en-US" sz="1800" b="1" dirty="0" err="1"/>
              <a:t>kết</a:t>
            </a:r>
            <a:r>
              <a:rPr lang="en-US" sz="1800" b="1" dirty="0"/>
              <a:t> </a:t>
            </a:r>
            <a:r>
              <a:rPr lang="en-US" sz="1800" b="1" dirty="0" err="1"/>
              <a:t>quả</a:t>
            </a:r>
            <a:r>
              <a:rPr lang="en-US" sz="1800" b="1" dirty="0"/>
              <a:t> ở </a:t>
            </a:r>
            <a:r>
              <a:rPr lang="en-US" sz="1800" b="1" dirty="0" err="1"/>
              <a:t>bước</a:t>
            </a:r>
            <a:r>
              <a:rPr lang="en-US" sz="1800" b="1" dirty="0"/>
              <a:t> </a:t>
            </a:r>
            <a:r>
              <a:rPr lang="en-US" sz="1800" b="1" dirty="0" err="1"/>
              <a:t>trên</a:t>
            </a:r>
            <a:r>
              <a:rPr lang="en-US" sz="1800" b="1" dirty="0"/>
              <a:t>:</a:t>
            </a:r>
          </a:p>
          <a:p>
            <a:pPr marL="0" indent="0" algn="just">
              <a:lnSpc>
                <a:spcPct val="130000"/>
              </a:lnSpc>
              <a:buClr>
                <a:schemeClr val="accent4">
                  <a:lumMod val="75000"/>
                </a:schemeClr>
              </a:buClr>
              <a:buSzPts val="1976"/>
              <a:buFont typeface="Noto Sans Symbols"/>
              <a:buNone/>
            </a:pPr>
            <a:endParaRPr lang="en-US" sz="1800" dirty="0"/>
          </a:p>
        </p:txBody>
      </p:sp>
      <p:pic>
        <p:nvPicPr>
          <p:cNvPr id="12" name="Picture 11">
            <a:extLst>
              <a:ext uri="{FF2B5EF4-FFF2-40B4-BE49-F238E27FC236}">
                <a16:creationId xmlns:a16="http://schemas.microsoft.com/office/drawing/2014/main" id="{E2CFF1CB-FEB5-6770-1C33-01577224A974}"/>
              </a:ext>
            </a:extLst>
          </p:cNvPr>
          <p:cNvPicPr>
            <a:picLocks noChangeAspect="1"/>
          </p:cNvPicPr>
          <p:nvPr/>
        </p:nvPicPr>
        <p:blipFill>
          <a:blip r:embed="rId5"/>
          <a:srcRect/>
          <a:stretch/>
        </p:blipFill>
        <p:spPr>
          <a:xfrm>
            <a:off x="3408785" y="4508471"/>
            <a:ext cx="4345195" cy="1779368"/>
          </a:xfrm>
          <a:prstGeom prst="rect">
            <a:avLst/>
          </a:prstGeom>
        </p:spPr>
      </p:pic>
    </p:spTree>
    <p:extLst>
      <p:ext uri="{BB962C8B-B14F-4D97-AF65-F5344CB8AC3E}">
        <p14:creationId xmlns:p14="http://schemas.microsoft.com/office/powerpoint/2010/main" val="32965364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44CC0455-9212-052C-99C5-BD5603C69047}"/>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39FC1A96-C92B-7F11-B627-1370063CC5D4}"/>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a:t>Progressive Alignment</a:t>
            </a:r>
            <a:endParaRPr dirty="0"/>
          </a:p>
        </p:txBody>
      </p:sp>
      <p:sp>
        <p:nvSpPr>
          <p:cNvPr id="3" name="Slide Number Placeholder 2">
            <a:extLst>
              <a:ext uri="{FF2B5EF4-FFF2-40B4-BE49-F238E27FC236}">
                <a16:creationId xmlns:a16="http://schemas.microsoft.com/office/drawing/2014/main" id="{720967B6-9A50-A455-3827-47FBBEAEBFBF}"/>
              </a:ext>
            </a:extLst>
          </p:cNvPr>
          <p:cNvSpPr>
            <a:spLocks noGrp="1"/>
          </p:cNvSpPr>
          <p:nvPr>
            <p:ph type="sldNum" idx="12"/>
          </p:nvPr>
        </p:nvSpPr>
        <p:spPr/>
        <p:txBody>
          <a:bodyPr/>
          <a:lstStyle/>
          <a:p>
            <a:r>
              <a:rPr lang="en-US" dirty="0"/>
              <a:t>33</a:t>
            </a:r>
          </a:p>
        </p:txBody>
      </p:sp>
      <p:sp>
        <p:nvSpPr>
          <p:cNvPr id="8" name="TextBox 7">
            <a:extLst>
              <a:ext uri="{FF2B5EF4-FFF2-40B4-BE49-F238E27FC236}">
                <a16:creationId xmlns:a16="http://schemas.microsoft.com/office/drawing/2014/main" id="{68E782F2-A7C4-8B2D-61B7-1C4E365750C7}"/>
              </a:ext>
            </a:extLst>
          </p:cNvPr>
          <p:cNvSpPr txBox="1"/>
          <p:nvPr/>
        </p:nvSpPr>
        <p:spPr>
          <a:xfrm>
            <a:off x="457200" y="1542181"/>
            <a:ext cx="1787769" cy="1384995"/>
          </a:xfrm>
          <a:prstGeom prst="rect">
            <a:avLst/>
          </a:prstGeom>
          <a:noFill/>
        </p:spPr>
        <p:txBody>
          <a:bodyPr wrap="square">
            <a:spAutoFit/>
          </a:bodyPr>
          <a:lstStyle/>
          <a:p>
            <a:r>
              <a:rPr lang="en-US" dirty="0"/>
              <a:t>&gt;Seq1</a:t>
            </a:r>
          </a:p>
          <a:p>
            <a:r>
              <a:rPr lang="en-US" dirty="0"/>
              <a:t>METPPPPPKLVR</a:t>
            </a:r>
          </a:p>
          <a:p>
            <a:r>
              <a:rPr lang="en-US" dirty="0"/>
              <a:t>&gt;Seq2</a:t>
            </a:r>
          </a:p>
          <a:p>
            <a:r>
              <a:rPr lang="en-US" dirty="0"/>
              <a:t>METPPPPKLVR</a:t>
            </a:r>
          </a:p>
          <a:p>
            <a:r>
              <a:rPr lang="en-US" dirty="0"/>
              <a:t>&gt;Seq3</a:t>
            </a:r>
          </a:p>
          <a:p>
            <a:r>
              <a:rPr lang="en-US" dirty="0"/>
              <a:t>METPPPPSKLVR</a:t>
            </a:r>
          </a:p>
        </p:txBody>
      </p:sp>
      <p:sp>
        <p:nvSpPr>
          <p:cNvPr id="9" name="Google Shape;138;p3">
            <a:extLst>
              <a:ext uri="{FF2B5EF4-FFF2-40B4-BE49-F238E27FC236}">
                <a16:creationId xmlns:a16="http://schemas.microsoft.com/office/drawing/2014/main" id="{66F17B3C-0C42-79EF-851F-F4DE8A6FDFB6}"/>
              </a:ext>
            </a:extLst>
          </p:cNvPr>
          <p:cNvSpPr txBox="1">
            <a:spLocks/>
          </p:cNvSpPr>
          <p:nvPr/>
        </p:nvSpPr>
        <p:spPr>
          <a:xfrm>
            <a:off x="457201" y="1099922"/>
            <a:ext cx="1963614"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Chuỗi</a:t>
            </a:r>
            <a:r>
              <a:rPr lang="en-US" sz="1800" b="1" dirty="0"/>
              <a:t> </a:t>
            </a:r>
            <a:r>
              <a:rPr lang="en-US" sz="1800" b="1" dirty="0" err="1"/>
              <a:t>đầu</a:t>
            </a:r>
            <a:r>
              <a:rPr lang="en-US" sz="1800" b="1" dirty="0"/>
              <a:t> </a:t>
            </a:r>
            <a:r>
              <a:rPr lang="en-US" sz="1800" b="1" dirty="0" err="1"/>
              <a:t>vào</a:t>
            </a:r>
            <a:r>
              <a:rPr lang="en-US" sz="1800" b="1" dirty="0"/>
              <a:t>:</a:t>
            </a:r>
          </a:p>
          <a:p>
            <a:pPr marL="0" indent="0" algn="just">
              <a:lnSpc>
                <a:spcPct val="130000"/>
              </a:lnSpc>
              <a:buClr>
                <a:schemeClr val="accent4">
                  <a:lumMod val="75000"/>
                </a:schemeClr>
              </a:buClr>
              <a:buSzPts val="1976"/>
              <a:buFont typeface="Noto Sans Symbols"/>
              <a:buNone/>
            </a:pPr>
            <a:endParaRPr lang="en-US" sz="1800" dirty="0"/>
          </a:p>
        </p:txBody>
      </p:sp>
      <p:sp>
        <p:nvSpPr>
          <p:cNvPr id="2" name="Google Shape;138;p3">
            <a:extLst>
              <a:ext uri="{FF2B5EF4-FFF2-40B4-BE49-F238E27FC236}">
                <a16:creationId xmlns:a16="http://schemas.microsoft.com/office/drawing/2014/main" id="{58E5CEC3-5544-C355-877E-7A16603FADFA}"/>
              </a:ext>
            </a:extLst>
          </p:cNvPr>
          <p:cNvSpPr txBox="1">
            <a:spLocks/>
          </p:cNvSpPr>
          <p:nvPr/>
        </p:nvSpPr>
        <p:spPr>
          <a:xfrm>
            <a:off x="4185139" y="1079733"/>
            <a:ext cx="2737337"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Sắp</a:t>
            </a:r>
            <a:r>
              <a:rPr lang="en-US" sz="1800" b="1" dirty="0"/>
              <a:t> </a:t>
            </a:r>
            <a:r>
              <a:rPr lang="en-US" sz="1800" b="1" dirty="0" err="1"/>
              <a:t>hàng</a:t>
            </a:r>
            <a:r>
              <a:rPr lang="en-US" sz="1800" b="1" dirty="0"/>
              <a:t> Seq1 </a:t>
            </a:r>
            <a:r>
              <a:rPr lang="en-US" sz="1800" b="1" dirty="0" err="1"/>
              <a:t>và</a:t>
            </a:r>
            <a:r>
              <a:rPr lang="en-US" sz="1800" b="1" dirty="0"/>
              <a:t> Seq2:</a:t>
            </a:r>
          </a:p>
          <a:p>
            <a:pPr marL="0" indent="0" algn="just">
              <a:lnSpc>
                <a:spcPct val="130000"/>
              </a:lnSpc>
              <a:buClr>
                <a:schemeClr val="accent4">
                  <a:lumMod val="75000"/>
                </a:schemeClr>
              </a:buClr>
              <a:buSzPts val="1976"/>
              <a:buFont typeface="Noto Sans Symbols"/>
              <a:buNone/>
            </a:pPr>
            <a:endParaRPr lang="en-US" sz="1800" dirty="0"/>
          </a:p>
        </p:txBody>
      </p:sp>
      <p:pic>
        <p:nvPicPr>
          <p:cNvPr id="5" name="Picture 4">
            <a:extLst>
              <a:ext uri="{FF2B5EF4-FFF2-40B4-BE49-F238E27FC236}">
                <a16:creationId xmlns:a16="http://schemas.microsoft.com/office/drawing/2014/main" id="{48824515-0B65-3C0E-B8BB-52B5159FA534}"/>
              </a:ext>
            </a:extLst>
          </p:cNvPr>
          <p:cNvPicPr>
            <a:picLocks noChangeAspect="1"/>
          </p:cNvPicPr>
          <p:nvPr/>
        </p:nvPicPr>
        <p:blipFill>
          <a:blip r:embed="rId3"/>
          <a:stretch>
            <a:fillRect/>
          </a:stretch>
        </p:blipFill>
        <p:spPr>
          <a:xfrm>
            <a:off x="4283971" y="1677379"/>
            <a:ext cx="2935220" cy="1191418"/>
          </a:xfrm>
          <a:prstGeom prst="rect">
            <a:avLst/>
          </a:prstGeom>
        </p:spPr>
      </p:pic>
      <p:sp>
        <p:nvSpPr>
          <p:cNvPr id="6" name="Google Shape;138;p3">
            <a:extLst>
              <a:ext uri="{FF2B5EF4-FFF2-40B4-BE49-F238E27FC236}">
                <a16:creationId xmlns:a16="http://schemas.microsoft.com/office/drawing/2014/main" id="{BDD550FA-1D22-2525-EB86-36E05FC78382}"/>
              </a:ext>
            </a:extLst>
          </p:cNvPr>
          <p:cNvSpPr txBox="1">
            <a:spLocks/>
          </p:cNvSpPr>
          <p:nvPr/>
        </p:nvSpPr>
        <p:spPr>
          <a:xfrm>
            <a:off x="4188619" y="3045951"/>
            <a:ext cx="4556795"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Sắp</a:t>
            </a:r>
            <a:r>
              <a:rPr lang="en-US" sz="1800" b="1" dirty="0"/>
              <a:t> </a:t>
            </a:r>
            <a:r>
              <a:rPr lang="en-US" sz="1800" b="1" dirty="0" err="1"/>
              <a:t>hàng</a:t>
            </a:r>
            <a:r>
              <a:rPr lang="en-US" sz="1800" b="1" dirty="0"/>
              <a:t> Seq3 </a:t>
            </a:r>
            <a:r>
              <a:rPr lang="en-US" sz="1800" b="1" dirty="0" err="1"/>
              <a:t>với</a:t>
            </a:r>
            <a:r>
              <a:rPr lang="en-US" sz="1800" b="1" dirty="0"/>
              <a:t> </a:t>
            </a:r>
            <a:r>
              <a:rPr lang="en-US" sz="1800" b="1" dirty="0" err="1"/>
              <a:t>kết</a:t>
            </a:r>
            <a:r>
              <a:rPr lang="en-US" sz="1800" b="1" dirty="0"/>
              <a:t> </a:t>
            </a:r>
            <a:r>
              <a:rPr lang="en-US" sz="1800" b="1" dirty="0" err="1"/>
              <a:t>quả</a:t>
            </a:r>
            <a:r>
              <a:rPr lang="en-US" sz="1800" b="1" dirty="0"/>
              <a:t> ở </a:t>
            </a:r>
            <a:r>
              <a:rPr lang="en-US" sz="1800" b="1" dirty="0" err="1"/>
              <a:t>bước</a:t>
            </a:r>
            <a:r>
              <a:rPr lang="en-US" sz="1800" b="1" dirty="0"/>
              <a:t> </a:t>
            </a:r>
            <a:r>
              <a:rPr lang="en-US" sz="1800" b="1" dirty="0" err="1"/>
              <a:t>trước</a:t>
            </a:r>
            <a:r>
              <a:rPr lang="en-US" sz="1800" b="1" dirty="0"/>
              <a:t>:</a:t>
            </a:r>
          </a:p>
          <a:p>
            <a:pPr marL="0" indent="0" algn="just">
              <a:lnSpc>
                <a:spcPct val="130000"/>
              </a:lnSpc>
              <a:buClr>
                <a:schemeClr val="accent4">
                  <a:lumMod val="75000"/>
                </a:schemeClr>
              </a:buClr>
              <a:buSzPts val="1976"/>
              <a:buFont typeface="Noto Sans Symbols"/>
              <a:buNone/>
            </a:pPr>
            <a:endParaRPr lang="en-US" sz="1800" dirty="0"/>
          </a:p>
        </p:txBody>
      </p:sp>
      <p:pic>
        <p:nvPicPr>
          <p:cNvPr id="15" name="Picture 14">
            <a:extLst>
              <a:ext uri="{FF2B5EF4-FFF2-40B4-BE49-F238E27FC236}">
                <a16:creationId xmlns:a16="http://schemas.microsoft.com/office/drawing/2014/main" id="{1284FED6-F054-6404-5E2A-57C86F4B2DF0}"/>
              </a:ext>
            </a:extLst>
          </p:cNvPr>
          <p:cNvPicPr>
            <a:picLocks noChangeAspect="1"/>
          </p:cNvPicPr>
          <p:nvPr/>
        </p:nvPicPr>
        <p:blipFill>
          <a:blip r:embed="rId4"/>
          <a:stretch>
            <a:fillRect/>
          </a:stretch>
        </p:blipFill>
        <p:spPr>
          <a:xfrm>
            <a:off x="4323372" y="3643597"/>
            <a:ext cx="2935220" cy="1537024"/>
          </a:xfrm>
          <a:prstGeom prst="rect">
            <a:avLst/>
          </a:prstGeom>
        </p:spPr>
      </p:pic>
      <p:sp>
        <p:nvSpPr>
          <p:cNvPr id="16" name="Google Shape;138;p3">
            <a:extLst>
              <a:ext uri="{FF2B5EF4-FFF2-40B4-BE49-F238E27FC236}">
                <a16:creationId xmlns:a16="http://schemas.microsoft.com/office/drawing/2014/main" id="{492427D1-0E2E-D9D6-F583-6B8DD7B87C07}"/>
              </a:ext>
            </a:extLst>
          </p:cNvPr>
          <p:cNvSpPr txBox="1">
            <a:spLocks/>
          </p:cNvSpPr>
          <p:nvPr/>
        </p:nvSpPr>
        <p:spPr>
          <a:xfrm>
            <a:off x="398586" y="3045951"/>
            <a:ext cx="2965939"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Kết</a:t>
            </a:r>
            <a:r>
              <a:rPr lang="en-US" sz="1800" b="1" dirty="0"/>
              <a:t> </a:t>
            </a:r>
            <a:r>
              <a:rPr lang="en-US" sz="1800" b="1" dirty="0" err="1"/>
              <a:t>quả</a:t>
            </a:r>
            <a:r>
              <a:rPr lang="en-US" sz="1800" b="1" dirty="0"/>
              <a:t> </a:t>
            </a:r>
            <a:r>
              <a:rPr lang="en-US" sz="1800" b="1" dirty="0" err="1"/>
              <a:t>tối</a:t>
            </a:r>
            <a:r>
              <a:rPr lang="en-US" sz="1800" b="1" dirty="0"/>
              <a:t> </a:t>
            </a:r>
            <a:r>
              <a:rPr lang="en-US" sz="1800" b="1" dirty="0" err="1"/>
              <a:t>ưu</a:t>
            </a:r>
            <a:r>
              <a:rPr lang="en-US" sz="1800" b="1" dirty="0"/>
              <a:t> </a:t>
            </a:r>
            <a:r>
              <a:rPr lang="en-US" sz="1800" b="1" dirty="0" err="1"/>
              <a:t>sinh</a:t>
            </a:r>
            <a:r>
              <a:rPr lang="en-US" sz="1800" b="1" dirty="0"/>
              <a:t> </a:t>
            </a:r>
            <a:r>
              <a:rPr lang="en-US" sz="1800" b="1" dirty="0" err="1"/>
              <a:t>học</a:t>
            </a:r>
            <a:r>
              <a:rPr lang="en-US" sz="1800" b="1" dirty="0"/>
              <a:t>:</a:t>
            </a:r>
          </a:p>
          <a:p>
            <a:pPr marL="0" lvl="0" indent="0" algn="just">
              <a:lnSpc>
                <a:spcPct val="130000"/>
              </a:lnSpc>
              <a:buClr>
                <a:schemeClr val="accent4">
                  <a:lumMod val="75000"/>
                </a:schemeClr>
              </a:buClr>
              <a:buSzPts val="1976"/>
              <a:buNone/>
            </a:pPr>
            <a:endParaRPr lang="en-US" sz="1800" dirty="0"/>
          </a:p>
          <a:p>
            <a:pPr marL="0" lvl="0" indent="0" algn="just">
              <a:lnSpc>
                <a:spcPct val="130000"/>
              </a:lnSpc>
              <a:buClr>
                <a:schemeClr val="accent4">
                  <a:lumMod val="75000"/>
                </a:schemeClr>
              </a:buClr>
              <a:buSzPts val="1976"/>
              <a:buNone/>
            </a:pPr>
            <a:endParaRPr lang="en-US" sz="1800" b="1" dirty="0"/>
          </a:p>
          <a:p>
            <a:pPr marL="0" indent="0" algn="just">
              <a:lnSpc>
                <a:spcPct val="130000"/>
              </a:lnSpc>
              <a:buClr>
                <a:schemeClr val="accent4">
                  <a:lumMod val="75000"/>
                </a:schemeClr>
              </a:buClr>
              <a:buSzPts val="1976"/>
              <a:buFont typeface="Noto Sans Symbols"/>
              <a:buNone/>
            </a:pPr>
            <a:endParaRPr lang="en-US" sz="1800" dirty="0"/>
          </a:p>
        </p:txBody>
      </p:sp>
      <p:sp>
        <p:nvSpPr>
          <p:cNvPr id="17" name="TextBox 16">
            <a:extLst>
              <a:ext uri="{FF2B5EF4-FFF2-40B4-BE49-F238E27FC236}">
                <a16:creationId xmlns:a16="http://schemas.microsoft.com/office/drawing/2014/main" id="{62794CBF-F3D2-E862-E0C9-25BBC4D8070B}"/>
              </a:ext>
            </a:extLst>
          </p:cNvPr>
          <p:cNvSpPr txBox="1"/>
          <p:nvPr/>
        </p:nvSpPr>
        <p:spPr>
          <a:xfrm>
            <a:off x="398586" y="3633009"/>
            <a:ext cx="3077306" cy="1046440"/>
          </a:xfrm>
          <a:prstGeom prst="rect">
            <a:avLst/>
          </a:prstGeom>
          <a:noFill/>
        </p:spPr>
        <p:txBody>
          <a:bodyPr wrap="square">
            <a:spAutoFit/>
          </a:bodyPr>
          <a:lstStyle/>
          <a:p>
            <a:pPr>
              <a:spcBef>
                <a:spcPts val="600"/>
              </a:spcBef>
              <a:spcAft>
                <a:spcPts val="600"/>
              </a:spcAft>
            </a:pPr>
            <a:r>
              <a:rPr lang="en-US" dirty="0"/>
              <a:t>Seq1: M E T P </a:t>
            </a:r>
            <a:r>
              <a:rPr lang="en-US" dirty="0" err="1"/>
              <a:t>P</a:t>
            </a:r>
            <a:r>
              <a:rPr lang="en-US" dirty="0"/>
              <a:t> </a:t>
            </a:r>
            <a:r>
              <a:rPr lang="en-US" dirty="0" err="1"/>
              <a:t>P</a:t>
            </a:r>
            <a:r>
              <a:rPr lang="en-US" dirty="0"/>
              <a:t> </a:t>
            </a:r>
            <a:r>
              <a:rPr lang="en-US" dirty="0" err="1"/>
              <a:t>P</a:t>
            </a:r>
            <a:r>
              <a:rPr lang="en-US" dirty="0"/>
              <a:t> </a:t>
            </a:r>
            <a:r>
              <a:rPr lang="en-US" dirty="0" err="1"/>
              <a:t>P</a:t>
            </a:r>
            <a:r>
              <a:rPr lang="en-US" dirty="0"/>
              <a:t> K L V R</a:t>
            </a:r>
          </a:p>
          <a:p>
            <a:pPr>
              <a:spcBef>
                <a:spcPts val="600"/>
              </a:spcBef>
              <a:spcAft>
                <a:spcPts val="600"/>
              </a:spcAft>
            </a:pPr>
            <a:r>
              <a:rPr lang="en-US" dirty="0"/>
              <a:t>Seq2: M E T P </a:t>
            </a:r>
            <a:r>
              <a:rPr lang="en-US" dirty="0" err="1"/>
              <a:t>P</a:t>
            </a:r>
            <a:r>
              <a:rPr lang="en-US" dirty="0"/>
              <a:t> </a:t>
            </a:r>
            <a:r>
              <a:rPr lang="en-US" dirty="0" err="1"/>
              <a:t>P</a:t>
            </a:r>
            <a:r>
              <a:rPr lang="en-US" dirty="0"/>
              <a:t> </a:t>
            </a:r>
            <a:r>
              <a:rPr lang="en-US" dirty="0" err="1"/>
              <a:t>P</a:t>
            </a:r>
            <a:r>
              <a:rPr lang="en-US" dirty="0"/>
              <a:t> _ K L V R</a:t>
            </a:r>
          </a:p>
          <a:p>
            <a:pPr>
              <a:spcBef>
                <a:spcPts val="600"/>
              </a:spcBef>
              <a:spcAft>
                <a:spcPts val="600"/>
              </a:spcAft>
            </a:pPr>
            <a:r>
              <a:rPr lang="en-US" dirty="0"/>
              <a:t>Seq3: M E T P </a:t>
            </a:r>
            <a:r>
              <a:rPr lang="en-US" dirty="0" err="1"/>
              <a:t>P</a:t>
            </a:r>
            <a:r>
              <a:rPr lang="en-US" dirty="0"/>
              <a:t> </a:t>
            </a:r>
            <a:r>
              <a:rPr lang="en-US" dirty="0" err="1"/>
              <a:t>P</a:t>
            </a:r>
            <a:r>
              <a:rPr lang="en-US" dirty="0"/>
              <a:t> </a:t>
            </a:r>
            <a:r>
              <a:rPr lang="en-US" dirty="0" err="1"/>
              <a:t>P</a:t>
            </a:r>
            <a:r>
              <a:rPr lang="en-US" dirty="0"/>
              <a:t> S K L V R</a:t>
            </a:r>
          </a:p>
        </p:txBody>
      </p:sp>
      <p:sp>
        <p:nvSpPr>
          <p:cNvPr id="18" name="Google Shape;138;p3">
            <a:extLst>
              <a:ext uri="{FF2B5EF4-FFF2-40B4-BE49-F238E27FC236}">
                <a16:creationId xmlns:a16="http://schemas.microsoft.com/office/drawing/2014/main" id="{68C97326-14D6-B47E-2281-61FB84995265}"/>
              </a:ext>
            </a:extLst>
          </p:cNvPr>
          <p:cNvSpPr txBox="1">
            <a:spLocks/>
          </p:cNvSpPr>
          <p:nvPr/>
        </p:nvSpPr>
        <p:spPr>
          <a:xfrm>
            <a:off x="398586" y="5012169"/>
            <a:ext cx="8179572" cy="12538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dirty="0"/>
              <a:t>Tuy </a:t>
            </a:r>
            <a:r>
              <a:rPr lang="en-US" sz="1800" b="1" dirty="0"/>
              <a:t>Progressive </a:t>
            </a:r>
            <a:r>
              <a:rPr lang="en-US" sz="1800" dirty="0" err="1"/>
              <a:t>có</a:t>
            </a:r>
            <a:r>
              <a:rPr lang="en-US" sz="1800" dirty="0"/>
              <a:t> </a:t>
            </a:r>
            <a:r>
              <a:rPr lang="en-US" sz="1800" dirty="0" err="1"/>
              <a:t>ưu</a:t>
            </a:r>
            <a:r>
              <a:rPr lang="en-US" sz="1800" dirty="0"/>
              <a:t> </a:t>
            </a:r>
            <a:r>
              <a:rPr lang="en-US" sz="1800" dirty="0" err="1"/>
              <a:t>điểm</a:t>
            </a:r>
            <a:r>
              <a:rPr lang="en-US" sz="1800" dirty="0"/>
              <a:t> </a:t>
            </a:r>
            <a:r>
              <a:rPr lang="en-US" sz="1800" dirty="0" err="1"/>
              <a:t>là</a:t>
            </a:r>
            <a:r>
              <a:rPr lang="en-US" sz="1800" dirty="0"/>
              <a:t> </a:t>
            </a:r>
            <a:r>
              <a:rPr lang="en-US" sz="1800" dirty="0" err="1"/>
              <a:t>thời</a:t>
            </a:r>
            <a:r>
              <a:rPr lang="en-US" sz="1800" dirty="0"/>
              <a:t> </a:t>
            </a:r>
            <a:r>
              <a:rPr lang="en-US" sz="1800" dirty="0" err="1"/>
              <a:t>gian</a:t>
            </a:r>
            <a:r>
              <a:rPr lang="en-US" sz="1800" dirty="0"/>
              <a:t> </a:t>
            </a:r>
            <a:r>
              <a:rPr lang="en-US" sz="1800" dirty="0" err="1"/>
              <a:t>chạy</a:t>
            </a:r>
            <a:r>
              <a:rPr lang="en-US" sz="1800" dirty="0"/>
              <a:t> </a:t>
            </a:r>
            <a:r>
              <a:rPr lang="en-US" sz="1800" dirty="0" err="1"/>
              <a:t>nhanh</a:t>
            </a:r>
            <a:r>
              <a:rPr lang="en-US" sz="1800" dirty="0"/>
              <a:t>, </a:t>
            </a:r>
            <a:r>
              <a:rPr lang="en-US" sz="1800" dirty="0" err="1"/>
              <a:t>tuy</a:t>
            </a:r>
            <a:r>
              <a:rPr lang="en-US" sz="1800" dirty="0"/>
              <a:t> </a:t>
            </a:r>
            <a:r>
              <a:rPr lang="en-US" sz="1800" dirty="0" err="1"/>
              <a:t>nhiên</a:t>
            </a:r>
            <a:r>
              <a:rPr lang="en-US" sz="1800" dirty="0"/>
              <a:t>, </a:t>
            </a:r>
            <a:r>
              <a:rPr lang="en-US" sz="1800" dirty="0" err="1"/>
              <a:t>dễ</a:t>
            </a:r>
            <a:r>
              <a:rPr lang="en-US" sz="1800" dirty="0"/>
              <a:t> </a:t>
            </a:r>
            <a:r>
              <a:rPr lang="en-US" sz="1800" dirty="0" err="1"/>
              <a:t>dẫn</a:t>
            </a:r>
            <a:r>
              <a:rPr lang="en-US" sz="1800" dirty="0"/>
              <a:t> </a:t>
            </a:r>
            <a:r>
              <a:rPr lang="en-US" sz="1800" dirty="0" err="1"/>
              <a:t>tới</a:t>
            </a:r>
            <a:r>
              <a:rPr lang="en-US" sz="1800" dirty="0"/>
              <a:t> </a:t>
            </a:r>
            <a:r>
              <a:rPr lang="en-US" sz="1800" dirty="0" err="1"/>
              <a:t>sai</a:t>
            </a:r>
            <a:r>
              <a:rPr lang="en-US" sz="1800" dirty="0"/>
              <a:t> </a:t>
            </a:r>
            <a:r>
              <a:rPr lang="en-US" sz="1800" dirty="0" err="1"/>
              <a:t>sót</a:t>
            </a:r>
            <a:r>
              <a:rPr lang="en-US" sz="1800" dirty="0"/>
              <a:t> </a:t>
            </a:r>
            <a:r>
              <a:rPr lang="en-US" sz="1800" dirty="0" err="1"/>
              <a:t>tích</a:t>
            </a:r>
            <a:r>
              <a:rPr lang="en-US" sz="1800" dirty="0"/>
              <a:t> </a:t>
            </a:r>
            <a:r>
              <a:rPr lang="en-US" sz="1800" dirty="0" err="1"/>
              <a:t>lũy</a:t>
            </a:r>
            <a:r>
              <a:rPr lang="en-US" sz="1800" dirty="0"/>
              <a:t> (once a gap – always a gap).</a:t>
            </a:r>
          </a:p>
          <a:p>
            <a:pPr marL="0" lvl="0" indent="0" algn="just">
              <a:lnSpc>
                <a:spcPct val="130000"/>
              </a:lnSpc>
              <a:buClr>
                <a:schemeClr val="accent4">
                  <a:lumMod val="75000"/>
                </a:schemeClr>
              </a:buClr>
              <a:buSzPts val="1976"/>
              <a:buNone/>
            </a:pPr>
            <a:r>
              <a:rPr lang="en-US" sz="1800" b="1" dirty="0" err="1"/>
              <a:t>Một</a:t>
            </a:r>
            <a:r>
              <a:rPr lang="en-US" sz="1800" b="1" dirty="0"/>
              <a:t> </a:t>
            </a:r>
            <a:r>
              <a:rPr lang="en-US" sz="1800" b="1" dirty="0" err="1"/>
              <a:t>số</a:t>
            </a:r>
            <a:r>
              <a:rPr lang="en-US" sz="1800" b="1" dirty="0"/>
              <a:t> </a:t>
            </a:r>
            <a:r>
              <a:rPr lang="en-US" sz="1800" b="1" dirty="0" err="1"/>
              <a:t>công</a:t>
            </a:r>
            <a:r>
              <a:rPr lang="en-US" sz="1800" b="1" dirty="0"/>
              <a:t> </a:t>
            </a:r>
            <a:r>
              <a:rPr lang="en-US" sz="1800" b="1" dirty="0" err="1"/>
              <a:t>cụ</a:t>
            </a:r>
            <a:r>
              <a:rPr lang="en-US" sz="1800" b="1" dirty="0"/>
              <a:t> </a:t>
            </a:r>
            <a:r>
              <a:rPr lang="en-US" sz="1800" b="1" dirty="0" err="1"/>
              <a:t>tiêu</a:t>
            </a:r>
            <a:r>
              <a:rPr lang="en-US" sz="1800" b="1" dirty="0"/>
              <a:t> </a:t>
            </a:r>
            <a:r>
              <a:rPr lang="en-US" sz="1800" b="1" dirty="0" err="1"/>
              <a:t>biểu</a:t>
            </a:r>
            <a:r>
              <a:rPr lang="en-US" sz="1800" b="1" dirty="0"/>
              <a:t>: </a:t>
            </a:r>
            <a:r>
              <a:rPr lang="en-US" sz="1800" dirty="0" err="1"/>
              <a:t>Clustal</a:t>
            </a:r>
            <a:r>
              <a:rPr lang="en-US" sz="1800" dirty="0"/>
              <a:t>, T-COFFEE</a:t>
            </a:r>
          </a:p>
        </p:txBody>
      </p:sp>
    </p:spTree>
    <p:extLst>
      <p:ext uri="{BB962C8B-B14F-4D97-AF65-F5344CB8AC3E}">
        <p14:creationId xmlns:p14="http://schemas.microsoft.com/office/powerpoint/2010/main" val="13726419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014F8203-65E4-BDAE-A2DD-74A36CD32DE3}"/>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4365FA65-80D9-C6F7-28ED-4FCDE336FBE9}"/>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a:t>Iterative Refinement</a:t>
            </a:r>
            <a:endParaRPr dirty="0"/>
          </a:p>
        </p:txBody>
      </p:sp>
      <p:sp>
        <p:nvSpPr>
          <p:cNvPr id="3" name="Slide Number Placeholder 2">
            <a:extLst>
              <a:ext uri="{FF2B5EF4-FFF2-40B4-BE49-F238E27FC236}">
                <a16:creationId xmlns:a16="http://schemas.microsoft.com/office/drawing/2014/main" id="{631168C9-427D-6F86-1597-BDC64C0C92D7}"/>
              </a:ext>
            </a:extLst>
          </p:cNvPr>
          <p:cNvSpPr>
            <a:spLocks noGrp="1"/>
          </p:cNvSpPr>
          <p:nvPr>
            <p:ph type="sldNum" idx="12"/>
          </p:nvPr>
        </p:nvSpPr>
        <p:spPr/>
        <p:txBody>
          <a:bodyPr/>
          <a:lstStyle/>
          <a:p>
            <a:r>
              <a:rPr lang="en-US" dirty="0"/>
              <a:t>34</a:t>
            </a:r>
          </a:p>
        </p:txBody>
      </p:sp>
      <p:sp>
        <p:nvSpPr>
          <p:cNvPr id="2" name="Google Shape;138;p3">
            <a:extLst>
              <a:ext uri="{FF2B5EF4-FFF2-40B4-BE49-F238E27FC236}">
                <a16:creationId xmlns:a16="http://schemas.microsoft.com/office/drawing/2014/main" id="{D0E0AB92-E71E-10DB-24B7-1BC34A420392}"/>
              </a:ext>
            </a:extLst>
          </p:cNvPr>
          <p:cNvSpPr txBox="1">
            <a:spLocks noGrp="1"/>
          </p:cNvSpPr>
          <p:nvPr>
            <p:ph type="body" idx="1"/>
          </p:nvPr>
        </p:nvSpPr>
        <p:spPr>
          <a:xfrm>
            <a:off x="540871" y="1143000"/>
            <a:ext cx="7677006" cy="4841631"/>
          </a:xfrm>
          <a:prstGeom prst="rect">
            <a:avLst/>
          </a:prstGeom>
          <a:noFill/>
          <a:ln>
            <a:noFill/>
          </a:ln>
        </p:spPr>
        <p:txBody>
          <a:bodyPr spcFirstLastPara="1" wrap="square" lIns="91425" tIns="45700" rIns="91425" bIns="45700" anchor="t" anchorCtr="0">
            <a:noAutofit/>
          </a:bodyPr>
          <a:lstStyle/>
          <a:p>
            <a:pPr marL="0" lvl="0" indent="0" algn="just">
              <a:lnSpc>
                <a:spcPct val="130000"/>
              </a:lnSpc>
              <a:buClr>
                <a:schemeClr val="accent4">
                  <a:lumMod val="75000"/>
                </a:schemeClr>
              </a:buClr>
              <a:buSzPts val="1976"/>
              <a:buNone/>
            </a:pPr>
            <a:r>
              <a:rPr lang="en-US" sz="1600" b="1" dirty="0"/>
              <a:t>Các </a:t>
            </a:r>
            <a:r>
              <a:rPr lang="en-US" sz="1600" b="1" dirty="0" err="1"/>
              <a:t>bước</a:t>
            </a:r>
            <a:r>
              <a:rPr lang="en-US" sz="1600" b="1" dirty="0"/>
              <a:t> </a:t>
            </a:r>
            <a:r>
              <a:rPr lang="en-US" sz="1600" b="1" dirty="0" err="1"/>
              <a:t>hoạt</a:t>
            </a:r>
            <a:r>
              <a:rPr lang="en-US" sz="1600" b="1" dirty="0"/>
              <a:t> </a:t>
            </a:r>
            <a:r>
              <a:rPr lang="en-US" sz="1600" b="1" dirty="0" err="1"/>
              <a:t>động</a:t>
            </a:r>
            <a:r>
              <a:rPr lang="en-US" sz="1600" b="1" dirty="0"/>
              <a:t> </a:t>
            </a:r>
            <a:r>
              <a:rPr lang="en-US" sz="1600" b="1" dirty="0" err="1"/>
              <a:t>của</a:t>
            </a:r>
            <a:r>
              <a:rPr lang="en-US" sz="1600" b="1" dirty="0"/>
              <a:t> </a:t>
            </a:r>
            <a:r>
              <a:rPr lang="en-US" sz="1600" b="1" dirty="0" err="1"/>
              <a:t>phương</a:t>
            </a:r>
            <a:r>
              <a:rPr lang="en-US" sz="1600" b="1" dirty="0"/>
              <a:t> </a:t>
            </a:r>
            <a:r>
              <a:rPr lang="en-US" sz="1600" b="1" dirty="0" err="1"/>
              <a:t>pháp</a:t>
            </a:r>
            <a:r>
              <a:rPr lang="en-US" sz="1600" b="1" dirty="0"/>
              <a:t> Iterative Refinement:</a:t>
            </a:r>
          </a:p>
          <a:p>
            <a:pPr lvl="0" indent="-457200" algn="just">
              <a:lnSpc>
                <a:spcPct val="130000"/>
              </a:lnSpc>
              <a:buClr>
                <a:schemeClr val="accent4">
                  <a:lumMod val="75000"/>
                </a:schemeClr>
              </a:buClr>
              <a:buSzPts val="1976"/>
              <a:buFont typeface="Wingdings" panose="05000000000000000000" pitchFamily="2" charset="2"/>
              <a:buChar char="q"/>
            </a:pPr>
            <a:r>
              <a:rPr lang="en-US" sz="1600" b="1" dirty="0" err="1"/>
              <a:t>Tạo</a:t>
            </a:r>
            <a:r>
              <a:rPr lang="en-US" sz="1600" b="1" dirty="0"/>
              <a:t> </a:t>
            </a:r>
            <a:r>
              <a:rPr lang="en-US" sz="1600" b="1" dirty="0" err="1"/>
              <a:t>bản</a:t>
            </a:r>
            <a:r>
              <a:rPr lang="en-US" sz="1600" b="1" dirty="0"/>
              <a:t> </a:t>
            </a:r>
            <a:r>
              <a:rPr lang="en-US" sz="1600" b="1" dirty="0" err="1"/>
              <a:t>sắp</a:t>
            </a:r>
            <a:r>
              <a:rPr lang="en-US" sz="1600" b="1" dirty="0"/>
              <a:t> </a:t>
            </a:r>
            <a:r>
              <a:rPr lang="en-US" sz="1600" b="1" dirty="0" err="1"/>
              <a:t>hàng</a:t>
            </a:r>
            <a:r>
              <a:rPr lang="en-US" sz="1600" b="1" dirty="0"/>
              <a:t> ban </a:t>
            </a:r>
            <a:r>
              <a:rPr lang="en-US" sz="1600" b="1" dirty="0" err="1"/>
              <a:t>đầu</a:t>
            </a:r>
            <a:r>
              <a:rPr lang="en-US" sz="1600" b="1" dirty="0"/>
              <a:t> (Initial Alignment):</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err="1"/>
              <a:t>Sử</a:t>
            </a:r>
            <a:r>
              <a:rPr lang="en-US" sz="1400" dirty="0"/>
              <a:t> </a:t>
            </a:r>
            <a:r>
              <a:rPr lang="en-US" sz="1400" dirty="0" err="1"/>
              <a:t>dụng</a:t>
            </a:r>
            <a:r>
              <a:rPr lang="en-US" sz="1400" dirty="0"/>
              <a:t> </a:t>
            </a:r>
            <a:r>
              <a:rPr lang="en-US" sz="1400" dirty="0" err="1"/>
              <a:t>phương</a:t>
            </a:r>
            <a:r>
              <a:rPr lang="en-US" sz="1400" dirty="0"/>
              <a:t> </a:t>
            </a:r>
            <a:r>
              <a:rPr lang="en-US" sz="1400" dirty="0" err="1"/>
              <a:t>pháp</a:t>
            </a:r>
            <a:r>
              <a:rPr lang="en-US" sz="1400" dirty="0"/>
              <a:t> Progressive </a:t>
            </a:r>
            <a:r>
              <a:rPr lang="en-US" sz="1400" dirty="0" err="1"/>
              <a:t>để</a:t>
            </a:r>
            <a:r>
              <a:rPr lang="en-US" sz="1400" dirty="0"/>
              <a:t> </a:t>
            </a:r>
            <a:r>
              <a:rPr lang="en-US" sz="1400" dirty="0" err="1"/>
              <a:t>tạo</a:t>
            </a:r>
            <a:r>
              <a:rPr lang="en-US" sz="1400" dirty="0"/>
              <a:t> </a:t>
            </a:r>
            <a:r>
              <a:rPr lang="en-US" sz="1400" dirty="0" err="1"/>
              <a:t>một</a:t>
            </a:r>
            <a:r>
              <a:rPr lang="en-US" sz="1400" dirty="0"/>
              <a:t> </a:t>
            </a:r>
            <a:r>
              <a:rPr lang="en-US" sz="1400" dirty="0" err="1"/>
              <a:t>bản</a:t>
            </a:r>
            <a:r>
              <a:rPr lang="en-US" sz="1400" dirty="0"/>
              <a:t> </a:t>
            </a:r>
            <a:r>
              <a:rPr lang="en-US" sz="1400" dirty="0" err="1"/>
              <a:t>sắp</a:t>
            </a:r>
            <a:r>
              <a:rPr lang="en-US" sz="1400" dirty="0"/>
              <a:t> </a:t>
            </a:r>
            <a:r>
              <a:rPr lang="en-US" sz="1400" dirty="0" err="1"/>
              <a:t>hàng</a:t>
            </a:r>
            <a:r>
              <a:rPr lang="en-US" sz="1400" dirty="0"/>
              <a:t> </a:t>
            </a:r>
            <a:r>
              <a:rPr lang="en-US" sz="1400" dirty="0" err="1"/>
              <a:t>sơ</a:t>
            </a:r>
            <a:r>
              <a:rPr lang="en-US" sz="1400" dirty="0"/>
              <a:t> </a:t>
            </a:r>
            <a:r>
              <a:rPr lang="en-US" sz="1400" dirty="0" err="1"/>
              <a:t>bộ</a:t>
            </a:r>
            <a:r>
              <a:rPr lang="en-US" sz="1400" dirty="0"/>
              <a:t>.</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600" b="1" dirty="0" err="1"/>
              <a:t>Lặp</a:t>
            </a:r>
            <a:r>
              <a:rPr lang="en-US" sz="1600" b="1" dirty="0"/>
              <a:t> </a:t>
            </a:r>
            <a:r>
              <a:rPr lang="en-US" sz="1600" b="1" dirty="0" err="1"/>
              <a:t>lại</a:t>
            </a:r>
            <a:r>
              <a:rPr lang="en-US" sz="1600" b="1" dirty="0"/>
              <a:t> </a:t>
            </a:r>
            <a:r>
              <a:rPr lang="en-US" sz="1600" b="1" dirty="0" err="1"/>
              <a:t>và</a:t>
            </a:r>
            <a:r>
              <a:rPr lang="en-US" sz="1600" b="1" dirty="0"/>
              <a:t> Tinh </a:t>
            </a:r>
            <a:r>
              <a:rPr lang="en-US" sz="1600" b="1" dirty="0" err="1"/>
              <a:t>chỉnh</a:t>
            </a:r>
            <a:r>
              <a:rPr lang="en-US" sz="1600" b="1" dirty="0"/>
              <a:t> (Iteration &amp; Refinement):</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a:t>B</a:t>
            </a:r>
            <a:r>
              <a:rPr lang="vi-VN" sz="1400" dirty="0"/>
              <a:t>ản sắp hàng ban đầu được chia nhỏ ra (tách 1 hoặc 1 nhóm trình tự ra khỏi bản</a:t>
            </a:r>
            <a:r>
              <a:rPr lang="en-US" sz="1400" dirty="0"/>
              <a:t> </a:t>
            </a:r>
            <a:r>
              <a:rPr lang="en-US" sz="1400" dirty="0" err="1"/>
              <a:t>sơ</a:t>
            </a:r>
            <a:r>
              <a:rPr lang="en-US" sz="1400" dirty="0"/>
              <a:t> </a:t>
            </a:r>
            <a:r>
              <a:rPr lang="en-US" sz="1400" dirty="0" err="1"/>
              <a:t>bộ</a:t>
            </a:r>
            <a:r>
              <a:rPr lang="vi-VN" sz="1400" dirty="0"/>
              <a:t>)</a:t>
            </a:r>
            <a:r>
              <a:rPr lang="en-US" sz="1400" dirty="0"/>
              <a:t>.</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err="1"/>
              <a:t>Hệ</a:t>
            </a:r>
            <a:r>
              <a:rPr lang="en-US" sz="1400" dirty="0"/>
              <a:t> </a:t>
            </a:r>
            <a:r>
              <a:rPr lang="en-US" sz="1400" dirty="0" err="1"/>
              <a:t>thống</a:t>
            </a:r>
            <a:r>
              <a:rPr lang="en-US" sz="1400" dirty="0"/>
              <a:t> </a:t>
            </a:r>
            <a:r>
              <a:rPr lang="en-US" sz="1400" dirty="0" err="1"/>
              <a:t>sắp</a:t>
            </a:r>
            <a:r>
              <a:rPr lang="en-US" sz="1400" dirty="0"/>
              <a:t> </a:t>
            </a:r>
            <a:r>
              <a:rPr lang="en-US" sz="1400" dirty="0" err="1"/>
              <a:t>xếp</a:t>
            </a:r>
            <a:r>
              <a:rPr lang="en-US" sz="1400" dirty="0"/>
              <a:t> </a:t>
            </a:r>
            <a:r>
              <a:rPr lang="en-US" sz="1400" dirty="0" err="1"/>
              <a:t>lại</a:t>
            </a:r>
            <a:r>
              <a:rPr lang="en-US" sz="1400" dirty="0"/>
              <a:t> </a:t>
            </a:r>
            <a:r>
              <a:rPr lang="en-US" sz="1400" dirty="0" err="1"/>
              <a:t>các</a:t>
            </a:r>
            <a:r>
              <a:rPr lang="en-US" sz="1400" dirty="0"/>
              <a:t> </a:t>
            </a:r>
            <a:r>
              <a:rPr lang="en-US" sz="1400" dirty="0" err="1"/>
              <a:t>phần</a:t>
            </a:r>
            <a:r>
              <a:rPr lang="en-US" sz="1400" dirty="0"/>
              <a:t> </a:t>
            </a:r>
            <a:r>
              <a:rPr lang="en-US" sz="1400" dirty="0" err="1"/>
              <a:t>này</a:t>
            </a:r>
            <a:r>
              <a:rPr lang="en-US" sz="1400" dirty="0"/>
              <a:t> </a:t>
            </a:r>
            <a:r>
              <a:rPr lang="en-US" sz="1400" dirty="0" err="1"/>
              <a:t>với</a:t>
            </a:r>
            <a:r>
              <a:rPr lang="en-US" sz="1400" dirty="0"/>
              <a:t> </a:t>
            </a:r>
            <a:r>
              <a:rPr lang="en-US" sz="1400" dirty="0" err="1"/>
              <a:t>nhau</a:t>
            </a:r>
            <a:r>
              <a:rPr lang="en-US" sz="1400" dirty="0"/>
              <a:t>. </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err="1"/>
              <a:t>Mục</a:t>
            </a:r>
            <a:r>
              <a:rPr lang="en-US" sz="1400" dirty="0"/>
              <a:t> </a:t>
            </a:r>
            <a:r>
              <a:rPr lang="en-US" sz="1400" dirty="0" err="1"/>
              <a:t>tiêu</a:t>
            </a:r>
            <a:r>
              <a:rPr lang="en-US" sz="1400" dirty="0"/>
              <a:t> </a:t>
            </a:r>
            <a:r>
              <a:rPr lang="en-US" sz="1400" dirty="0" err="1"/>
              <a:t>là</a:t>
            </a:r>
            <a:r>
              <a:rPr lang="en-US" sz="1400" dirty="0"/>
              <a:t> </a:t>
            </a:r>
            <a:r>
              <a:rPr lang="en-US" sz="1400" dirty="0" err="1"/>
              <a:t>kiểm</a:t>
            </a:r>
            <a:r>
              <a:rPr lang="en-US" sz="1400" dirty="0"/>
              <a:t> </a:t>
            </a:r>
            <a:r>
              <a:rPr lang="en-US" sz="1400" dirty="0" err="1"/>
              <a:t>tra</a:t>
            </a:r>
            <a:r>
              <a:rPr lang="en-US" sz="1400" dirty="0"/>
              <a:t> </a:t>
            </a:r>
            <a:r>
              <a:rPr lang="en-US" sz="1400" dirty="0" err="1"/>
              <a:t>việc</a:t>
            </a:r>
            <a:r>
              <a:rPr lang="en-US" sz="1400" dirty="0"/>
              <a:t> </a:t>
            </a:r>
            <a:r>
              <a:rPr lang="en-US" sz="1400" dirty="0" err="1"/>
              <a:t>thay</a:t>
            </a:r>
            <a:r>
              <a:rPr lang="en-US" sz="1400" dirty="0"/>
              <a:t> </a:t>
            </a:r>
            <a:r>
              <a:rPr lang="en-US" sz="1400" dirty="0" err="1"/>
              <a:t>đổi</a:t>
            </a:r>
            <a:r>
              <a:rPr lang="en-US" sz="1400" dirty="0"/>
              <a:t> </a:t>
            </a:r>
            <a:r>
              <a:rPr lang="en-US" sz="1400" dirty="0" err="1"/>
              <a:t>vị</a:t>
            </a:r>
            <a:r>
              <a:rPr lang="en-US" sz="1400" dirty="0"/>
              <a:t> </a:t>
            </a:r>
            <a:r>
              <a:rPr lang="en-US" sz="1400" dirty="0" err="1"/>
              <a:t>trí</a:t>
            </a:r>
            <a:r>
              <a:rPr lang="en-US" sz="1400" dirty="0"/>
              <a:t> </a:t>
            </a:r>
            <a:r>
              <a:rPr lang="en-US" sz="1400" dirty="0" err="1"/>
              <a:t>các</a:t>
            </a:r>
            <a:r>
              <a:rPr lang="en-US" sz="1400" dirty="0"/>
              <a:t> </a:t>
            </a:r>
            <a:r>
              <a:rPr lang="en-US" sz="1400" dirty="0" err="1"/>
              <a:t>khoảng</a:t>
            </a:r>
            <a:r>
              <a:rPr lang="en-US" sz="1400" dirty="0"/>
              <a:t> </a:t>
            </a:r>
            <a:r>
              <a:rPr lang="en-US" sz="1400" dirty="0" err="1"/>
              <a:t>trống</a:t>
            </a:r>
            <a:r>
              <a:rPr lang="en-US" sz="1400" dirty="0"/>
              <a:t> </a:t>
            </a:r>
            <a:r>
              <a:rPr lang="en-US" sz="1400" dirty="0" err="1"/>
              <a:t>hoặc</a:t>
            </a:r>
            <a:r>
              <a:rPr lang="en-US" sz="1400" dirty="0"/>
              <a:t> </a:t>
            </a:r>
            <a:r>
              <a:rPr lang="en-US" sz="1400" dirty="0" err="1"/>
              <a:t>các</a:t>
            </a:r>
            <a:r>
              <a:rPr lang="en-US" sz="1400" dirty="0"/>
              <a:t> </a:t>
            </a:r>
            <a:r>
              <a:rPr lang="en-US" sz="1400" dirty="0" err="1"/>
              <a:t>cặp</a:t>
            </a:r>
            <a:r>
              <a:rPr lang="en-US" sz="1400" dirty="0"/>
              <a:t> </a:t>
            </a:r>
            <a:r>
              <a:rPr lang="en-US" sz="1400" dirty="0" err="1"/>
              <a:t>ký</a:t>
            </a:r>
            <a:r>
              <a:rPr lang="en-US" sz="1400" dirty="0"/>
              <a:t> </a:t>
            </a:r>
            <a:r>
              <a:rPr lang="en-US" sz="1400" dirty="0" err="1"/>
              <a:t>tự</a:t>
            </a:r>
            <a:r>
              <a:rPr lang="en-US" sz="1400" dirty="0"/>
              <a:t> </a:t>
            </a:r>
            <a:r>
              <a:rPr lang="en-US" sz="1400" dirty="0" err="1"/>
              <a:t>có</a:t>
            </a:r>
            <a:r>
              <a:rPr lang="en-US" sz="1400" dirty="0"/>
              <a:t> </a:t>
            </a:r>
            <a:r>
              <a:rPr lang="en-US" sz="1400" dirty="0" err="1"/>
              <a:t>giúp</a:t>
            </a:r>
            <a:r>
              <a:rPr lang="en-US" sz="1400" dirty="0"/>
              <a:t> </a:t>
            </a:r>
            <a:r>
              <a:rPr lang="en-US" sz="1400" dirty="0" err="1"/>
              <a:t>cải</a:t>
            </a:r>
            <a:r>
              <a:rPr lang="en-US" sz="1400" dirty="0"/>
              <a:t> </a:t>
            </a:r>
            <a:r>
              <a:rPr lang="en-US" sz="1400" dirty="0" err="1"/>
              <a:t>thiện</a:t>
            </a:r>
            <a:r>
              <a:rPr lang="en-US" sz="1400" dirty="0"/>
              <a:t> </a:t>
            </a:r>
            <a:r>
              <a:rPr lang="en-US" sz="1400" dirty="0" err="1"/>
              <a:t>điểm</a:t>
            </a:r>
            <a:r>
              <a:rPr lang="en-US" sz="1400" dirty="0"/>
              <a:t> </a:t>
            </a:r>
            <a:r>
              <a:rPr lang="en-US" sz="1400" dirty="0" err="1"/>
              <a:t>số</a:t>
            </a:r>
            <a:r>
              <a:rPr lang="en-US" sz="1400" dirty="0"/>
              <a:t> </a:t>
            </a:r>
            <a:r>
              <a:rPr lang="en-US" sz="1400" dirty="0" err="1"/>
              <a:t>tổng</a:t>
            </a:r>
            <a:r>
              <a:rPr lang="en-US" sz="1400" dirty="0"/>
              <a:t> </a:t>
            </a:r>
            <a:r>
              <a:rPr lang="en-US" sz="1400" dirty="0" err="1"/>
              <a:t>thể</a:t>
            </a:r>
            <a:r>
              <a:rPr lang="en-US" sz="1400" dirty="0"/>
              <a:t> </a:t>
            </a:r>
            <a:r>
              <a:rPr lang="en-US" sz="1400" dirty="0" err="1"/>
              <a:t>của</a:t>
            </a:r>
            <a:r>
              <a:rPr lang="en-US" sz="1400" dirty="0"/>
              <a:t> </a:t>
            </a:r>
            <a:r>
              <a:rPr lang="en-US" sz="1400" dirty="0" err="1"/>
              <a:t>bản</a:t>
            </a:r>
            <a:r>
              <a:rPr lang="en-US" sz="1400" dirty="0"/>
              <a:t> </a:t>
            </a:r>
            <a:r>
              <a:rPr lang="en-US" sz="1400" dirty="0" err="1"/>
              <a:t>sắp</a:t>
            </a:r>
            <a:r>
              <a:rPr lang="en-US" sz="1400" dirty="0"/>
              <a:t> </a:t>
            </a:r>
            <a:r>
              <a:rPr lang="en-US" sz="1400" dirty="0" err="1"/>
              <a:t>xếp</a:t>
            </a:r>
            <a:r>
              <a:rPr lang="en-US" sz="1400" dirty="0"/>
              <a:t> </a:t>
            </a:r>
            <a:r>
              <a:rPr lang="en-US" sz="1400" dirty="0" err="1"/>
              <a:t>không</a:t>
            </a:r>
            <a:r>
              <a:rPr lang="en-US" sz="1400" dirty="0"/>
              <a:t>.</a:t>
            </a:r>
          </a:p>
          <a:p>
            <a:pPr lvl="0" indent="-457200" algn="just" rtl="0">
              <a:lnSpc>
                <a:spcPct val="130000"/>
              </a:lnSpc>
              <a:spcAft>
                <a:spcPts val="0"/>
              </a:spcAft>
              <a:buClr>
                <a:schemeClr val="accent4">
                  <a:lumMod val="75000"/>
                </a:schemeClr>
              </a:buClr>
              <a:buSzPts val="1976"/>
              <a:buFont typeface="Wingdings" panose="05000000000000000000" pitchFamily="2" charset="2"/>
              <a:buChar char="q"/>
            </a:pPr>
            <a:r>
              <a:rPr lang="en-US" sz="1600" b="1" dirty="0" err="1"/>
              <a:t>Đánh</a:t>
            </a:r>
            <a:r>
              <a:rPr lang="en-US" sz="1600" b="1" dirty="0"/>
              <a:t> </a:t>
            </a:r>
            <a:r>
              <a:rPr lang="en-US" sz="1600" b="1" dirty="0" err="1"/>
              <a:t>giá</a:t>
            </a:r>
            <a:r>
              <a:rPr lang="en-US" sz="1600" b="1" dirty="0"/>
              <a:t> </a:t>
            </a:r>
            <a:r>
              <a:rPr lang="en-US" sz="1600" b="1" dirty="0" err="1"/>
              <a:t>và</a:t>
            </a:r>
            <a:r>
              <a:rPr lang="en-US" sz="1600" b="1" dirty="0"/>
              <a:t> </a:t>
            </a:r>
            <a:r>
              <a:rPr lang="en-US" sz="1600" b="1" dirty="0" err="1"/>
              <a:t>Hội</a:t>
            </a:r>
            <a:r>
              <a:rPr lang="en-US" sz="1600" b="1" dirty="0"/>
              <a:t> </a:t>
            </a:r>
            <a:r>
              <a:rPr lang="en-US" sz="1600" b="1" dirty="0" err="1"/>
              <a:t>tụ</a:t>
            </a:r>
            <a:r>
              <a:rPr lang="en-US" sz="1600" b="1" dirty="0"/>
              <a:t> (Evaluation &amp; Convergence):</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a:t>Sau </a:t>
            </a:r>
            <a:r>
              <a:rPr lang="en-US" sz="1400" dirty="0" err="1"/>
              <a:t>mỗi</a:t>
            </a:r>
            <a:r>
              <a:rPr lang="en-US" sz="1400" dirty="0"/>
              <a:t> </a:t>
            </a:r>
            <a:r>
              <a:rPr lang="en-US" sz="1400" dirty="0" err="1"/>
              <a:t>vòng</a:t>
            </a:r>
            <a:r>
              <a:rPr lang="en-US" sz="1400" dirty="0"/>
              <a:t> </a:t>
            </a:r>
            <a:r>
              <a:rPr lang="en-US" sz="1400" dirty="0" err="1"/>
              <a:t>lặp</a:t>
            </a:r>
            <a:r>
              <a:rPr lang="en-US" sz="1400" dirty="0"/>
              <a:t>, so </a:t>
            </a:r>
            <a:r>
              <a:rPr lang="en-US" sz="1400" dirty="0" err="1"/>
              <a:t>sánh</a:t>
            </a:r>
            <a:r>
              <a:rPr lang="en-US" sz="1400" dirty="0"/>
              <a:t> </a:t>
            </a:r>
            <a:r>
              <a:rPr lang="en-US" sz="1400" dirty="0" err="1"/>
              <a:t>điểm</a:t>
            </a:r>
            <a:r>
              <a:rPr lang="en-US" sz="1400" dirty="0"/>
              <a:t> </a:t>
            </a:r>
            <a:r>
              <a:rPr lang="en-US" sz="1400" dirty="0" err="1"/>
              <a:t>số</a:t>
            </a:r>
            <a:r>
              <a:rPr lang="en-US" sz="1400" dirty="0"/>
              <a:t> </a:t>
            </a:r>
            <a:r>
              <a:rPr lang="en-US" sz="1400" dirty="0" err="1"/>
              <a:t>của</a:t>
            </a:r>
            <a:r>
              <a:rPr lang="en-US" sz="1400" dirty="0"/>
              <a:t> </a:t>
            </a:r>
            <a:r>
              <a:rPr lang="en-US" sz="1400" dirty="0" err="1"/>
              <a:t>bản</a:t>
            </a:r>
            <a:r>
              <a:rPr lang="en-US" sz="1400" dirty="0"/>
              <a:t> </a:t>
            </a:r>
            <a:r>
              <a:rPr lang="en-US" sz="1400" dirty="0" err="1"/>
              <a:t>mới</a:t>
            </a:r>
            <a:r>
              <a:rPr lang="en-US" sz="1400" dirty="0"/>
              <a:t> </a:t>
            </a:r>
            <a:r>
              <a:rPr lang="en-US" sz="1400" dirty="0" err="1"/>
              <a:t>và</a:t>
            </a:r>
            <a:r>
              <a:rPr lang="en-US" sz="1400" dirty="0"/>
              <a:t> </a:t>
            </a:r>
            <a:r>
              <a:rPr lang="en-US" sz="1400" dirty="0" err="1"/>
              <a:t>bản</a:t>
            </a:r>
            <a:r>
              <a:rPr lang="en-US" sz="1400" dirty="0"/>
              <a:t> </a:t>
            </a:r>
            <a:r>
              <a:rPr lang="en-US" sz="1400" dirty="0" err="1"/>
              <a:t>cũ</a:t>
            </a:r>
            <a:r>
              <a:rPr lang="en-US" sz="1400" dirty="0"/>
              <a:t>.</a:t>
            </a:r>
          </a:p>
          <a:p>
            <a:pPr lvl="1" indent="-457200" algn="just">
              <a:lnSpc>
                <a:spcPct val="130000"/>
              </a:lnSpc>
              <a:buClr>
                <a:schemeClr val="accent4">
                  <a:lumMod val="75000"/>
                </a:schemeClr>
              </a:buClr>
              <a:buSzPts val="1976"/>
              <a:buFont typeface="Courier New" panose="02070309020205020404" pitchFamily="49" charset="0"/>
              <a:buChar char="o"/>
            </a:pPr>
            <a:r>
              <a:rPr lang="en-US" sz="1400" dirty="0"/>
              <a:t>L</a:t>
            </a:r>
            <a:r>
              <a:rPr lang="vi-VN" sz="1400" dirty="0"/>
              <a:t>ặp lại cho đến khi điểm số không còn cải thiện đáng kể hoặc đạt đến một số lần lặp tối đa đã xác định trước</a:t>
            </a:r>
            <a:r>
              <a:rPr lang="en-US" sz="1400" dirty="0"/>
              <a:t> (</a:t>
            </a:r>
            <a:r>
              <a:rPr lang="en-US" sz="1400" dirty="0" err="1"/>
              <a:t>ngưỡng</a:t>
            </a:r>
            <a:r>
              <a:rPr lang="en-US" sz="1400" dirty="0"/>
              <a:t> </a:t>
            </a:r>
            <a:r>
              <a:rPr lang="en-US" sz="1400" dirty="0" err="1"/>
              <a:t>hội</a:t>
            </a:r>
            <a:r>
              <a:rPr lang="en-US" sz="1400" dirty="0"/>
              <a:t> </a:t>
            </a:r>
            <a:r>
              <a:rPr lang="en-US" sz="1400" dirty="0" err="1"/>
              <a:t>tụ</a:t>
            </a:r>
            <a:r>
              <a:rPr lang="en-US" sz="1400" dirty="0"/>
              <a:t>).</a:t>
            </a:r>
          </a:p>
          <a:p>
            <a:pPr marL="0" lvl="0" indent="0" algn="just" rtl="0">
              <a:lnSpc>
                <a:spcPct val="150000"/>
              </a:lnSpc>
              <a:spcAft>
                <a:spcPts val="0"/>
              </a:spcAft>
              <a:buClr>
                <a:schemeClr val="accent4">
                  <a:lumMod val="75000"/>
                </a:schemeClr>
              </a:buClr>
              <a:buSzPts val="1976"/>
              <a:buNone/>
            </a:pPr>
            <a:endParaRPr lang="en-US" sz="2000" dirty="0"/>
          </a:p>
        </p:txBody>
      </p:sp>
    </p:spTree>
    <p:extLst>
      <p:ext uri="{BB962C8B-B14F-4D97-AF65-F5344CB8AC3E}">
        <p14:creationId xmlns:p14="http://schemas.microsoft.com/office/powerpoint/2010/main" val="11657189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FEBC9444-577C-B7B5-2110-375C9CED45F7}"/>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9C49FA49-5B33-9A0F-29BF-414FD156F183}"/>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a:t>Iterative Alignment</a:t>
            </a:r>
            <a:endParaRPr dirty="0"/>
          </a:p>
        </p:txBody>
      </p:sp>
      <p:sp>
        <p:nvSpPr>
          <p:cNvPr id="3" name="Slide Number Placeholder 2">
            <a:extLst>
              <a:ext uri="{FF2B5EF4-FFF2-40B4-BE49-F238E27FC236}">
                <a16:creationId xmlns:a16="http://schemas.microsoft.com/office/drawing/2014/main" id="{10F455FE-60E2-798A-51A6-DEEB4937841D}"/>
              </a:ext>
            </a:extLst>
          </p:cNvPr>
          <p:cNvSpPr>
            <a:spLocks noGrp="1"/>
          </p:cNvSpPr>
          <p:nvPr>
            <p:ph type="sldNum" idx="12"/>
          </p:nvPr>
        </p:nvSpPr>
        <p:spPr/>
        <p:txBody>
          <a:bodyPr/>
          <a:lstStyle/>
          <a:p>
            <a:r>
              <a:rPr lang="en-US" dirty="0"/>
              <a:t>35</a:t>
            </a:r>
          </a:p>
        </p:txBody>
      </p:sp>
      <p:sp>
        <p:nvSpPr>
          <p:cNvPr id="8" name="TextBox 7">
            <a:extLst>
              <a:ext uri="{FF2B5EF4-FFF2-40B4-BE49-F238E27FC236}">
                <a16:creationId xmlns:a16="http://schemas.microsoft.com/office/drawing/2014/main" id="{5BE261B0-7B47-7D0B-624B-41B17C9B3171}"/>
              </a:ext>
            </a:extLst>
          </p:cNvPr>
          <p:cNvSpPr txBox="1"/>
          <p:nvPr/>
        </p:nvSpPr>
        <p:spPr>
          <a:xfrm>
            <a:off x="457200" y="1542181"/>
            <a:ext cx="1787769" cy="1384995"/>
          </a:xfrm>
          <a:prstGeom prst="rect">
            <a:avLst/>
          </a:prstGeom>
          <a:noFill/>
        </p:spPr>
        <p:txBody>
          <a:bodyPr wrap="square">
            <a:spAutoFit/>
          </a:bodyPr>
          <a:lstStyle/>
          <a:p>
            <a:r>
              <a:rPr lang="en-US" dirty="0">
                <a:latin typeface="Gill Sans" panose="020B0604020202020204" charset="0"/>
              </a:rPr>
              <a:t>&gt;Seq1</a:t>
            </a:r>
          </a:p>
          <a:p>
            <a:r>
              <a:rPr lang="en-US" dirty="0">
                <a:latin typeface="Gill Sans" panose="020B0604020202020204" charset="0"/>
              </a:rPr>
              <a:t>METPPPPPKLVR</a:t>
            </a:r>
          </a:p>
          <a:p>
            <a:r>
              <a:rPr lang="en-US" dirty="0">
                <a:latin typeface="Gill Sans" panose="020B0604020202020204" charset="0"/>
              </a:rPr>
              <a:t>&gt;Seq2</a:t>
            </a:r>
          </a:p>
          <a:p>
            <a:r>
              <a:rPr lang="en-US" dirty="0">
                <a:latin typeface="Gill Sans" panose="020B0604020202020204" charset="0"/>
              </a:rPr>
              <a:t>METPPPPKLVR</a:t>
            </a:r>
          </a:p>
          <a:p>
            <a:r>
              <a:rPr lang="en-US" dirty="0">
                <a:latin typeface="Gill Sans" panose="020B0604020202020204" charset="0"/>
              </a:rPr>
              <a:t>&gt;Seq3</a:t>
            </a:r>
          </a:p>
          <a:p>
            <a:r>
              <a:rPr lang="en-US" dirty="0">
                <a:latin typeface="Gill Sans" panose="020B0604020202020204" charset="0"/>
              </a:rPr>
              <a:t>METPPPPSKLVR</a:t>
            </a:r>
          </a:p>
        </p:txBody>
      </p:sp>
      <p:sp>
        <p:nvSpPr>
          <p:cNvPr id="9" name="Google Shape;138;p3">
            <a:extLst>
              <a:ext uri="{FF2B5EF4-FFF2-40B4-BE49-F238E27FC236}">
                <a16:creationId xmlns:a16="http://schemas.microsoft.com/office/drawing/2014/main" id="{F0279019-634A-AFCA-8A58-AAC4ACFF3FA9}"/>
              </a:ext>
            </a:extLst>
          </p:cNvPr>
          <p:cNvSpPr txBox="1">
            <a:spLocks/>
          </p:cNvSpPr>
          <p:nvPr/>
        </p:nvSpPr>
        <p:spPr>
          <a:xfrm>
            <a:off x="457201" y="1099922"/>
            <a:ext cx="1963614"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Chuỗi</a:t>
            </a:r>
            <a:r>
              <a:rPr lang="en-US" sz="1800" b="1" dirty="0"/>
              <a:t> </a:t>
            </a:r>
            <a:r>
              <a:rPr lang="en-US" sz="1800" b="1" dirty="0" err="1"/>
              <a:t>đầu</a:t>
            </a:r>
            <a:r>
              <a:rPr lang="en-US" sz="1800" b="1" dirty="0"/>
              <a:t> </a:t>
            </a:r>
            <a:r>
              <a:rPr lang="en-US" sz="1800" b="1" dirty="0" err="1"/>
              <a:t>vào</a:t>
            </a:r>
            <a:r>
              <a:rPr lang="en-US" sz="1800" b="1" dirty="0"/>
              <a:t>:</a:t>
            </a:r>
          </a:p>
          <a:p>
            <a:pPr marL="0" indent="0" algn="just">
              <a:lnSpc>
                <a:spcPct val="130000"/>
              </a:lnSpc>
              <a:buClr>
                <a:schemeClr val="accent4">
                  <a:lumMod val="75000"/>
                </a:schemeClr>
              </a:buClr>
              <a:buSzPts val="1976"/>
              <a:buFont typeface="Noto Sans Symbols"/>
              <a:buNone/>
            </a:pPr>
            <a:endParaRPr lang="en-US" sz="1800" dirty="0"/>
          </a:p>
        </p:txBody>
      </p:sp>
      <p:sp>
        <p:nvSpPr>
          <p:cNvPr id="2" name="Google Shape;138;p3">
            <a:extLst>
              <a:ext uri="{FF2B5EF4-FFF2-40B4-BE49-F238E27FC236}">
                <a16:creationId xmlns:a16="http://schemas.microsoft.com/office/drawing/2014/main" id="{72536DCC-6947-3497-350D-B0F3C5407B16}"/>
              </a:ext>
            </a:extLst>
          </p:cNvPr>
          <p:cNvSpPr txBox="1">
            <a:spLocks/>
          </p:cNvSpPr>
          <p:nvPr/>
        </p:nvSpPr>
        <p:spPr>
          <a:xfrm>
            <a:off x="4185139" y="1077257"/>
            <a:ext cx="4689230"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Sắp</a:t>
            </a:r>
            <a:r>
              <a:rPr lang="en-US" sz="1800" b="1" dirty="0"/>
              <a:t> </a:t>
            </a:r>
            <a:r>
              <a:rPr lang="en-US" sz="1800" b="1" dirty="0" err="1"/>
              <a:t>hàng</a:t>
            </a:r>
            <a:r>
              <a:rPr lang="en-US" sz="1800" b="1" dirty="0"/>
              <a:t> </a:t>
            </a:r>
            <a:r>
              <a:rPr lang="en-US" sz="1800" b="1" dirty="0" err="1"/>
              <a:t>sơ</a:t>
            </a:r>
            <a:r>
              <a:rPr lang="en-US" sz="1800" b="1" dirty="0"/>
              <a:t> </a:t>
            </a:r>
            <a:r>
              <a:rPr lang="en-US" sz="1800" b="1" dirty="0" err="1"/>
              <a:t>bộ</a:t>
            </a:r>
            <a:r>
              <a:rPr lang="en-US" sz="1800" b="1" dirty="0"/>
              <a:t> (</a:t>
            </a:r>
            <a:r>
              <a:rPr lang="en-US" sz="1800" b="1" dirty="0" err="1"/>
              <a:t>Kết</a:t>
            </a:r>
            <a:r>
              <a:rPr lang="en-US" sz="1800" b="1" dirty="0"/>
              <a:t> </a:t>
            </a:r>
            <a:r>
              <a:rPr lang="en-US" sz="1800" b="1" dirty="0" err="1"/>
              <a:t>quả</a:t>
            </a:r>
            <a:r>
              <a:rPr lang="en-US" sz="1800" b="1" dirty="0"/>
              <a:t> </a:t>
            </a:r>
            <a:r>
              <a:rPr lang="en-US" sz="1800" b="1" dirty="0" err="1"/>
              <a:t>của</a:t>
            </a:r>
            <a:r>
              <a:rPr lang="en-US" sz="1800" b="1" dirty="0"/>
              <a:t> Progressive):</a:t>
            </a:r>
          </a:p>
          <a:p>
            <a:pPr marL="0" indent="0" algn="just">
              <a:lnSpc>
                <a:spcPct val="130000"/>
              </a:lnSpc>
              <a:buClr>
                <a:schemeClr val="accent4">
                  <a:lumMod val="75000"/>
                </a:schemeClr>
              </a:buClr>
              <a:buSzPts val="1976"/>
              <a:buFont typeface="Noto Sans Symbols"/>
              <a:buNone/>
            </a:pPr>
            <a:endParaRPr lang="en-US" sz="1800" dirty="0"/>
          </a:p>
        </p:txBody>
      </p:sp>
      <p:sp>
        <p:nvSpPr>
          <p:cNvPr id="6" name="Google Shape;138;p3">
            <a:extLst>
              <a:ext uri="{FF2B5EF4-FFF2-40B4-BE49-F238E27FC236}">
                <a16:creationId xmlns:a16="http://schemas.microsoft.com/office/drawing/2014/main" id="{04B69856-0052-207B-4E80-5C3A645B2D28}"/>
              </a:ext>
            </a:extLst>
          </p:cNvPr>
          <p:cNvSpPr txBox="1">
            <a:spLocks/>
          </p:cNvSpPr>
          <p:nvPr/>
        </p:nvSpPr>
        <p:spPr>
          <a:xfrm>
            <a:off x="4188619" y="3045951"/>
            <a:ext cx="4556795"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Kết</a:t>
            </a:r>
            <a:r>
              <a:rPr lang="en-US" sz="1800" b="1" dirty="0"/>
              <a:t> </a:t>
            </a:r>
            <a:r>
              <a:rPr lang="en-US" sz="1800" b="1" dirty="0" err="1"/>
              <a:t>quả</a:t>
            </a:r>
            <a:r>
              <a:rPr lang="en-US" sz="1800" b="1" dirty="0"/>
              <a:t> </a:t>
            </a:r>
            <a:r>
              <a:rPr lang="en-US" sz="1800" b="1" dirty="0" err="1"/>
              <a:t>sau</a:t>
            </a:r>
            <a:r>
              <a:rPr lang="en-US" sz="1800" b="1" dirty="0"/>
              <a:t> </a:t>
            </a:r>
            <a:r>
              <a:rPr lang="en-US" sz="1800" b="1" dirty="0" err="1"/>
              <a:t>bước</a:t>
            </a:r>
            <a:r>
              <a:rPr lang="en-US" sz="1800" b="1" dirty="0"/>
              <a:t> Iteration &amp; Refinement</a:t>
            </a:r>
          </a:p>
          <a:p>
            <a:pPr marL="0" indent="0" algn="just">
              <a:lnSpc>
                <a:spcPct val="130000"/>
              </a:lnSpc>
              <a:buClr>
                <a:schemeClr val="accent4">
                  <a:lumMod val="75000"/>
                </a:schemeClr>
              </a:buClr>
              <a:buSzPts val="1976"/>
              <a:buFont typeface="Noto Sans Symbols"/>
              <a:buNone/>
            </a:pPr>
            <a:endParaRPr lang="en-US" sz="1800" dirty="0"/>
          </a:p>
        </p:txBody>
      </p:sp>
      <p:sp>
        <p:nvSpPr>
          <p:cNvPr id="16" name="Google Shape;138;p3">
            <a:extLst>
              <a:ext uri="{FF2B5EF4-FFF2-40B4-BE49-F238E27FC236}">
                <a16:creationId xmlns:a16="http://schemas.microsoft.com/office/drawing/2014/main" id="{E9066C6B-0A9E-5793-1E72-C67078E471B0}"/>
              </a:ext>
            </a:extLst>
          </p:cNvPr>
          <p:cNvSpPr txBox="1">
            <a:spLocks/>
          </p:cNvSpPr>
          <p:nvPr/>
        </p:nvSpPr>
        <p:spPr>
          <a:xfrm>
            <a:off x="398586" y="3045951"/>
            <a:ext cx="2965939" cy="44225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err="1"/>
              <a:t>Kết</a:t>
            </a:r>
            <a:r>
              <a:rPr lang="en-US" sz="1800" b="1" dirty="0"/>
              <a:t> </a:t>
            </a:r>
            <a:r>
              <a:rPr lang="en-US" sz="1800" b="1" dirty="0" err="1"/>
              <a:t>quả</a:t>
            </a:r>
            <a:r>
              <a:rPr lang="en-US" sz="1800" b="1" dirty="0"/>
              <a:t> </a:t>
            </a:r>
            <a:r>
              <a:rPr lang="en-US" sz="1800" b="1" dirty="0" err="1"/>
              <a:t>tối</a:t>
            </a:r>
            <a:r>
              <a:rPr lang="en-US" sz="1800" b="1" dirty="0"/>
              <a:t> </a:t>
            </a:r>
            <a:r>
              <a:rPr lang="en-US" sz="1800" b="1" dirty="0" err="1"/>
              <a:t>ưu</a:t>
            </a:r>
            <a:r>
              <a:rPr lang="en-US" sz="1800" b="1" dirty="0"/>
              <a:t> </a:t>
            </a:r>
            <a:r>
              <a:rPr lang="en-US" sz="1800" b="1" dirty="0" err="1"/>
              <a:t>sinh</a:t>
            </a:r>
            <a:r>
              <a:rPr lang="en-US" sz="1800" b="1" dirty="0"/>
              <a:t> </a:t>
            </a:r>
            <a:r>
              <a:rPr lang="en-US" sz="1800" b="1" dirty="0" err="1"/>
              <a:t>học</a:t>
            </a:r>
            <a:r>
              <a:rPr lang="en-US" sz="1800" b="1" dirty="0"/>
              <a:t>:</a:t>
            </a:r>
          </a:p>
          <a:p>
            <a:pPr marL="0" lvl="0" indent="0" algn="just">
              <a:lnSpc>
                <a:spcPct val="130000"/>
              </a:lnSpc>
              <a:buClr>
                <a:schemeClr val="accent4">
                  <a:lumMod val="75000"/>
                </a:schemeClr>
              </a:buClr>
              <a:buSzPts val="1976"/>
              <a:buNone/>
            </a:pPr>
            <a:endParaRPr lang="en-US" sz="1800" dirty="0"/>
          </a:p>
          <a:p>
            <a:pPr marL="0" lvl="0" indent="0" algn="just">
              <a:lnSpc>
                <a:spcPct val="130000"/>
              </a:lnSpc>
              <a:buClr>
                <a:schemeClr val="accent4">
                  <a:lumMod val="75000"/>
                </a:schemeClr>
              </a:buClr>
              <a:buSzPts val="1976"/>
              <a:buNone/>
            </a:pPr>
            <a:endParaRPr lang="en-US" sz="1800" b="1" dirty="0"/>
          </a:p>
          <a:p>
            <a:pPr marL="0" indent="0" algn="just">
              <a:lnSpc>
                <a:spcPct val="130000"/>
              </a:lnSpc>
              <a:buClr>
                <a:schemeClr val="accent4">
                  <a:lumMod val="75000"/>
                </a:schemeClr>
              </a:buClr>
              <a:buSzPts val="1976"/>
              <a:buFont typeface="Noto Sans Symbols"/>
              <a:buNone/>
            </a:pPr>
            <a:endParaRPr lang="en-US" sz="1800" dirty="0"/>
          </a:p>
        </p:txBody>
      </p:sp>
      <p:sp>
        <p:nvSpPr>
          <p:cNvPr id="17" name="TextBox 16">
            <a:extLst>
              <a:ext uri="{FF2B5EF4-FFF2-40B4-BE49-F238E27FC236}">
                <a16:creationId xmlns:a16="http://schemas.microsoft.com/office/drawing/2014/main" id="{4212E14D-02A6-4FE0-125F-A0E396570D33}"/>
              </a:ext>
            </a:extLst>
          </p:cNvPr>
          <p:cNvSpPr txBox="1"/>
          <p:nvPr/>
        </p:nvSpPr>
        <p:spPr>
          <a:xfrm>
            <a:off x="398586" y="3633009"/>
            <a:ext cx="3077306" cy="1046440"/>
          </a:xfrm>
          <a:prstGeom prst="rect">
            <a:avLst/>
          </a:prstGeom>
          <a:noFill/>
        </p:spPr>
        <p:txBody>
          <a:bodyPr wrap="square">
            <a:spAutoFit/>
          </a:bodyPr>
          <a:lstStyle/>
          <a:p>
            <a:pPr>
              <a:spcBef>
                <a:spcPts val="600"/>
              </a:spcBef>
              <a:spcAft>
                <a:spcPts val="600"/>
              </a:spcAft>
            </a:pPr>
            <a:r>
              <a:rPr lang="en-US" dirty="0">
                <a:latin typeface="Gill Sans" panose="020B0604020202020204" charset="0"/>
              </a:rPr>
              <a:t>Seq1: M E T P </a:t>
            </a:r>
            <a:r>
              <a:rPr lang="en-US" dirty="0" err="1">
                <a:latin typeface="Gill Sans" panose="020B0604020202020204" charset="0"/>
              </a:rPr>
              <a:t>P</a:t>
            </a:r>
            <a:r>
              <a:rPr lang="en-US" dirty="0">
                <a:latin typeface="Gill Sans" panose="020B0604020202020204" charset="0"/>
              </a:rPr>
              <a:t> </a:t>
            </a:r>
            <a:r>
              <a:rPr lang="en-US" dirty="0" err="1">
                <a:latin typeface="Gill Sans" panose="020B0604020202020204" charset="0"/>
              </a:rPr>
              <a:t>P</a:t>
            </a:r>
            <a:r>
              <a:rPr lang="en-US" dirty="0">
                <a:latin typeface="Gill Sans" panose="020B0604020202020204" charset="0"/>
              </a:rPr>
              <a:t> </a:t>
            </a:r>
            <a:r>
              <a:rPr lang="en-US" dirty="0" err="1">
                <a:latin typeface="Gill Sans" panose="020B0604020202020204" charset="0"/>
              </a:rPr>
              <a:t>P</a:t>
            </a:r>
            <a:r>
              <a:rPr lang="en-US" dirty="0">
                <a:latin typeface="Gill Sans" panose="020B0604020202020204" charset="0"/>
              </a:rPr>
              <a:t> </a:t>
            </a:r>
            <a:r>
              <a:rPr lang="en-US" dirty="0" err="1">
                <a:latin typeface="Gill Sans" panose="020B0604020202020204" charset="0"/>
              </a:rPr>
              <a:t>P</a:t>
            </a:r>
            <a:r>
              <a:rPr lang="en-US" dirty="0">
                <a:latin typeface="Gill Sans" panose="020B0604020202020204" charset="0"/>
              </a:rPr>
              <a:t> K L V R</a:t>
            </a:r>
          </a:p>
          <a:p>
            <a:pPr>
              <a:spcBef>
                <a:spcPts val="600"/>
              </a:spcBef>
              <a:spcAft>
                <a:spcPts val="600"/>
              </a:spcAft>
            </a:pPr>
            <a:r>
              <a:rPr lang="en-US" dirty="0">
                <a:latin typeface="Gill Sans" panose="020B0604020202020204" charset="0"/>
              </a:rPr>
              <a:t>Seq2: M E T P </a:t>
            </a:r>
            <a:r>
              <a:rPr lang="en-US" dirty="0" err="1">
                <a:latin typeface="Gill Sans" panose="020B0604020202020204" charset="0"/>
              </a:rPr>
              <a:t>P</a:t>
            </a:r>
            <a:r>
              <a:rPr lang="en-US" dirty="0">
                <a:latin typeface="Gill Sans" panose="020B0604020202020204" charset="0"/>
              </a:rPr>
              <a:t> </a:t>
            </a:r>
            <a:r>
              <a:rPr lang="en-US" dirty="0" err="1">
                <a:latin typeface="Gill Sans" panose="020B0604020202020204" charset="0"/>
              </a:rPr>
              <a:t>P</a:t>
            </a:r>
            <a:r>
              <a:rPr lang="en-US" dirty="0">
                <a:latin typeface="Gill Sans" panose="020B0604020202020204" charset="0"/>
              </a:rPr>
              <a:t> </a:t>
            </a:r>
            <a:r>
              <a:rPr lang="en-US" dirty="0" err="1">
                <a:latin typeface="Gill Sans" panose="020B0604020202020204" charset="0"/>
              </a:rPr>
              <a:t>P</a:t>
            </a:r>
            <a:r>
              <a:rPr lang="en-US" dirty="0">
                <a:latin typeface="Gill Sans" panose="020B0604020202020204" charset="0"/>
              </a:rPr>
              <a:t> _ K L V R</a:t>
            </a:r>
          </a:p>
          <a:p>
            <a:pPr>
              <a:spcBef>
                <a:spcPts val="600"/>
              </a:spcBef>
              <a:spcAft>
                <a:spcPts val="600"/>
              </a:spcAft>
            </a:pPr>
            <a:r>
              <a:rPr lang="en-US" dirty="0">
                <a:latin typeface="Gill Sans" panose="020B0604020202020204" charset="0"/>
              </a:rPr>
              <a:t>Seq3: M E T P </a:t>
            </a:r>
            <a:r>
              <a:rPr lang="en-US" dirty="0" err="1">
                <a:latin typeface="Gill Sans" panose="020B0604020202020204" charset="0"/>
              </a:rPr>
              <a:t>P</a:t>
            </a:r>
            <a:r>
              <a:rPr lang="en-US" dirty="0">
                <a:latin typeface="Gill Sans" panose="020B0604020202020204" charset="0"/>
              </a:rPr>
              <a:t> </a:t>
            </a:r>
            <a:r>
              <a:rPr lang="en-US" dirty="0" err="1">
                <a:latin typeface="Gill Sans" panose="020B0604020202020204" charset="0"/>
              </a:rPr>
              <a:t>P</a:t>
            </a:r>
            <a:r>
              <a:rPr lang="en-US" dirty="0">
                <a:latin typeface="Gill Sans" panose="020B0604020202020204" charset="0"/>
              </a:rPr>
              <a:t> </a:t>
            </a:r>
            <a:r>
              <a:rPr lang="en-US" dirty="0" err="1">
                <a:latin typeface="Gill Sans" panose="020B0604020202020204" charset="0"/>
              </a:rPr>
              <a:t>P</a:t>
            </a:r>
            <a:r>
              <a:rPr lang="en-US" dirty="0">
                <a:latin typeface="Gill Sans" panose="020B0604020202020204" charset="0"/>
              </a:rPr>
              <a:t> S K L V R</a:t>
            </a:r>
          </a:p>
        </p:txBody>
      </p:sp>
      <p:sp>
        <p:nvSpPr>
          <p:cNvPr id="18" name="Google Shape;138;p3">
            <a:extLst>
              <a:ext uri="{FF2B5EF4-FFF2-40B4-BE49-F238E27FC236}">
                <a16:creationId xmlns:a16="http://schemas.microsoft.com/office/drawing/2014/main" id="{C3CD0771-A69F-BF06-D87E-C0FDE8BEE593}"/>
              </a:ext>
            </a:extLst>
          </p:cNvPr>
          <p:cNvSpPr txBox="1">
            <a:spLocks/>
          </p:cNvSpPr>
          <p:nvPr/>
        </p:nvSpPr>
        <p:spPr>
          <a:xfrm>
            <a:off x="398586" y="5033394"/>
            <a:ext cx="8179572" cy="132294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dirty="0" err="1"/>
              <a:t>Thuật</a:t>
            </a:r>
            <a:r>
              <a:rPr lang="en-US" sz="1800" dirty="0"/>
              <a:t> </a:t>
            </a:r>
            <a:r>
              <a:rPr lang="en-US" sz="1800" dirty="0" err="1"/>
              <a:t>toán</a:t>
            </a:r>
            <a:r>
              <a:rPr lang="en-US" sz="1800" dirty="0"/>
              <a:t> </a:t>
            </a:r>
            <a:r>
              <a:rPr lang="en-US" sz="1800" b="1" dirty="0"/>
              <a:t>Iterative Refinement </a:t>
            </a:r>
            <a:r>
              <a:rPr lang="en-US" sz="1800" dirty="0" err="1"/>
              <a:t>đã</a:t>
            </a:r>
            <a:r>
              <a:rPr lang="en-US" sz="1800" dirty="0"/>
              <a:t> </a:t>
            </a:r>
            <a:r>
              <a:rPr lang="en-US" sz="1800" dirty="0" err="1"/>
              <a:t>khắc</a:t>
            </a:r>
            <a:r>
              <a:rPr lang="en-US" sz="1800" dirty="0"/>
              <a:t> </a:t>
            </a:r>
            <a:r>
              <a:rPr lang="en-US" sz="1800" dirty="0" err="1"/>
              <a:t>phục</a:t>
            </a:r>
            <a:r>
              <a:rPr lang="en-US" sz="1800" dirty="0"/>
              <a:t> </a:t>
            </a:r>
            <a:r>
              <a:rPr lang="en-US" sz="1800" dirty="0" err="1"/>
              <a:t>được</a:t>
            </a:r>
            <a:r>
              <a:rPr lang="en-US" sz="1800" dirty="0"/>
              <a:t> </a:t>
            </a:r>
            <a:r>
              <a:rPr lang="en-US" sz="1800" dirty="0" err="1"/>
              <a:t>lỗi</a:t>
            </a:r>
            <a:r>
              <a:rPr lang="en-US" sz="1800" dirty="0"/>
              <a:t> </a:t>
            </a:r>
            <a:r>
              <a:rPr lang="en-US" sz="1800" dirty="0" err="1"/>
              <a:t>về</a:t>
            </a:r>
            <a:r>
              <a:rPr lang="en-US" sz="1800" dirty="0"/>
              <a:t> gap </a:t>
            </a:r>
            <a:r>
              <a:rPr lang="en-US" sz="1800" dirty="0" err="1"/>
              <a:t>trước</a:t>
            </a:r>
            <a:r>
              <a:rPr lang="en-US" sz="1800" dirty="0"/>
              <a:t> </a:t>
            </a:r>
            <a:r>
              <a:rPr lang="en-US" sz="1800" dirty="0" err="1"/>
              <a:t>đó</a:t>
            </a:r>
            <a:r>
              <a:rPr lang="en-US" sz="1800" dirty="0"/>
              <a:t> </a:t>
            </a:r>
            <a:r>
              <a:rPr lang="en-US" sz="1800" dirty="0" err="1"/>
              <a:t>của</a:t>
            </a:r>
            <a:r>
              <a:rPr lang="en-US" sz="1800" dirty="0"/>
              <a:t> </a:t>
            </a:r>
            <a:r>
              <a:rPr lang="en-US" sz="1800" dirty="0" err="1"/>
              <a:t>thuật</a:t>
            </a:r>
            <a:r>
              <a:rPr lang="en-US" sz="1800" dirty="0"/>
              <a:t> </a:t>
            </a:r>
            <a:r>
              <a:rPr lang="en-US" sz="1800" dirty="0" err="1"/>
              <a:t>toán</a:t>
            </a:r>
            <a:r>
              <a:rPr lang="en-US" sz="1800" dirty="0"/>
              <a:t> </a:t>
            </a:r>
            <a:r>
              <a:rPr lang="en-US" sz="1800" b="1" dirty="0"/>
              <a:t>Progressive</a:t>
            </a:r>
            <a:r>
              <a:rPr lang="en-US" sz="1800" dirty="0"/>
              <a:t>. </a:t>
            </a:r>
          </a:p>
          <a:p>
            <a:pPr marL="0" lvl="0" indent="0" algn="just">
              <a:lnSpc>
                <a:spcPct val="130000"/>
              </a:lnSpc>
              <a:buClr>
                <a:schemeClr val="accent4">
                  <a:lumMod val="75000"/>
                </a:schemeClr>
              </a:buClr>
              <a:buSzPts val="1976"/>
              <a:buNone/>
            </a:pPr>
            <a:r>
              <a:rPr lang="en-US" sz="1800" b="1" dirty="0" err="1"/>
              <a:t>Một</a:t>
            </a:r>
            <a:r>
              <a:rPr lang="en-US" sz="1800" b="1" dirty="0"/>
              <a:t> </a:t>
            </a:r>
            <a:r>
              <a:rPr lang="en-US" sz="1800" b="1" dirty="0" err="1"/>
              <a:t>số</a:t>
            </a:r>
            <a:r>
              <a:rPr lang="en-US" sz="1800" b="1" dirty="0"/>
              <a:t> </a:t>
            </a:r>
            <a:r>
              <a:rPr lang="en-US" sz="1800" b="1" dirty="0" err="1"/>
              <a:t>công</a:t>
            </a:r>
            <a:r>
              <a:rPr lang="en-US" sz="1800" b="1" dirty="0"/>
              <a:t> </a:t>
            </a:r>
            <a:r>
              <a:rPr lang="en-US" sz="1800" b="1" dirty="0" err="1"/>
              <a:t>cụ</a:t>
            </a:r>
            <a:r>
              <a:rPr lang="en-US" sz="1800" b="1" dirty="0"/>
              <a:t> </a:t>
            </a:r>
            <a:r>
              <a:rPr lang="en-US" sz="1800" b="1" dirty="0" err="1"/>
              <a:t>tiêu</a:t>
            </a:r>
            <a:r>
              <a:rPr lang="en-US" sz="1800" b="1" dirty="0"/>
              <a:t> </a:t>
            </a:r>
            <a:r>
              <a:rPr lang="en-US" sz="1800" b="1" dirty="0" err="1"/>
              <a:t>biểu</a:t>
            </a:r>
            <a:r>
              <a:rPr lang="en-US" sz="1800" b="1" dirty="0"/>
              <a:t>: </a:t>
            </a:r>
            <a:r>
              <a:rPr lang="en-US" sz="1800" dirty="0"/>
              <a:t>MUSCLE, MAFFT</a:t>
            </a:r>
          </a:p>
        </p:txBody>
      </p:sp>
      <p:pic>
        <p:nvPicPr>
          <p:cNvPr id="7" name="Picture 6">
            <a:extLst>
              <a:ext uri="{FF2B5EF4-FFF2-40B4-BE49-F238E27FC236}">
                <a16:creationId xmlns:a16="http://schemas.microsoft.com/office/drawing/2014/main" id="{7A5BEA84-5A50-E6F2-47B9-DC14906F9B4D}"/>
              </a:ext>
            </a:extLst>
          </p:cNvPr>
          <p:cNvPicPr>
            <a:picLocks noChangeAspect="1"/>
          </p:cNvPicPr>
          <p:nvPr/>
        </p:nvPicPr>
        <p:blipFill>
          <a:blip r:embed="rId3"/>
          <a:stretch>
            <a:fillRect/>
          </a:stretch>
        </p:blipFill>
        <p:spPr>
          <a:xfrm>
            <a:off x="4243755" y="1600650"/>
            <a:ext cx="2743522" cy="1384994"/>
          </a:xfrm>
          <a:prstGeom prst="rect">
            <a:avLst/>
          </a:prstGeom>
        </p:spPr>
      </p:pic>
      <p:pic>
        <p:nvPicPr>
          <p:cNvPr id="11" name="Picture 10">
            <a:extLst>
              <a:ext uri="{FF2B5EF4-FFF2-40B4-BE49-F238E27FC236}">
                <a16:creationId xmlns:a16="http://schemas.microsoft.com/office/drawing/2014/main" id="{CBEB35D2-29AB-FFC5-E346-C4E53AE83571}"/>
              </a:ext>
            </a:extLst>
          </p:cNvPr>
          <p:cNvPicPr>
            <a:picLocks noChangeAspect="1"/>
          </p:cNvPicPr>
          <p:nvPr/>
        </p:nvPicPr>
        <p:blipFill>
          <a:blip r:embed="rId4"/>
          <a:stretch>
            <a:fillRect/>
          </a:stretch>
        </p:blipFill>
        <p:spPr>
          <a:xfrm>
            <a:off x="4266734" y="3633009"/>
            <a:ext cx="2720543" cy="1536868"/>
          </a:xfrm>
          <a:prstGeom prst="rect">
            <a:avLst/>
          </a:prstGeom>
        </p:spPr>
      </p:pic>
    </p:spTree>
    <p:extLst>
      <p:ext uri="{BB962C8B-B14F-4D97-AF65-F5344CB8AC3E}">
        <p14:creationId xmlns:p14="http://schemas.microsoft.com/office/powerpoint/2010/main" val="42612471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DBB5EDB5-3C8E-10CB-1B83-1899539D4786}"/>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8265A617-2603-F0FB-7DA0-740AA6704470}"/>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a:buSzPts val="3200"/>
            </a:pPr>
            <a:r>
              <a:rPr lang="en-US" dirty="0" err="1"/>
              <a:t>Giới</a:t>
            </a:r>
            <a:r>
              <a:rPr lang="en-US" dirty="0"/>
              <a:t> </a:t>
            </a:r>
            <a:r>
              <a:rPr lang="en-US" dirty="0" err="1"/>
              <a:t>hạn</a:t>
            </a:r>
            <a:r>
              <a:rPr lang="en-US" dirty="0"/>
              <a:t> </a:t>
            </a:r>
            <a:r>
              <a:rPr lang="en-US" dirty="0" err="1"/>
              <a:t>Toán</a:t>
            </a:r>
            <a:r>
              <a:rPr lang="en-US" dirty="0"/>
              <a:t> </a:t>
            </a:r>
            <a:r>
              <a:rPr lang="en-US" dirty="0" err="1"/>
              <a:t>học</a:t>
            </a:r>
            <a:r>
              <a:rPr lang="en-US" dirty="0"/>
              <a:t> </a:t>
            </a:r>
            <a:r>
              <a:rPr lang="en-US" dirty="0" err="1"/>
              <a:t>trong</a:t>
            </a:r>
            <a:r>
              <a:rPr lang="en-US" dirty="0"/>
              <a:t> </a:t>
            </a:r>
            <a:r>
              <a:rPr lang="en-US" dirty="0" err="1"/>
              <a:t>bối</a:t>
            </a:r>
            <a:r>
              <a:rPr lang="en-US" dirty="0"/>
              <a:t> </a:t>
            </a:r>
            <a:r>
              <a:rPr lang="en-US" dirty="0" err="1"/>
              <a:t>cảnh</a:t>
            </a:r>
            <a:r>
              <a:rPr lang="en-US" dirty="0"/>
              <a:t> Big Data</a:t>
            </a:r>
            <a:endParaRPr dirty="0"/>
          </a:p>
        </p:txBody>
      </p:sp>
      <p:sp>
        <p:nvSpPr>
          <p:cNvPr id="3" name="Slide Number Placeholder 2">
            <a:extLst>
              <a:ext uri="{FF2B5EF4-FFF2-40B4-BE49-F238E27FC236}">
                <a16:creationId xmlns:a16="http://schemas.microsoft.com/office/drawing/2014/main" id="{CF36F4F5-2CFD-0430-17DA-A2831D603DC5}"/>
              </a:ext>
            </a:extLst>
          </p:cNvPr>
          <p:cNvSpPr>
            <a:spLocks noGrp="1"/>
          </p:cNvSpPr>
          <p:nvPr>
            <p:ph type="sldNum" idx="12"/>
          </p:nvPr>
        </p:nvSpPr>
        <p:spPr/>
        <p:txBody>
          <a:bodyPr/>
          <a:lstStyle/>
          <a:p>
            <a:r>
              <a:rPr lang="en-US" dirty="0"/>
              <a:t>36</a:t>
            </a:r>
          </a:p>
        </p:txBody>
      </p:sp>
      <p:sp>
        <p:nvSpPr>
          <p:cNvPr id="4" name="Rectangle 3">
            <a:extLst>
              <a:ext uri="{FF2B5EF4-FFF2-40B4-BE49-F238E27FC236}">
                <a16:creationId xmlns:a16="http://schemas.microsoft.com/office/drawing/2014/main" id="{00A6AC0D-F385-2F7C-A1ED-36F46FC4F7A0}"/>
              </a:ext>
            </a:extLst>
          </p:cNvPr>
          <p:cNvSpPr/>
          <p:nvPr/>
        </p:nvSpPr>
        <p:spPr>
          <a:xfrm>
            <a:off x="457200" y="1260801"/>
            <a:ext cx="4144108" cy="8907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a:solidFill>
                  <a:schemeClr val="tx1"/>
                </a:solidFill>
                <a:latin typeface="Gill Sans" panose="020B0604020202020204" charset="0"/>
              </a:rPr>
              <a:t>1. </a:t>
            </a:r>
            <a:r>
              <a:rPr lang="en-US" sz="1800" b="1" dirty="0" err="1">
                <a:solidFill>
                  <a:schemeClr val="tx1"/>
                </a:solidFill>
                <a:latin typeface="Gill Sans" panose="020B0604020202020204" charset="0"/>
              </a:rPr>
              <a:t>Lượng</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dữ</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liệu</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lớn</a:t>
            </a:r>
            <a:r>
              <a:rPr lang="en-US" sz="1800" b="1" dirty="0">
                <a:solidFill>
                  <a:schemeClr val="tx1"/>
                </a:solidFill>
                <a:latin typeface="Gill Sans" panose="020B0604020202020204" charset="0"/>
              </a:rPr>
              <a:t>: </a:t>
            </a:r>
            <a:r>
              <a:rPr lang="en-US" sz="1800" dirty="0">
                <a:solidFill>
                  <a:schemeClr val="tx1"/>
                </a:solidFill>
                <a:latin typeface="Gill Sans" panose="020B0604020202020204" charset="0"/>
              </a:rPr>
              <a:t>Công </a:t>
            </a:r>
            <a:r>
              <a:rPr lang="en-US" sz="1800" dirty="0" err="1">
                <a:solidFill>
                  <a:schemeClr val="tx1"/>
                </a:solidFill>
                <a:latin typeface="Gill Sans" panose="020B0604020202020204" charset="0"/>
              </a:rPr>
              <a:t>nghệ</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giải</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trình</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tự</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thế</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hệ</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mới</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tạo</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ra</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số</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lượng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các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đoạn</a:t>
            </a:r>
            <a:r>
              <a:rPr lang="en-US" sz="1800" dirty="0">
                <a:solidFill>
                  <a:schemeClr val="tx1"/>
                </a:solidFill>
                <a:latin typeface="Gill Sans" panose="020B0604020202020204" charset="0"/>
              </a:rPr>
              <a:t> reads </a:t>
            </a:r>
            <a:r>
              <a:rPr lang="en-US" sz="1800" dirty="0" err="1">
                <a:solidFill>
                  <a:schemeClr val="tx1"/>
                </a:solidFill>
                <a:latin typeface="Gill Sans" panose="020B0604020202020204" charset="0"/>
              </a:rPr>
              <a:t>có</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độ</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nhiễu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cao</a:t>
            </a:r>
            <a:r>
              <a:rPr lang="en-US" sz="1800" dirty="0">
                <a:solidFill>
                  <a:schemeClr val="tx1"/>
                </a:solidFill>
                <a:latin typeface="Gill Sans" panose="020B0604020202020204" charset="0"/>
              </a:rPr>
              <a:t>.</a:t>
            </a:r>
          </a:p>
        </p:txBody>
      </p:sp>
      <p:sp>
        <p:nvSpPr>
          <p:cNvPr id="5" name="Rectangle 4">
            <a:extLst>
              <a:ext uri="{FF2B5EF4-FFF2-40B4-BE49-F238E27FC236}">
                <a16:creationId xmlns:a16="http://schemas.microsoft.com/office/drawing/2014/main" id="{F851DB40-70D4-1913-AD78-25F9B17E620E}"/>
              </a:ext>
            </a:extLst>
          </p:cNvPr>
          <p:cNvSpPr/>
          <p:nvPr/>
        </p:nvSpPr>
        <p:spPr>
          <a:xfrm>
            <a:off x="457200" y="2462966"/>
            <a:ext cx="4144108" cy="8907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a:solidFill>
                  <a:schemeClr val="tx1"/>
                </a:solidFill>
                <a:latin typeface="Gill Sans" panose="020B0604020202020204" charset="0"/>
              </a:rPr>
              <a:t>2. </a:t>
            </a:r>
            <a:r>
              <a:rPr lang="en-US" sz="1800" b="1" dirty="0" err="1">
                <a:solidFill>
                  <a:schemeClr val="tx1"/>
                </a:solidFill>
                <a:latin typeface="Gill Sans" panose="020B0604020202020204" charset="0"/>
              </a:rPr>
              <a:t>Độ</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phức</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tạp</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tính</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toán</a:t>
            </a:r>
            <a:r>
              <a:rPr lang="en-US" sz="1800" b="1" dirty="0">
                <a:solidFill>
                  <a:schemeClr val="tx1"/>
                </a:solidFill>
                <a:latin typeface="Gill Sans" panose="020B0604020202020204" charset="0"/>
              </a:rPr>
              <a:t>: </a:t>
            </a:r>
            <a:r>
              <a:rPr lang="en-US" sz="1800" dirty="0" err="1">
                <a:solidFill>
                  <a:schemeClr val="tx1"/>
                </a:solidFill>
                <a:latin typeface="Gill Sans" panose="020B0604020202020204" charset="0"/>
              </a:rPr>
              <a:t>Hầu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hết</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các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thuật</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toán</a:t>
            </a:r>
            <a:r>
              <a:rPr lang="en-US" sz="1800" dirty="0">
                <a:solidFill>
                  <a:schemeClr val="tx1"/>
                </a:solidFill>
                <a:latin typeface="Gill Sans" panose="020B0604020202020204" charset="0"/>
              </a:rPr>
              <a:t> MSA </a:t>
            </a:r>
            <a:r>
              <a:rPr lang="en-US" sz="1800" dirty="0" err="1">
                <a:solidFill>
                  <a:schemeClr val="tx1"/>
                </a:solidFill>
                <a:latin typeface="Gill Sans" panose="020B0604020202020204" charset="0"/>
              </a:rPr>
              <a:t>truyền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thống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đều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có</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bước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tính</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toán</a:t>
            </a:r>
            <a:r>
              <a:rPr lang="en-US" sz="1800" dirty="0">
                <a:solidFill>
                  <a:schemeClr val="tx1"/>
                </a:solidFill>
                <a:latin typeface="Gill Sans" panose="020B0604020202020204" charset="0"/>
              </a:rPr>
              <a:t> ma </a:t>
            </a:r>
            <a:r>
              <a:rPr lang="en-US" sz="1800" dirty="0" err="1">
                <a:solidFill>
                  <a:schemeClr val="tx1"/>
                </a:solidFill>
                <a:latin typeface="Gill Sans" panose="020B0604020202020204" charset="0"/>
              </a:rPr>
              <a:t>trận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khoảng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cách</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có</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độ</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phức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tạp</a:t>
            </a:r>
            <a:r>
              <a:rPr lang="en-US" sz="1800" dirty="0">
                <a:solidFill>
                  <a:schemeClr val="tx1"/>
                </a:solidFill>
                <a:latin typeface="Gill Sans" panose="020B0604020202020204" charset="0"/>
              </a:rPr>
              <a:t> O(N</a:t>
            </a:r>
            <a:r>
              <a:rPr lang="en-US" sz="1800" baseline="30000" dirty="0">
                <a:solidFill>
                  <a:schemeClr val="tx1"/>
                </a:solidFill>
                <a:latin typeface="Gill Sans" panose="020B0604020202020204" charset="0"/>
              </a:rPr>
              <a:t>2</a:t>
            </a:r>
            <a:r>
              <a:rPr lang="en-US" sz="1800" dirty="0">
                <a:solidFill>
                  <a:schemeClr val="tx1"/>
                </a:solidFill>
                <a:latin typeface="Gill Sans" panose="020B0604020202020204" charset="0"/>
              </a:rPr>
              <a:t>).</a:t>
            </a:r>
          </a:p>
        </p:txBody>
      </p:sp>
      <p:sp>
        <p:nvSpPr>
          <p:cNvPr id="10" name="Rectangle 9">
            <a:extLst>
              <a:ext uri="{FF2B5EF4-FFF2-40B4-BE49-F238E27FC236}">
                <a16:creationId xmlns:a16="http://schemas.microsoft.com/office/drawing/2014/main" id="{0697A228-BD58-7FDF-0DE6-8FAC62B389F6}"/>
              </a:ext>
            </a:extLst>
          </p:cNvPr>
          <p:cNvSpPr/>
          <p:nvPr/>
        </p:nvSpPr>
        <p:spPr>
          <a:xfrm>
            <a:off x="457200" y="3764461"/>
            <a:ext cx="4144108" cy="8907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a:solidFill>
                  <a:schemeClr val="tx1"/>
                </a:solidFill>
                <a:latin typeface="Gill Sans" panose="020B0604020202020204" charset="0"/>
              </a:rPr>
              <a:t>3. </a:t>
            </a:r>
            <a:r>
              <a:rPr lang="en-US" sz="1800" b="1" dirty="0" err="1">
                <a:solidFill>
                  <a:schemeClr val="tx1"/>
                </a:solidFill>
                <a:latin typeface="Gill Sans" panose="020B0604020202020204" charset="0"/>
              </a:rPr>
              <a:t>Giới</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hạn</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về</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bộ</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nhớ</a:t>
            </a:r>
            <a:r>
              <a:rPr lang="en-US" sz="1800" b="1" dirty="0">
                <a:solidFill>
                  <a:schemeClr val="tx1"/>
                </a:solidFill>
                <a:latin typeface="Gill Sans" panose="020B0604020202020204" charset="0"/>
              </a:rPr>
              <a:t>: </a:t>
            </a:r>
            <a:r>
              <a:rPr lang="en-US" sz="1800" dirty="0">
                <a:solidFill>
                  <a:schemeClr val="tx1"/>
                </a:solidFill>
                <a:latin typeface="Gill Sans" panose="020B0604020202020204" charset="0"/>
              </a:rPr>
              <a:t>Lưu </a:t>
            </a:r>
            <a:r>
              <a:rPr lang="en-US" sz="1800" dirty="0" err="1">
                <a:solidFill>
                  <a:schemeClr val="tx1"/>
                </a:solidFill>
                <a:latin typeface="Gill Sans" panose="020B0604020202020204" charset="0"/>
              </a:rPr>
              <a:t>trữ</a:t>
            </a:r>
            <a:r>
              <a:rPr lang="en-US" sz="1800" dirty="0">
                <a:solidFill>
                  <a:schemeClr val="tx1"/>
                </a:solidFill>
                <a:latin typeface="Gill Sans" panose="020B0604020202020204" charset="0"/>
              </a:rPr>
              <a:t> ma </a:t>
            </a:r>
            <a:r>
              <a:rPr lang="en-US" sz="1800" dirty="0" err="1">
                <a:solidFill>
                  <a:schemeClr val="tx1"/>
                </a:solidFill>
                <a:latin typeface="Gill Sans" panose="020B0604020202020204" charset="0"/>
              </a:rPr>
              <a:t>trận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và</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cây</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hướng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dẫn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kết</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quả</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của</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quá</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trình</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quy</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hoạch</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động</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tiêu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tốn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nhiều</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bộ</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nhớ</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của</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các</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máy</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chủ</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đơn</a:t>
            </a:r>
            <a:r>
              <a:rPr lang="en-US" sz="1800" dirty="0">
                <a:solidFill>
                  <a:schemeClr val="tx1"/>
                </a:solidFill>
                <a:latin typeface="Gill Sans" panose="020B0604020202020204" charset="0"/>
              </a:rPr>
              <a:t> </a:t>
            </a:r>
            <a:r>
              <a:rPr lang="en-US" sz="1800" dirty="0" err="1">
                <a:solidFill>
                  <a:schemeClr val="tx1"/>
                </a:solidFill>
                <a:latin typeface="Gill Sans" panose="020B0604020202020204" charset="0"/>
              </a:rPr>
              <a:t>lẻ</a:t>
            </a:r>
            <a:r>
              <a:rPr lang="en-US" sz="1800" dirty="0">
                <a:solidFill>
                  <a:schemeClr val="tx1"/>
                </a:solidFill>
                <a:latin typeface="Gill Sans" panose="020B0604020202020204" charset="0"/>
              </a:rPr>
              <a:t>.</a:t>
            </a:r>
          </a:p>
        </p:txBody>
      </p:sp>
      <p:sp>
        <p:nvSpPr>
          <p:cNvPr id="12" name="Rectangle 11">
            <a:extLst>
              <a:ext uri="{FF2B5EF4-FFF2-40B4-BE49-F238E27FC236}">
                <a16:creationId xmlns:a16="http://schemas.microsoft.com/office/drawing/2014/main" id="{036D4B14-0E57-C0A7-672B-044F6905D587}"/>
              </a:ext>
            </a:extLst>
          </p:cNvPr>
          <p:cNvSpPr/>
          <p:nvPr/>
        </p:nvSpPr>
        <p:spPr>
          <a:xfrm>
            <a:off x="457200" y="5244891"/>
            <a:ext cx="4144108" cy="8907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a:solidFill>
                  <a:schemeClr val="tx1"/>
                </a:solidFill>
                <a:latin typeface="Gill Sans" panose="020B0604020202020204" charset="0"/>
              </a:rPr>
              <a:t>4. </a:t>
            </a:r>
            <a:r>
              <a:rPr lang="en-US" sz="1800" b="1" dirty="0" err="1">
                <a:solidFill>
                  <a:schemeClr val="tx1"/>
                </a:solidFill>
                <a:latin typeface="Gill Sans" panose="020B0604020202020204" charset="0"/>
              </a:rPr>
              <a:t>Thiếu</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khả</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năng</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tính</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toán</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phân</a:t>
            </a:r>
            <a:r>
              <a:rPr lang="en-US" sz="1800" b="1" dirty="0">
                <a:solidFill>
                  <a:schemeClr val="tx1"/>
                </a:solidFill>
                <a:latin typeface="Gill Sans" panose="020B0604020202020204" charset="0"/>
              </a:rPr>
              <a:t> </a:t>
            </a:r>
            <a:r>
              <a:rPr lang="en-US" sz="1800" b="1" dirty="0" err="1">
                <a:solidFill>
                  <a:schemeClr val="tx1"/>
                </a:solidFill>
                <a:latin typeface="Gill Sans" panose="020B0604020202020204" charset="0"/>
              </a:rPr>
              <a:t>tán</a:t>
            </a:r>
            <a:r>
              <a:rPr lang="en-US" sz="1800" b="1" dirty="0">
                <a:solidFill>
                  <a:schemeClr val="tx1"/>
                </a:solidFill>
                <a:latin typeface="Gill Sans" panose="020B0604020202020204" charset="0"/>
              </a:rPr>
              <a:t>: </a:t>
            </a:r>
            <a:r>
              <a:rPr lang="vi-VN" sz="1800" dirty="0">
                <a:solidFill>
                  <a:schemeClr val="tx1"/>
                </a:solidFill>
                <a:latin typeface="Gill Sans" panose="020B0604020202020204" charset="0"/>
              </a:rPr>
              <a:t>Các công cụ MSA thường được thiết kế để chạy trên kiến trúc đơn luồng hoặc đa luồng trên một máy tính duy nhất (single-node)</a:t>
            </a:r>
            <a:r>
              <a:rPr lang="en-US" sz="1800" dirty="0">
                <a:solidFill>
                  <a:schemeClr val="tx1"/>
                </a:solidFill>
                <a:latin typeface="Gill Sans" panose="020B0604020202020204" charset="0"/>
              </a:rPr>
              <a:t>.</a:t>
            </a:r>
          </a:p>
        </p:txBody>
      </p:sp>
      <p:grpSp>
        <p:nvGrpSpPr>
          <p:cNvPr id="19" name="Group 18">
            <a:extLst>
              <a:ext uri="{FF2B5EF4-FFF2-40B4-BE49-F238E27FC236}">
                <a16:creationId xmlns:a16="http://schemas.microsoft.com/office/drawing/2014/main" id="{D740CFB9-DFA8-3792-ADFB-1B501810648C}"/>
              </a:ext>
            </a:extLst>
          </p:cNvPr>
          <p:cNvGrpSpPr/>
          <p:nvPr/>
        </p:nvGrpSpPr>
        <p:grpSpPr>
          <a:xfrm>
            <a:off x="4754436" y="1706165"/>
            <a:ext cx="3956748" cy="3838988"/>
            <a:chOff x="4754436" y="1706165"/>
            <a:chExt cx="3956748" cy="3838988"/>
          </a:xfrm>
        </p:grpSpPr>
        <p:pic>
          <p:nvPicPr>
            <p:cNvPr id="14" name="Picture 13">
              <a:extLst>
                <a:ext uri="{FF2B5EF4-FFF2-40B4-BE49-F238E27FC236}">
                  <a16:creationId xmlns:a16="http://schemas.microsoft.com/office/drawing/2014/main" id="{C8316A96-EED2-67DF-5FA9-A60B7EB52A59}"/>
                </a:ext>
              </a:extLst>
            </p:cNvPr>
            <p:cNvPicPr>
              <a:picLocks noChangeAspect="1"/>
            </p:cNvPicPr>
            <p:nvPr/>
          </p:nvPicPr>
          <p:blipFill>
            <a:blip r:embed="rId3"/>
            <a:stretch>
              <a:fillRect/>
            </a:stretch>
          </p:blipFill>
          <p:spPr>
            <a:xfrm>
              <a:off x="4754436" y="1706165"/>
              <a:ext cx="3956748" cy="3838988"/>
            </a:xfrm>
            <a:prstGeom prst="rect">
              <a:avLst/>
            </a:prstGeom>
          </p:spPr>
        </p:pic>
        <p:sp>
          <p:nvSpPr>
            <p:cNvPr id="15" name="Rectangle 14">
              <a:extLst>
                <a:ext uri="{FF2B5EF4-FFF2-40B4-BE49-F238E27FC236}">
                  <a16:creationId xmlns:a16="http://schemas.microsoft.com/office/drawing/2014/main" id="{2F1B007B-7A44-A3C1-B779-D451E71F0DA5}"/>
                </a:ext>
              </a:extLst>
            </p:cNvPr>
            <p:cNvSpPr/>
            <p:nvPr/>
          </p:nvSpPr>
          <p:spPr>
            <a:xfrm>
              <a:off x="7485888" y="5244891"/>
              <a:ext cx="518160" cy="265893"/>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593865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1E2B1195-5940-F734-AD0E-F013E0900333}"/>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B27AE6B7-22D8-3DD1-D3D2-CC0F054AB00D}"/>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dirty="0" err="1"/>
              <a:t>Truyền</a:t>
            </a:r>
            <a:r>
              <a:rPr lang="en-US" dirty="0"/>
              <a:t> </a:t>
            </a:r>
            <a:r>
              <a:rPr lang="en-US" dirty="0" err="1"/>
              <a:t>thống</a:t>
            </a:r>
            <a:r>
              <a:rPr lang="en-US" dirty="0"/>
              <a:t> vs. Học </a:t>
            </a:r>
            <a:r>
              <a:rPr lang="en-US" dirty="0" err="1"/>
              <a:t>máy</a:t>
            </a:r>
            <a:endParaRPr dirty="0"/>
          </a:p>
        </p:txBody>
      </p:sp>
      <p:sp>
        <p:nvSpPr>
          <p:cNvPr id="3" name="Slide Number Placeholder 2">
            <a:extLst>
              <a:ext uri="{FF2B5EF4-FFF2-40B4-BE49-F238E27FC236}">
                <a16:creationId xmlns:a16="http://schemas.microsoft.com/office/drawing/2014/main" id="{D308409B-7E68-E3B3-1B28-DDD2A877C5B6}"/>
              </a:ext>
            </a:extLst>
          </p:cNvPr>
          <p:cNvSpPr>
            <a:spLocks noGrp="1"/>
          </p:cNvSpPr>
          <p:nvPr>
            <p:ph type="sldNum" idx="12"/>
          </p:nvPr>
        </p:nvSpPr>
        <p:spPr/>
        <p:txBody>
          <a:bodyPr/>
          <a:lstStyle/>
          <a:p>
            <a:r>
              <a:rPr lang="en-US" dirty="0"/>
              <a:t>37</a:t>
            </a:r>
          </a:p>
        </p:txBody>
      </p:sp>
      <p:sp>
        <p:nvSpPr>
          <p:cNvPr id="2" name="Rectangle 1">
            <a:extLst>
              <a:ext uri="{FF2B5EF4-FFF2-40B4-BE49-F238E27FC236}">
                <a16:creationId xmlns:a16="http://schemas.microsoft.com/office/drawing/2014/main" id="{68F2C2DB-5A0E-38BC-5C3E-8C812FC8EA09}"/>
              </a:ext>
            </a:extLst>
          </p:cNvPr>
          <p:cNvSpPr/>
          <p:nvPr/>
        </p:nvSpPr>
        <p:spPr>
          <a:xfrm>
            <a:off x="499872" y="1517904"/>
            <a:ext cx="1800000" cy="540000"/>
          </a:xfrm>
          <a:prstGeom prst="rect">
            <a:avLst/>
          </a:prstGeom>
          <a:solidFill>
            <a:srgbClr val="FEFE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latin typeface="Gill Sans" panose="020B0604020202020204" charset="0"/>
              </a:rPr>
              <a:t>Input</a:t>
            </a:r>
          </a:p>
          <a:p>
            <a:pPr algn="ctr"/>
            <a:r>
              <a:rPr lang="en-US" dirty="0">
                <a:solidFill>
                  <a:sysClr val="windowText" lastClr="000000"/>
                </a:solidFill>
                <a:latin typeface="Gill Sans" panose="020B0604020202020204" charset="0"/>
              </a:rPr>
              <a:t>(</a:t>
            </a:r>
            <a:r>
              <a:rPr lang="en-US" dirty="0" err="1">
                <a:solidFill>
                  <a:sysClr val="windowText" lastClr="000000"/>
                </a:solidFill>
                <a:latin typeface="Gill Sans" panose="020B0604020202020204" charset="0"/>
              </a:rPr>
              <a:t>Trình</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tự</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thô</a:t>
            </a:r>
            <a:r>
              <a:rPr lang="en-US" dirty="0">
                <a:solidFill>
                  <a:sysClr val="windowText" lastClr="000000"/>
                </a:solidFill>
                <a:latin typeface="Gill Sans" panose="020B0604020202020204" charset="0"/>
              </a:rPr>
              <a:t>)</a:t>
            </a:r>
          </a:p>
        </p:txBody>
      </p:sp>
      <p:sp>
        <p:nvSpPr>
          <p:cNvPr id="6" name="Rectangle 5">
            <a:extLst>
              <a:ext uri="{FF2B5EF4-FFF2-40B4-BE49-F238E27FC236}">
                <a16:creationId xmlns:a16="http://schemas.microsoft.com/office/drawing/2014/main" id="{BF8C2FFB-1F75-9697-7950-4F2D0C5FEC49}"/>
              </a:ext>
            </a:extLst>
          </p:cNvPr>
          <p:cNvSpPr/>
          <p:nvPr/>
        </p:nvSpPr>
        <p:spPr>
          <a:xfrm>
            <a:off x="3492000" y="1517904"/>
            <a:ext cx="2160000" cy="540000"/>
          </a:xfrm>
          <a:prstGeom prst="rect">
            <a:avLst/>
          </a:prstGeom>
          <a:solidFill>
            <a:srgbClr val="FEFE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ysClr val="windowText" lastClr="000000"/>
                </a:solidFill>
                <a:latin typeface="Gill Sans" panose="020B0604020202020204" charset="0"/>
              </a:rPr>
              <a:t>Truyền</a:t>
            </a:r>
            <a:r>
              <a:rPr lang="en-US" b="1" dirty="0">
                <a:solidFill>
                  <a:sysClr val="windowText" lastClr="000000"/>
                </a:solidFill>
                <a:latin typeface="Gill Sans" panose="020B0604020202020204" charset="0"/>
              </a:rPr>
              <a:t> </a:t>
            </a:r>
            <a:r>
              <a:rPr lang="en-US" b="1" dirty="0" err="1">
                <a:solidFill>
                  <a:sysClr val="windowText" lastClr="000000"/>
                </a:solidFill>
                <a:latin typeface="Gill Sans" panose="020B0604020202020204" charset="0"/>
              </a:rPr>
              <a:t>thống</a:t>
            </a:r>
            <a:endParaRPr lang="en-US" b="1" dirty="0">
              <a:solidFill>
                <a:sysClr val="windowText" lastClr="000000"/>
              </a:solidFill>
              <a:latin typeface="Gill Sans" panose="020B0604020202020204" charset="0"/>
            </a:endParaRPr>
          </a:p>
          <a:p>
            <a:pPr algn="ctr"/>
            <a:r>
              <a:rPr lang="en-US" dirty="0">
                <a:solidFill>
                  <a:sysClr val="windowText" lastClr="000000"/>
                </a:solidFill>
                <a:latin typeface="Gill Sans" panose="020B0604020202020204" charset="0"/>
              </a:rPr>
              <a:t>(Ma </a:t>
            </a:r>
            <a:r>
              <a:rPr lang="en-US" dirty="0" err="1">
                <a:solidFill>
                  <a:sysClr val="windowText" lastClr="000000"/>
                </a:solidFill>
                <a:latin typeface="Gill Sans" panose="020B0604020202020204" charset="0"/>
              </a:rPr>
              <a:t>trận</a:t>
            </a:r>
            <a:r>
              <a:rPr lang="en-US" dirty="0">
                <a:solidFill>
                  <a:sysClr val="windowText" lastClr="000000"/>
                </a:solidFill>
                <a:latin typeface="Gill Sans" panose="020B0604020202020204" charset="0"/>
              </a:rPr>
              <a:t> D.P / Heuristic)</a:t>
            </a:r>
          </a:p>
        </p:txBody>
      </p:sp>
      <p:sp>
        <p:nvSpPr>
          <p:cNvPr id="7" name="Rectangle 6">
            <a:extLst>
              <a:ext uri="{FF2B5EF4-FFF2-40B4-BE49-F238E27FC236}">
                <a16:creationId xmlns:a16="http://schemas.microsoft.com/office/drawing/2014/main" id="{A970A7C8-A46F-441A-C9B7-0EA2516A68F0}"/>
              </a:ext>
            </a:extLst>
          </p:cNvPr>
          <p:cNvSpPr/>
          <p:nvPr/>
        </p:nvSpPr>
        <p:spPr>
          <a:xfrm>
            <a:off x="6886800" y="1517904"/>
            <a:ext cx="1800000" cy="540000"/>
          </a:xfrm>
          <a:prstGeom prst="rect">
            <a:avLst/>
          </a:prstGeom>
          <a:solidFill>
            <a:srgbClr val="FEFE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latin typeface="Gill Sans" panose="020B0604020202020204" charset="0"/>
              </a:rPr>
              <a:t>Output</a:t>
            </a:r>
          </a:p>
          <a:p>
            <a:pPr algn="ctr"/>
            <a:r>
              <a:rPr lang="en-US" dirty="0">
                <a:solidFill>
                  <a:sysClr val="windowText" lastClr="000000"/>
                </a:solidFill>
                <a:latin typeface="Gill Sans" panose="020B0604020202020204" charset="0"/>
              </a:rPr>
              <a:t>(</a:t>
            </a:r>
            <a:r>
              <a:rPr lang="en-US" dirty="0" err="1">
                <a:solidFill>
                  <a:sysClr val="windowText" lastClr="000000"/>
                </a:solidFill>
                <a:latin typeface="Gill Sans" panose="020B0604020202020204" charset="0"/>
              </a:rPr>
              <a:t>Sắp</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hàng</a:t>
            </a:r>
            <a:r>
              <a:rPr lang="en-US" dirty="0">
                <a:solidFill>
                  <a:sysClr val="windowText" lastClr="000000"/>
                </a:solidFill>
                <a:latin typeface="Gill Sans" panose="020B0604020202020204" charset="0"/>
              </a:rPr>
              <a:t>)</a:t>
            </a:r>
          </a:p>
        </p:txBody>
      </p:sp>
      <p:cxnSp>
        <p:nvCxnSpPr>
          <p:cNvPr id="9" name="Straight Arrow Connector 8">
            <a:extLst>
              <a:ext uri="{FF2B5EF4-FFF2-40B4-BE49-F238E27FC236}">
                <a16:creationId xmlns:a16="http://schemas.microsoft.com/office/drawing/2014/main" id="{F45FA57B-89B1-813F-B7A1-39B5A151AC49}"/>
              </a:ext>
            </a:extLst>
          </p:cNvPr>
          <p:cNvCxnSpPr>
            <a:stCxn id="2" idx="3"/>
            <a:endCxn id="6" idx="1"/>
          </p:cNvCxnSpPr>
          <p:nvPr/>
        </p:nvCxnSpPr>
        <p:spPr>
          <a:xfrm>
            <a:off x="2299872" y="1787904"/>
            <a:ext cx="119212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C751C124-88FB-8D3F-2CA8-3F8E8AE4C60C}"/>
              </a:ext>
            </a:extLst>
          </p:cNvPr>
          <p:cNvCxnSpPr>
            <a:cxnSpLocks/>
            <a:stCxn id="6" idx="3"/>
            <a:endCxn id="7" idx="1"/>
          </p:cNvCxnSpPr>
          <p:nvPr/>
        </p:nvCxnSpPr>
        <p:spPr>
          <a:xfrm>
            <a:off x="5652000" y="1787904"/>
            <a:ext cx="123480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A8A97045-2F05-E1EE-9F2B-B74684B98CA8}"/>
              </a:ext>
            </a:extLst>
          </p:cNvPr>
          <p:cNvSpPr/>
          <p:nvPr/>
        </p:nvSpPr>
        <p:spPr>
          <a:xfrm>
            <a:off x="499872" y="2752218"/>
            <a:ext cx="1800000" cy="540000"/>
          </a:xfrm>
          <a:prstGeom prst="rect">
            <a:avLst/>
          </a:prstGeom>
          <a:solidFill>
            <a:srgbClr val="FEFE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latin typeface="Gill Sans" panose="020B0604020202020204" charset="0"/>
              </a:rPr>
              <a:t>Input</a:t>
            </a:r>
          </a:p>
          <a:p>
            <a:pPr algn="ctr"/>
            <a:r>
              <a:rPr lang="en-US" dirty="0">
                <a:solidFill>
                  <a:sysClr val="windowText" lastClr="000000"/>
                </a:solidFill>
                <a:latin typeface="Gill Sans" panose="020B0604020202020204" charset="0"/>
              </a:rPr>
              <a:t>(</a:t>
            </a:r>
            <a:r>
              <a:rPr lang="en-US" dirty="0" err="1">
                <a:solidFill>
                  <a:sysClr val="windowText" lastClr="000000"/>
                </a:solidFill>
                <a:latin typeface="Gill Sans" panose="020B0604020202020204" charset="0"/>
              </a:rPr>
              <a:t>Trình</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tự</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thô</a:t>
            </a:r>
            <a:r>
              <a:rPr lang="en-US" dirty="0">
                <a:solidFill>
                  <a:sysClr val="windowText" lastClr="000000"/>
                </a:solidFill>
                <a:latin typeface="Gill Sans" panose="020B0604020202020204" charset="0"/>
              </a:rPr>
              <a:t>)</a:t>
            </a:r>
          </a:p>
        </p:txBody>
      </p:sp>
      <p:sp>
        <p:nvSpPr>
          <p:cNvPr id="24" name="Rectangle 23">
            <a:extLst>
              <a:ext uri="{FF2B5EF4-FFF2-40B4-BE49-F238E27FC236}">
                <a16:creationId xmlns:a16="http://schemas.microsoft.com/office/drawing/2014/main" id="{98C9726F-144A-984A-5A7F-732DA57DC008}"/>
              </a:ext>
            </a:extLst>
          </p:cNvPr>
          <p:cNvSpPr/>
          <p:nvPr/>
        </p:nvSpPr>
        <p:spPr>
          <a:xfrm>
            <a:off x="3492000" y="3292218"/>
            <a:ext cx="2160000" cy="720000"/>
          </a:xfrm>
          <a:prstGeom prst="rect">
            <a:avLst/>
          </a:prstGeom>
          <a:solidFill>
            <a:srgbClr val="FEFEFE"/>
          </a:solidFill>
          <a:ln>
            <a:solidFill>
              <a:srgbClr val="16AD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ysClr val="windowText" lastClr="000000"/>
                </a:solidFill>
                <a:latin typeface="Gill Sans" panose="020B0604020202020204" charset="0"/>
              </a:rPr>
              <a:t>Mô</a:t>
            </a:r>
            <a:r>
              <a:rPr lang="en-US" b="1" dirty="0">
                <a:solidFill>
                  <a:sysClr val="windowText" lastClr="000000"/>
                </a:solidFill>
                <a:latin typeface="Gill Sans" panose="020B0604020202020204" charset="0"/>
              </a:rPr>
              <a:t> </a:t>
            </a:r>
            <a:r>
              <a:rPr lang="en-US" b="1" dirty="0" err="1">
                <a:solidFill>
                  <a:sysClr val="windowText" lastClr="000000"/>
                </a:solidFill>
                <a:latin typeface="Gill Sans" panose="020B0604020202020204" charset="0"/>
              </a:rPr>
              <a:t>hình</a:t>
            </a:r>
            <a:endParaRPr lang="en-US" b="1" dirty="0">
              <a:solidFill>
                <a:sysClr val="windowText" lastClr="000000"/>
              </a:solidFill>
              <a:latin typeface="Gill Sans" panose="020B0604020202020204" charset="0"/>
            </a:endParaRPr>
          </a:p>
          <a:p>
            <a:pPr algn="ctr"/>
            <a:r>
              <a:rPr lang="en-US" dirty="0">
                <a:solidFill>
                  <a:sysClr val="windowText" lastClr="000000"/>
                </a:solidFill>
                <a:latin typeface="Gill Sans" panose="020B0604020202020204" charset="0"/>
              </a:rPr>
              <a:t>(</a:t>
            </a:r>
            <a:r>
              <a:rPr lang="en-US" dirty="0" err="1">
                <a:solidFill>
                  <a:sysClr val="windowText" lastClr="000000"/>
                </a:solidFill>
                <a:latin typeface="Gill Sans" panose="020B0604020202020204" charset="0"/>
              </a:rPr>
              <a:t>Mạng</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nơ-ron</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học</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các</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đặc</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trưng</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ẩn</a:t>
            </a:r>
            <a:r>
              <a:rPr lang="en-US" dirty="0">
                <a:solidFill>
                  <a:sysClr val="windowText" lastClr="000000"/>
                </a:solidFill>
                <a:latin typeface="Gill Sans" panose="020B0604020202020204" charset="0"/>
              </a:rPr>
              <a:t>)</a:t>
            </a:r>
          </a:p>
        </p:txBody>
      </p:sp>
      <p:sp>
        <p:nvSpPr>
          <p:cNvPr id="25" name="Rectangle 24">
            <a:extLst>
              <a:ext uri="{FF2B5EF4-FFF2-40B4-BE49-F238E27FC236}">
                <a16:creationId xmlns:a16="http://schemas.microsoft.com/office/drawing/2014/main" id="{E9B6C5B2-311C-71C0-EA4D-2A76496899A0}"/>
              </a:ext>
            </a:extLst>
          </p:cNvPr>
          <p:cNvSpPr/>
          <p:nvPr/>
        </p:nvSpPr>
        <p:spPr>
          <a:xfrm>
            <a:off x="6886800" y="3382218"/>
            <a:ext cx="1800000" cy="540000"/>
          </a:xfrm>
          <a:prstGeom prst="rect">
            <a:avLst/>
          </a:prstGeom>
          <a:solidFill>
            <a:srgbClr val="FEFE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latin typeface="Gill Sans" panose="020B0604020202020204" charset="0"/>
              </a:rPr>
              <a:t>Output</a:t>
            </a:r>
          </a:p>
          <a:p>
            <a:pPr algn="ctr"/>
            <a:r>
              <a:rPr lang="en-US" dirty="0">
                <a:solidFill>
                  <a:sysClr val="windowText" lastClr="000000"/>
                </a:solidFill>
                <a:latin typeface="Gill Sans" panose="020B0604020202020204" charset="0"/>
              </a:rPr>
              <a:t>(</a:t>
            </a:r>
            <a:r>
              <a:rPr lang="en-US" dirty="0" err="1">
                <a:solidFill>
                  <a:sysClr val="windowText" lastClr="000000"/>
                </a:solidFill>
                <a:latin typeface="Gill Sans" panose="020B0604020202020204" charset="0"/>
              </a:rPr>
              <a:t>Sắp</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hàng</a:t>
            </a:r>
            <a:r>
              <a:rPr lang="en-US" dirty="0">
                <a:solidFill>
                  <a:sysClr val="windowText" lastClr="000000"/>
                </a:solidFill>
                <a:latin typeface="Gill Sans" panose="020B0604020202020204" charset="0"/>
              </a:rPr>
              <a:t>)</a:t>
            </a:r>
          </a:p>
        </p:txBody>
      </p:sp>
      <p:cxnSp>
        <p:nvCxnSpPr>
          <p:cNvPr id="26" name="Straight Arrow Connector 25">
            <a:extLst>
              <a:ext uri="{FF2B5EF4-FFF2-40B4-BE49-F238E27FC236}">
                <a16:creationId xmlns:a16="http://schemas.microsoft.com/office/drawing/2014/main" id="{AC39F21B-20C4-9E86-64B6-BCF9EBD37CE7}"/>
              </a:ext>
            </a:extLst>
          </p:cNvPr>
          <p:cNvCxnSpPr>
            <a:stCxn id="23" idx="3"/>
            <a:endCxn id="24" idx="1"/>
          </p:cNvCxnSpPr>
          <p:nvPr/>
        </p:nvCxnSpPr>
        <p:spPr>
          <a:xfrm>
            <a:off x="2299872" y="3022218"/>
            <a:ext cx="1192128" cy="6300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98F84D68-5FD1-85A6-A2EC-3A98887A6AA8}"/>
              </a:ext>
            </a:extLst>
          </p:cNvPr>
          <p:cNvCxnSpPr>
            <a:cxnSpLocks/>
            <a:endCxn id="25" idx="1"/>
          </p:cNvCxnSpPr>
          <p:nvPr/>
        </p:nvCxnSpPr>
        <p:spPr>
          <a:xfrm>
            <a:off x="5652000" y="3637314"/>
            <a:ext cx="123480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F14A9BA5-B56F-5A61-35C5-E84258C3F26D}"/>
              </a:ext>
            </a:extLst>
          </p:cNvPr>
          <p:cNvSpPr/>
          <p:nvPr/>
        </p:nvSpPr>
        <p:spPr>
          <a:xfrm>
            <a:off x="499872" y="3832218"/>
            <a:ext cx="1800000" cy="684000"/>
          </a:xfrm>
          <a:prstGeom prst="rect">
            <a:avLst/>
          </a:prstGeom>
          <a:solidFill>
            <a:srgbClr val="FEFE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latin typeface="Gill Sans" panose="020B0604020202020204" charset="0"/>
              </a:rPr>
              <a:t>Training Data</a:t>
            </a:r>
          </a:p>
          <a:p>
            <a:pPr algn="ctr"/>
            <a:r>
              <a:rPr lang="en-US" dirty="0">
                <a:solidFill>
                  <a:sysClr val="windowText" lastClr="000000"/>
                </a:solidFill>
                <a:latin typeface="Gill Sans" panose="020B0604020202020204" charset="0"/>
              </a:rPr>
              <a:t>(</a:t>
            </a:r>
            <a:r>
              <a:rPr lang="en-US" dirty="0" err="1">
                <a:solidFill>
                  <a:sysClr val="windowText" lastClr="000000"/>
                </a:solidFill>
                <a:latin typeface="Gill Sans" panose="020B0604020202020204" charset="0"/>
              </a:rPr>
              <a:t>Dữ</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liệu</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đã</a:t>
            </a:r>
            <a:r>
              <a:rPr lang="en-US" dirty="0">
                <a:solidFill>
                  <a:sysClr val="windowText" lastClr="000000"/>
                </a:solidFill>
                <a:latin typeface="Gill Sans" panose="020B0604020202020204" charset="0"/>
              </a:rPr>
              <a:t> </a:t>
            </a:r>
          </a:p>
          <a:p>
            <a:pPr algn="ctr"/>
            <a:r>
              <a:rPr lang="en-US" dirty="0" err="1">
                <a:solidFill>
                  <a:sysClr val="windowText" lastClr="000000"/>
                </a:solidFill>
                <a:latin typeface="Gill Sans" panose="020B0604020202020204" charset="0"/>
              </a:rPr>
              <a:t>sắp</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hàng</a:t>
            </a:r>
            <a:r>
              <a:rPr lang="en-US" dirty="0">
                <a:solidFill>
                  <a:sysClr val="windowText" lastClr="000000"/>
                </a:solidFill>
                <a:latin typeface="Gill Sans" panose="020B0604020202020204" charset="0"/>
              </a:rPr>
              <a:t> </a:t>
            </a:r>
            <a:r>
              <a:rPr lang="en-US" dirty="0" err="1">
                <a:solidFill>
                  <a:sysClr val="windowText" lastClr="000000"/>
                </a:solidFill>
                <a:latin typeface="Gill Sans" panose="020B0604020202020204" charset="0"/>
              </a:rPr>
              <a:t>trước</a:t>
            </a:r>
            <a:r>
              <a:rPr lang="en-US" dirty="0">
                <a:solidFill>
                  <a:sysClr val="windowText" lastClr="000000"/>
                </a:solidFill>
                <a:latin typeface="Gill Sans" panose="020B0604020202020204" charset="0"/>
              </a:rPr>
              <a:t>)</a:t>
            </a:r>
          </a:p>
        </p:txBody>
      </p:sp>
      <p:cxnSp>
        <p:nvCxnSpPr>
          <p:cNvPr id="30" name="Straight Arrow Connector 29">
            <a:extLst>
              <a:ext uri="{FF2B5EF4-FFF2-40B4-BE49-F238E27FC236}">
                <a16:creationId xmlns:a16="http://schemas.microsoft.com/office/drawing/2014/main" id="{B7DC319F-4027-D558-6DDF-6B8DE562E6A8}"/>
              </a:ext>
            </a:extLst>
          </p:cNvPr>
          <p:cNvCxnSpPr>
            <a:cxnSpLocks/>
            <a:stCxn id="29" idx="3"/>
            <a:endCxn id="24" idx="1"/>
          </p:cNvCxnSpPr>
          <p:nvPr/>
        </p:nvCxnSpPr>
        <p:spPr>
          <a:xfrm flipV="1">
            <a:off x="2299872" y="3652218"/>
            <a:ext cx="1192128" cy="5220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852E5916-F263-6E6B-0576-C0C85A2EF515}"/>
              </a:ext>
            </a:extLst>
          </p:cNvPr>
          <p:cNvSpPr txBox="1"/>
          <p:nvPr/>
        </p:nvSpPr>
        <p:spPr>
          <a:xfrm>
            <a:off x="3108960" y="2133001"/>
            <a:ext cx="2926080" cy="307777"/>
          </a:xfrm>
          <a:prstGeom prst="rect">
            <a:avLst/>
          </a:prstGeom>
          <a:noFill/>
        </p:spPr>
        <p:txBody>
          <a:bodyPr wrap="square">
            <a:spAutoFit/>
          </a:bodyPr>
          <a:lstStyle/>
          <a:p>
            <a:pPr algn="ctr"/>
            <a:r>
              <a:rPr lang="en-US" dirty="0" err="1">
                <a:latin typeface="Gill Sans" panose="020B0604020202020204" charset="0"/>
              </a:rPr>
              <a:t>Cố</a:t>
            </a:r>
            <a:r>
              <a:rPr lang="en-US" dirty="0">
                <a:latin typeface="Gill Sans" panose="020B0604020202020204" charset="0"/>
              </a:rPr>
              <a:t> </a:t>
            </a:r>
            <a:r>
              <a:rPr lang="en-US" dirty="0" err="1">
                <a:latin typeface="Gill Sans" panose="020B0604020202020204" charset="0"/>
              </a:rPr>
              <a:t>định</a:t>
            </a:r>
            <a:r>
              <a:rPr lang="en-US" dirty="0">
                <a:latin typeface="Gill Sans" panose="020B0604020202020204" charset="0"/>
              </a:rPr>
              <a:t>, </a:t>
            </a:r>
            <a:r>
              <a:rPr lang="en-US" dirty="0" err="1">
                <a:latin typeface="Gill Sans" panose="020B0604020202020204" charset="0"/>
              </a:rPr>
              <a:t>tính</a:t>
            </a:r>
            <a:r>
              <a:rPr lang="en-US" dirty="0">
                <a:latin typeface="Gill Sans" panose="020B0604020202020204" charset="0"/>
              </a:rPr>
              <a:t> </a:t>
            </a:r>
            <a:r>
              <a:rPr lang="en-US" dirty="0" err="1">
                <a:latin typeface="Gill Sans" panose="020B0604020202020204" charset="0"/>
              </a:rPr>
              <a:t>toán</a:t>
            </a:r>
            <a:r>
              <a:rPr lang="en-US" dirty="0">
                <a:latin typeface="Gill Sans" panose="020B0604020202020204" charset="0"/>
              </a:rPr>
              <a:t> </a:t>
            </a:r>
            <a:r>
              <a:rPr lang="en-US" dirty="0" err="1">
                <a:latin typeface="Gill Sans" panose="020B0604020202020204" charset="0"/>
              </a:rPr>
              <a:t>mọi</a:t>
            </a:r>
            <a:r>
              <a:rPr lang="en-US" dirty="0">
                <a:latin typeface="Gill Sans" panose="020B0604020202020204" charset="0"/>
              </a:rPr>
              <a:t> </a:t>
            </a:r>
            <a:r>
              <a:rPr lang="en-US" dirty="0" err="1">
                <a:latin typeface="Gill Sans" panose="020B0604020202020204" charset="0"/>
              </a:rPr>
              <a:t>khả</a:t>
            </a:r>
            <a:r>
              <a:rPr lang="en-US" dirty="0">
                <a:latin typeface="Gill Sans" panose="020B0604020202020204" charset="0"/>
              </a:rPr>
              <a:t> </a:t>
            </a:r>
            <a:r>
              <a:rPr lang="en-US" dirty="0" err="1">
                <a:latin typeface="Gill Sans" panose="020B0604020202020204" charset="0"/>
              </a:rPr>
              <a:t>năng</a:t>
            </a:r>
            <a:r>
              <a:rPr lang="en-US" dirty="0">
                <a:latin typeface="Gill Sans" panose="020B0604020202020204" charset="0"/>
              </a:rPr>
              <a:t>.</a:t>
            </a:r>
          </a:p>
        </p:txBody>
      </p:sp>
      <p:sp>
        <p:nvSpPr>
          <p:cNvPr id="38" name="TextBox 37">
            <a:extLst>
              <a:ext uri="{FF2B5EF4-FFF2-40B4-BE49-F238E27FC236}">
                <a16:creationId xmlns:a16="http://schemas.microsoft.com/office/drawing/2014/main" id="{1FAA56A3-1DE1-B4B8-7C04-0E92C28C5DD7}"/>
              </a:ext>
            </a:extLst>
          </p:cNvPr>
          <p:cNvSpPr txBox="1"/>
          <p:nvPr/>
        </p:nvSpPr>
        <p:spPr>
          <a:xfrm>
            <a:off x="3108960" y="4129648"/>
            <a:ext cx="2926080" cy="523220"/>
          </a:xfrm>
          <a:prstGeom prst="rect">
            <a:avLst/>
          </a:prstGeom>
          <a:noFill/>
        </p:spPr>
        <p:txBody>
          <a:bodyPr wrap="square">
            <a:spAutoFit/>
          </a:bodyPr>
          <a:lstStyle/>
          <a:p>
            <a:pPr algn="ctr"/>
            <a:r>
              <a:rPr lang="en-US" dirty="0">
                <a:latin typeface="Gill Sans" panose="020B0604020202020204" charset="0"/>
              </a:rPr>
              <a:t>Linh </a:t>
            </a:r>
            <a:r>
              <a:rPr lang="en-US" dirty="0" err="1">
                <a:latin typeface="Gill Sans" panose="020B0604020202020204" charset="0"/>
              </a:rPr>
              <a:t>hoạt</a:t>
            </a:r>
            <a:r>
              <a:rPr lang="en-US" dirty="0">
                <a:latin typeface="Gill Sans" panose="020B0604020202020204" charset="0"/>
              </a:rPr>
              <a:t>, </a:t>
            </a:r>
            <a:r>
              <a:rPr lang="en-US" dirty="0" err="1">
                <a:latin typeface="Gill Sans" panose="020B0604020202020204" charset="0"/>
              </a:rPr>
              <a:t>hiểu</a:t>
            </a:r>
            <a:r>
              <a:rPr lang="en-US" dirty="0">
                <a:latin typeface="Gill Sans" panose="020B0604020202020204" charset="0"/>
              </a:rPr>
              <a:t> </a:t>
            </a:r>
            <a:r>
              <a:rPr lang="en-US" dirty="0" err="1">
                <a:latin typeface="Gill Sans" panose="020B0604020202020204" charset="0"/>
              </a:rPr>
              <a:t>ngữ</a:t>
            </a:r>
            <a:r>
              <a:rPr lang="en-US" dirty="0">
                <a:latin typeface="Gill Sans" panose="020B0604020202020204" charset="0"/>
              </a:rPr>
              <a:t> </a:t>
            </a:r>
            <a:r>
              <a:rPr lang="en-US" dirty="0" err="1">
                <a:latin typeface="Gill Sans" panose="020B0604020202020204" charset="0"/>
              </a:rPr>
              <a:t>cảnh</a:t>
            </a:r>
            <a:r>
              <a:rPr lang="en-US" dirty="0">
                <a:latin typeface="Gill Sans" panose="020B0604020202020204" charset="0"/>
              </a:rPr>
              <a:t>, </a:t>
            </a:r>
            <a:r>
              <a:rPr lang="en-US" dirty="0" err="1">
                <a:latin typeface="Gill Sans" panose="020B0604020202020204" charset="0"/>
              </a:rPr>
              <a:t>tối</a:t>
            </a:r>
            <a:r>
              <a:rPr lang="en-US" dirty="0">
                <a:latin typeface="Gill Sans" panose="020B0604020202020204" charset="0"/>
              </a:rPr>
              <a:t> </a:t>
            </a:r>
            <a:r>
              <a:rPr lang="en-US" dirty="0" err="1">
                <a:latin typeface="Gill Sans" panose="020B0604020202020204" charset="0"/>
              </a:rPr>
              <a:t>ưu</a:t>
            </a:r>
            <a:r>
              <a:rPr lang="en-US" dirty="0">
                <a:latin typeface="Gill Sans" panose="020B0604020202020204" charset="0"/>
              </a:rPr>
              <a:t> </a:t>
            </a:r>
            <a:r>
              <a:rPr lang="en-US" dirty="0" err="1">
                <a:latin typeface="Gill Sans" panose="020B0604020202020204" charset="0"/>
              </a:rPr>
              <a:t>thời</a:t>
            </a:r>
            <a:r>
              <a:rPr lang="en-US" dirty="0">
                <a:latin typeface="Gill Sans" panose="020B0604020202020204" charset="0"/>
              </a:rPr>
              <a:t> </a:t>
            </a:r>
            <a:r>
              <a:rPr lang="en-US" dirty="0" err="1">
                <a:latin typeface="Gill Sans" panose="020B0604020202020204" charset="0"/>
              </a:rPr>
              <a:t>gian</a:t>
            </a:r>
            <a:r>
              <a:rPr lang="en-US" dirty="0">
                <a:latin typeface="Gill Sans" panose="020B0604020202020204" charset="0"/>
              </a:rPr>
              <a:t> qua </a:t>
            </a:r>
            <a:r>
              <a:rPr lang="en-US" dirty="0" err="1">
                <a:latin typeface="Gill Sans" panose="020B0604020202020204" charset="0"/>
              </a:rPr>
              <a:t>dự</a:t>
            </a:r>
            <a:r>
              <a:rPr lang="en-US" dirty="0">
                <a:latin typeface="Gill Sans" panose="020B0604020202020204" charset="0"/>
              </a:rPr>
              <a:t> </a:t>
            </a:r>
            <a:r>
              <a:rPr lang="en-US" dirty="0" err="1">
                <a:latin typeface="Gill Sans" panose="020B0604020202020204" charset="0"/>
              </a:rPr>
              <a:t>đoán</a:t>
            </a:r>
            <a:r>
              <a:rPr lang="en-US" dirty="0">
                <a:latin typeface="Gill Sans" panose="020B0604020202020204" charset="0"/>
              </a:rPr>
              <a:t>.</a:t>
            </a:r>
          </a:p>
        </p:txBody>
      </p:sp>
      <p:sp>
        <p:nvSpPr>
          <p:cNvPr id="39" name="Google Shape;138;p3">
            <a:extLst>
              <a:ext uri="{FF2B5EF4-FFF2-40B4-BE49-F238E27FC236}">
                <a16:creationId xmlns:a16="http://schemas.microsoft.com/office/drawing/2014/main" id="{0D56F4BD-CD0E-BCE3-03A6-170600A4E17D}"/>
              </a:ext>
            </a:extLst>
          </p:cNvPr>
          <p:cNvSpPr txBox="1">
            <a:spLocks/>
          </p:cNvSpPr>
          <p:nvPr/>
        </p:nvSpPr>
        <p:spPr>
          <a:xfrm>
            <a:off x="507228" y="5008551"/>
            <a:ext cx="8179572" cy="12538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15468" algn="l" rtl="0">
              <a:lnSpc>
                <a:spcPct val="100000"/>
              </a:lnSpc>
              <a:spcBef>
                <a:spcPts val="600"/>
              </a:spcBef>
              <a:spcAft>
                <a:spcPts val="0"/>
              </a:spcAft>
              <a:buClr>
                <a:schemeClr val="accent1"/>
              </a:buClr>
              <a:buSzPts val="1368"/>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15468" algn="l" rtl="0">
              <a:lnSpc>
                <a:spcPct val="100000"/>
              </a:lnSpc>
              <a:spcBef>
                <a:spcPts val="500"/>
              </a:spcBef>
              <a:spcAft>
                <a:spcPts val="0"/>
              </a:spcAft>
              <a:buClr>
                <a:schemeClr val="accent2"/>
              </a:buClr>
              <a:buSzPts val="136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15467" algn="l" rtl="0">
              <a:lnSpc>
                <a:spcPct val="100000"/>
              </a:lnSpc>
              <a:spcBef>
                <a:spcPts val="500"/>
              </a:spcBef>
              <a:spcAft>
                <a:spcPts val="0"/>
              </a:spcAft>
              <a:buClr>
                <a:srgbClr val="BABABA"/>
              </a:buClr>
              <a:buSzPts val="1368"/>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08610" algn="l" rtl="0">
              <a:lnSpc>
                <a:spcPct val="100000"/>
              </a:lnSpc>
              <a:spcBef>
                <a:spcPts val="300"/>
              </a:spcBef>
              <a:spcAft>
                <a:spcPts val="0"/>
              </a:spcAft>
              <a:buClr>
                <a:schemeClr val="accent2"/>
              </a:buClr>
              <a:buSzPts val="126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14325" algn="l" rtl="0">
              <a:lnSpc>
                <a:spcPct val="100000"/>
              </a:lnSpc>
              <a:spcBef>
                <a:spcPts val="300"/>
              </a:spcBef>
              <a:spcAft>
                <a:spcPts val="0"/>
              </a:spcAft>
              <a:buClr>
                <a:srgbClr val="8BA1B3"/>
              </a:buClr>
              <a:buSzPts val="135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314325" algn="l" rtl="0">
              <a:lnSpc>
                <a:spcPct val="100000"/>
              </a:lnSpc>
              <a:spcBef>
                <a:spcPts val="300"/>
              </a:spcBef>
              <a:spcAft>
                <a:spcPts val="0"/>
              </a:spcAft>
              <a:buClr>
                <a:srgbClr val="646C8F"/>
              </a:buClr>
              <a:buSzPts val="13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314325" algn="l" rtl="0">
              <a:lnSpc>
                <a:spcPct val="100000"/>
              </a:lnSpc>
              <a:spcBef>
                <a:spcPts val="300"/>
              </a:spcBef>
              <a:spcAft>
                <a:spcPts val="0"/>
              </a:spcAft>
              <a:buClr>
                <a:srgbClr val="BABABA"/>
              </a:buClr>
              <a:buSzPts val="13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314325" algn="l" rtl="0">
              <a:lnSpc>
                <a:spcPct val="100000"/>
              </a:lnSpc>
              <a:spcBef>
                <a:spcPts val="300"/>
              </a:spcBef>
              <a:spcAft>
                <a:spcPts val="0"/>
              </a:spcAft>
              <a:buClr>
                <a:srgbClr val="9FB8CD"/>
              </a:buClr>
              <a:buSzPts val="1350"/>
              <a:buFont typeface="Noto Sans Symbols"/>
              <a:buChar char="🞂"/>
              <a:defRPr sz="1200" b="0" i="0" u="none" strike="noStrike" cap="none">
                <a:solidFill>
                  <a:schemeClr val="dk1"/>
                </a:solidFill>
                <a:latin typeface="Gill Sans"/>
                <a:ea typeface="Gill Sans"/>
                <a:cs typeface="Gill Sans"/>
                <a:sym typeface="Gill Sans"/>
              </a:defRPr>
            </a:lvl9pPr>
          </a:lstStyle>
          <a:p>
            <a:pPr marL="0" lvl="0" indent="0" algn="just">
              <a:lnSpc>
                <a:spcPct val="130000"/>
              </a:lnSpc>
              <a:buClr>
                <a:schemeClr val="accent4">
                  <a:lumMod val="75000"/>
                </a:schemeClr>
              </a:buClr>
              <a:buSzPts val="1976"/>
              <a:buNone/>
            </a:pPr>
            <a:r>
              <a:rPr lang="en-US" sz="1800" b="1" dirty="0"/>
              <a:t>Thay </a:t>
            </a:r>
            <a:r>
              <a:rPr lang="en-US" sz="1800" b="1" dirty="0" err="1"/>
              <a:t>vì</a:t>
            </a:r>
            <a:r>
              <a:rPr lang="en-US" sz="1800" b="1" dirty="0"/>
              <a:t> </a:t>
            </a:r>
            <a:r>
              <a:rPr lang="en-US" sz="1800" b="1" dirty="0" err="1"/>
              <a:t>tính</a:t>
            </a:r>
            <a:r>
              <a:rPr lang="en-US" sz="1800" b="1" dirty="0"/>
              <a:t> </a:t>
            </a:r>
            <a:r>
              <a:rPr lang="en-US" sz="1800" b="1" dirty="0" err="1"/>
              <a:t>toán</a:t>
            </a:r>
            <a:r>
              <a:rPr lang="en-US" sz="1800" b="1" dirty="0"/>
              <a:t> </a:t>
            </a:r>
            <a:r>
              <a:rPr lang="en-US" sz="1800" b="1" dirty="0" err="1"/>
              <a:t>điểm</a:t>
            </a:r>
            <a:r>
              <a:rPr lang="en-US" sz="1800" b="1" dirty="0"/>
              <a:t> </a:t>
            </a:r>
            <a:r>
              <a:rPr lang="en-US" sz="1800" b="1" dirty="0" err="1"/>
              <a:t>số</a:t>
            </a:r>
            <a:r>
              <a:rPr lang="en-US" sz="1800" b="1" dirty="0"/>
              <a:t> </a:t>
            </a:r>
            <a:r>
              <a:rPr lang="en-US" sz="1800" b="1" dirty="0" err="1"/>
              <a:t>thủ</a:t>
            </a:r>
            <a:r>
              <a:rPr lang="en-US" sz="1800" b="1" dirty="0"/>
              <a:t> </a:t>
            </a:r>
            <a:r>
              <a:rPr lang="en-US" sz="1800" b="1" dirty="0" err="1"/>
              <a:t>công</a:t>
            </a:r>
            <a:r>
              <a:rPr lang="en-US" sz="1800" b="1" dirty="0"/>
              <a:t> </a:t>
            </a:r>
            <a:r>
              <a:rPr lang="en-US" sz="1800" dirty="0" err="1"/>
              <a:t>từng</a:t>
            </a:r>
            <a:r>
              <a:rPr lang="en-US" sz="1800" dirty="0"/>
              <a:t> </a:t>
            </a:r>
            <a:r>
              <a:rPr lang="en-US" sz="1800" dirty="0" err="1"/>
              <a:t>bước</a:t>
            </a:r>
            <a:r>
              <a:rPr lang="en-US" sz="1800" dirty="0"/>
              <a:t>, </a:t>
            </a:r>
            <a:r>
              <a:rPr lang="en-US" sz="1800" dirty="0" err="1"/>
              <a:t>mô</a:t>
            </a:r>
            <a:r>
              <a:rPr lang="en-US" sz="1800" dirty="0"/>
              <a:t> </a:t>
            </a:r>
            <a:r>
              <a:rPr lang="en-US" sz="1800" dirty="0" err="1"/>
              <a:t>hình</a:t>
            </a:r>
            <a:r>
              <a:rPr lang="en-US" sz="1800" dirty="0"/>
              <a:t> Học </a:t>
            </a:r>
            <a:r>
              <a:rPr lang="en-US" sz="1800" dirty="0" err="1"/>
              <a:t>máy</a:t>
            </a:r>
            <a:r>
              <a:rPr lang="en-US" sz="1800" dirty="0"/>
              <a:t> </a:t>
            </a:r>
            <a:r>
              <a:rPr lang="en-US" sz="1800" dirty="0" err="1"/>
              <a:t>có</a:t>
            </a:r>
            <a:r>
              <a:rPr lang="en-US" sz="1800" dirty="0"/>
              <a:t> </a:t>
            </a:r>
            <a:r>
              <a:rPr lang="en-US" sz="1800" dirty="0" err="1"/>
              <a:t>thể</a:t>
            </a:r>
            <a:r>
              <a:rPr lang="en-US" sz="1800" dirty="0"/>
              <a:t> </a:t>
            </a:r>
            <a:r>
              <a:rPr lang="en-US" sz="1800" dirty="0" err="1"/>
              <a:t>sử</a:t>
            </a:r>
            <a:r>
              <a:rPr lang="en-US" sz="1800" dirty="0"/>
              <a:t> </a:t>
            </a:r>
            <a:r>
              <a:rPr lang="en-US" sz="1800" dirty="0" err="1"/>
              <a:t>dụng</a:t>
            </a:r>
            <a:r>
              <a:rPr lang="en-US" sz="1800" b="1" dirty="0"/>
              <a:t> </a:t>
            </a:r>
            <a:r>
              <a:rPr lang="en-US" sz="1800" b="1" dirty="0" err="1"/>
              <a:t>xác</a:t>
            </a:r>
            <a:r>
              <a:rPr lang="en-US" sz="1800" b="1" dirty="0"/>
              <a:t> </a:t>
            </a:r>
            <a:r>
              <a:rPr lang="en-US" sz="1800" b="1" dirty="0" err="1"/>
              <a:t>suất</a:t>
            </a:r>
            <a:r>
              <a:rPr lang="en-US" sz="1800" b="1" dirty="0"/>
              <a:t> </a:t>
            </a:r>
            <a:r>
              <a:rPr lang="en-US" sz="1800" b="1" dirty="0" err="1"/>
              <a:t>hậu</a:t>
            </a:r>
            <a:r>
              <a:rPr lang="en-US" sz="1800" b="1" dirty="0"/>
              <a:t> </a:t>
            </a:r>
            <a:r>
              <a:rPr lang="en-US" sz="1800" b="1" dirty="0" err="1"/>
              <a:t>nghiệm</a:t>
            </a:r>
            <a:r>
              <a:rPr lang="en-US" sz="1800" b="1" dirty="0"/>
              <a:t> </a:t>
            </a:r>
            <a:r>
              <a:rPr lang="en-US" sz="1800" dirty="0" err="1"/>
              <a:t>và</a:t>
            </a:r>
            <a:r>
              <a:rPr lang="en-US" sz="1800" dirty="0"/>
              <a:t> </a:t>
            </a:r>
            <a:r>
              <a:rPr lang="en-US" sz="1800" b="1" dirty="0" err="1"/>
              <a:t>học</a:t>
            </a:r>
            <a:r>
              <a:rPr lang="en-US" sz="1800" b="1" dirty="0"/>
              <a:t> </a:t>
            </a:r>
            <a:r>
              <a:rPr lang="en-US" sz="1800" b="1" dirty="0" err="1"/>
              <a:t>các</a:t>
            </a:r>
            <a:r>
              <a:rPr lang="en-US" sz="1800" b="1" dirty="0"/>
              <a:t> </a:t>
            </a:r>
            <a:r>
              <a:rPr lang="en-US" sz="1800" b="1" dirty="0" err="1"/>
              <a:t>đặc</a:t>
            </a:r>
            <a:r>
              <a:rPr lang="en-US" sz="1800" b="1" dirty="0"/>
              <a:t> </a:t>
            </a:r>
            <a:r>
              <a:rPr lang="en-US" sz="1800" b="1" dirty="0" err="1"/>
              <a:t>trưng</a:t>
            </a:r>
            <a:r>
              <a:rPr lang="en-US" sz="1800" b="1" dirty="0"/>
              <a:t> </a:t>
            </a:r>
            <a:r>
              <a:rPr lang="en-US" sz="1800" b="1" dirty="0" err="1"/>
              <a:t>tiến</a:t>
            </a:r>
            <a:r>
              <a:rPr lang="en-US" sz="1800" b="1" dirty="0"/>
              <a:t> </a:t>
            </a:r>
            <a:r>
              <a:rPr lang="en-US" sz="1800" b="1" dirty="0" err="1"/>
              <a:t>hóa</a:t>
            </a:r>
            <a:r>
              <a:rPr lang="en-US" sz="1800" b="1" dirty="0"/>
              <a:t> </a:t>
            </a:r>
            <a:r>
              <a:rPr lang="en-US" sz="1800" b="1" dirty="0" err="1"/>
              <a:t>ẩn</a:t>
            </a:r>
            <a:r>
              <a:rPr lang="en-US" sz="1800" b="1" dirty="0"/>
              <a:t> </a:t>
            </a:r>
            <a:r>
              <a:rPr lang="en-US" sz="1800" dirty="0" err="1"/>
              <a:t>từ</a:t>
            </a:r>
            <a:r>
              <a:rPr lang="en-US" sz="1800" dirty="0"/>
              <a:t> </a:t>
            </a:r>
            <a:r>
              <a:rPr lang="en-US" sz="1800" dirty="0" err="1"/>
              <a:t>dữ</a:t>
            </a:r>
            <a:r>
              <a:rPr lang="en-US" sz="1800" dirty="0"/>
              <a:t> </a:t>
            </a:r>
            <a:r>
              <a:rPr lang="en-US" sz="1800" dirty="0" err="1"/>
              <a:t>liệu</a:t>
            </a:r>
            <a:r>
              <a:rPr lang="en-US" sz="1800" dirty="0"/>
              <a:t> </a:t>
            </a:r>
            <a:r>
              <a:rPr lang="en-US" sz="1800" dirty="0" err="1"/>
              <a:t>có</a:t>
            </a:r>
            <a:r>
              <a:rPr lang="en-US" sz="1800" dirty="0"/>
              <a:t> </a:t>
            </a:r>
            <a:r>
              <a:rPr lang="en-US" sz="1800" dirty="0" err="1"/>
              <a:t>sẵn</a:t>
            </a:r>
            <a:r>
              <a:rPr lang="en-US" sz="1800" dirty="0"/>
              <a:t>.</a:t>
            </a:r>
            <a:endParaRPr lang="en-US" sz="1800" b="1" dirty="0"/>
          </a:p>
        </p:txBody>
      </p:sp>
    </p:spTree>
    <p:extLst>
      <p:ext uri="{BB962C8B-B14F-4D97-AF65-F5344CB8AC3E}">
        <p14:creationId xmlns:p14="http://schemas.microsoft.com/office/powerpoint/2010/main" val="4546368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62B59F19-2A83-4FFC-2413-B2757CADF7F9}"/>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13A38EFF-7C74-7DE4-3826-31C659E1EA40}"/>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a:buSzPts val="3200"/>
            </a:pPr>
            <a:r>
              <a:rPr lang="en-US" sz="2800" dirty="0" err="1"/>
              <a:t>Ứng</a:t>
            </a:r>
            <a:r>
              <a:rPr lang="en-US" sz="2800" dirty="0"/>
              <a:t> </a:t>
            </a:r>
            <a:r>
              <a:rPr lang="en-US" sz="2800" dirty="0" err="1"/>
              <a:t>dụng</a:t>
            </a:r>
            <a:r>
              <a:rPr lang="en-US" sz="2800" dirty="0"/>
              <a:t> Framework Big Data: SPARK-MSNA</a:t>
            </a:r>
            <a:endParaRPr sz="2800" dirty="0"/>
          </a:p>
        </p:txBody>
      </p:sp>
      <p:sp>
        <p:nvSpPr>
          <p:cNvPr id="3" name="Slide Number Placeholder 2">
            <a:extLst>
              <a:ext uri="{FF2B5EF4-FFF2-40B4-BE49-F238E27FC236}">
                <a16:creationId xmlns:a16="http://schemas.microsoft.com/office/drawing/2014/main" id="{40592437-5C22-9A14-021B-B137F5634FA6}"/>
              </a:ext>
            </a:extLst>
          </p:cNvPr>
          <p:cNvSpPr>
            <a:spLocks noGrp="1"/>
          </p:cNvSpPr>
          <p:nvPr>
            <p:ph type="sldNum" idx="12"/>
          </p:nvPr>
        </p:nvSpPr>
        <p:spPr/>
        <p:txBody>
          <a:bodyPr/>
          <a:lstStyle/>
          <a:p>
            <a:r>
              <a:rPr lang="en-US" dirty="0"/>
              <a:t>38</a:t>
            </a:r>
          </a:p>
        </p:txBody>
      </p:sp>
      <p:pic>
        <p:nvPicPr>
          <p:cNvPr id="5" name="Picture 4">
            <a:extLst>
              <a:ext uri="{FF2B5EF4-FFF2-40B4-BE49-F238E27FC236}">
                <a16:creationId xmlns:a16="http://schemas.microsoft.com/office/drawing/2014/main" id="{21366A00-3F16-E557-8C3D-D392FF1D1B68}"/>
              </a:ext>
            </a:extLst>
          </p:cNvPr>
          <p:cNvPicPr>
            <a:picLocks noChangeAspect="1"/>
          </p:cNvPicPr>
          <p:nvPr/>
        </p:nvPicPr>
        <p:blipFill>
          <a:blip r:embed="rId3"/>
          <a:srcRect l="2574" t="2348" r="2260" b="2207"/>
          <a:stretch>
            <a:fillRect/>
          </a:stretch>
        </p:blipFill>
        <p:spPr>
          <a:xfrm>
            <a:off x="1664208" y="1313626"/>
            <a:ext cx="5681472" cy="3322567"/>
          </a:xfrm>
          <a:prstGeom prst="rect">
            <a:avLst/>
          </a:prstGeom>
        </p:spPr>
      </p:pic>
      <p:pic>
        <p:nvPicPr>
          <p:cNvPr id="10" name="Picture 9">
            <a:extLst>
              <a:ext uri="{FF2B5EF4-FFF2-40B4-BE49-F238E27FC236}">
                <a16:creationId xmlns:a16="http://schemas.microsoft.com/office/drawing/2014/main" id="{97E101C1-F9AE-9563-D682-9BB628EE9C8C}"/>
              </a:ext>
            </a:extLst>
          </p:cNvPr>
          <p:cNvPicPr>
            <a:picLocks noChangeAspect="1"/>
          </p:cNvPicPr>
          <p:nvPr/>
        </p:nvPicPr>
        <p:blipFill>
          <a:blip r:embed="rId4"/>
          <a:srcRect l="5751" t="4720" r="9273"/>
          <a:stretch>
            <a:fillRect/>
          </a:stretch>
        </p:blipFill>
        <p:spPr>
          <a:xfrm>
            <a:off x="566927" y="4806818"/>
            <a:ext cx="2494985" cy="1478389"/>
          </a:xfrm>
          <a:prstGeom prst="rect">
            <a:avLst/>
          </a:prstGeom>
        </p:spPr>
      </p:pic>
      <p:pic>
        <p:nvPicPr>
          <p:cNvPr id="13" name="Picture 12">
            <a:extLst>
              <a:ext uri="{FF2B5EF4-FFF2-40B4-BE49-F238E27FC236}">
                <a16:creationId xmlns:a16="http://schemas.microsoft.com/office/drawing/2014/main" id="{021842C7-593E-A3B9-9E1A-E30AF1062A44}"/>
              </a:ext>
            </a:extLst>
          </p:cNvPr>
          <p:cNvPicPr>
            <a:picLocks noChangeAspect="1"/>
          </p:cNvPicPr>
          <p:nvPr/>
        </p:nvPicPr>
        <p:blipFill>
          <a:blip r:embed="rId5"/>
          <a:stretch>
            <a:fillRect/>
          </a:stretch>
        </p:blipFill>
        <p:spPr>
          <a:xfrm>
            <a:off x="3371088" y="4850463"/>
            <a:ext cx="2267712" cy="1453590"/>
          </a:xfrm>
          <a:prstGeom prst="rect">
            <a:avLst/>
          </a:prstGeom>
        </p:spPr>
      </p:pic>
      <p:pic>
        <p:nvPicPr>
          <p:cNvPr id="15" name="Picture 14">
            <a:extLst>
              <a:ext uri="{FF2B5EF4-FFF2-40B4-BE49-F238E27FC236}">
                <a16:creationId xmlns:a16="http://schemas.microsoft.com/office/drawing/2014/main" id="{9482917C-0081-FA85-D478-8C87DDF8CE94}"/>
              </a:ext>
            </a:extLst>
          </p:cNvPr>
          <p:cNvPicPr>
            <a:picLocks noChangeAspect="1"/>
          </p:cNvPicPr>
          <p:nvPr/>
        </p:nvPicPr>
        <p:blipFill>
          <a:blip r:embed="rId6"/>
          <a:stretch>
            <a:fillRect/>
          </a:stretch>
        </p:blipFill>
        <p:spPr>
          <a:xfrm>
            <a:off x="5986009" y="4806818"/>
            <a:ext cx="2350140" cy="1730129"/>
          </a:xfrm>
          <a:prstGeom prst="rect">
            <a:avLst/>
          </a:prstGeom>
        </p:spPr>
      </p:pic>
    </p:spTree>
    <p:extLst>
      <p:ext uri="{BB962C8B-B14F-4D97-AF65-F5344CB8AC3E}">
        <p14:creationId xmlns:p14="http://schemas.microsoft.com/office/powerpoint/2010/main" val="1411230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961D3E5C-9DC8-5BA1-A3CD-5A6512F0E6E8}"/>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CF7E7F44-7668-19D9-3BB9-BB6DAAB31E76}"/>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Autofit/>
          </a:bodyPr>
          <a:lstStyle/>
          <a:p>
            <a:pPr>
              <a:buSzPts val="3200"/>
            </a:pPr>
            <a:r>
              <a:rPr lang="en-US" sz="2400" dirty="0"/>
              <a:t>Deep reinforcement learning with Positional encoding and self-Attention for MSA (DPAMSA)</a:t>
            </a:r>
            <a:endParaRPr sz="2000" dirty="0"/>
          </a:p>
        </p:txBody>
      </p:sp>
      <p:sp>
        <p:nvSpPr>
          <p:cNvPr id="3" name="Slide Number Placeholder 2">
            <a:extLst>
              <a:ext uri="{FF2B5EF4-FFF2-40B4-BE49-F238E27FC236}">
                <a16:creationId xmlns:a16="http://schemas.microsoft.com/office/drawing/2014/main" id="{8B776DB4-542A-353A-AC69-3A401235E102}"/>
              </a:ext>
            </a:extLst>
          </p:cNvPr>
          <p:cNvSpPr>
            <a:spLocks noGrp="1"/>
          </p:cNvSpPr>
          <p:nvPr>
            <p:ph type="sldNum" idx="12"/>
          </p:nvPr>
        </p:nvSpPr>
        <p:spPr/>
        <p:txBody>
          <a:bodyPr/>
          <a:lstStyle/>
          <a:p>
            <a:r>
              <a:rPr lang="en-US" dirty="0"/>
              <a:t>39</a:t>
            </a:r>
          </a:p>
        </p:txBody>
      </p:sp>
      <p:pic>
        <p:nvPicPr>
          <p:cNvPr id="1028" name="Picture 4" descr="Figure 1.">
            <a:extLst>
              <a:ext uri="{FF2B5EF4-FFF2-40B4-BE49-F238E27FC236}">
                <a16:creationId xmlns:a16="http://schemas.microsoft.com/office/drawing/2014/main" id="{F051340B-85CF-2056-0EA6-7439B986B7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610" y="1576428"/>
            <a:ext cx="7380780" cy="458662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92E17F5-2B70-5C30-1097-00C030E962C2}"/>
              </a:ext>
            </a:extLst>
          </p:cNvPr>
          <p:cNvSpPr/>
          <p:nvPr/>
        </p:nvSpPr>
        <p:spPr>
          <a:xfrm>
            <a:off x="457200" y="1125265"/>
            <a:ext cx="7187184" cy="5157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a:solidFill>
                  <a:schemeClr val="tx1"/>
                </a:solidFill>
                <a:latin typeface="Gill Sans" panose="020B0604020202020204" charset="0"/>
              </a:rPr>
              <a:t>Detailed process of Sequence alignment using DPAMSA:</a:t>
            </a:r>
          </a:p>
        </p:txBody>
      </p:sp>
    </p:spTree>
    <p:extLst>
      <p:ext uri="{BB962C8B-B14F-4D97-AF65-F5344CB8AC3E}">
        <p14:creationId xmlns:p14="http://schemas.microsoft.com/office/powerpoint/2010/main" val="2937257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B874F74B-EBEA-79D7-7FF8-ACC7F1D41FC6}"/>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F7C91EE8-556E-73A8-0E5E-C5F34D289602}"/>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Autofit/>
          </a:bodyPr>
          <a:lstStyle/>
          <a:p>
            <a:pPr>
              <a:buSzPts val="3200"/>
            </a:pPr>
            <a:r>
              <a:rPr lang="en-US" sz="2400" dirty="0"/>
              <a:t>Deep reinforcement learning with Positional encoding and self-Attention for MSA (DPAMSA)</a:t>
            </a:r>
            <a:endParaRPr sz="2000" dirty="0"/>
          </a:p>
        </p:txBody>
      </p:sp>
      <p:sp>
        <p:nvSpPr>
          <p:cNvPr id="3" name="Slide Number Placeholder 2">
            <a:extLst>
              <a:ext uri="{FF2B5EF4-FFF2-40B4-BE49-F238E27FC236}">
                <a16:creationId xmlns:a16="http://schemas.microsoft.com/office/drawing/2014/main" id="{411286E2-6836-B4E4-64F1-5B9CBE195419}"/>
              </a:ext>
            </a:extLst>
          </p:cNvPr>
          <p:cNvSpPr>
            <a:spLocks noGrp="1"/>
          </p:cNvSpPr>
          <p:nvPr>
            <p:ph type="sldNum" idx="12"/>
          </p:nvPr>
        </p:nvSpPr>
        <p:spPr/>
        <p:txBody>
          <a:bodyPr/>
          <a:lstStyle/>
          <a:p>
            <a:r>
              <a:rPr lang="en-US" dirty="0"/>
              <a:t>40</a:t>
            </a:r>
          </a:p>
        </p:txBody>
      </p:sp>
      <p:pic>
        <p:nvPicPr>
          <p:cNvPr id="1032" name="Picture 8">
            <a:extLst>
              <a:ext uri="{FF2B5EF4-FFF2-40B4-BE49-F238E27FC236}">
                <a16:creationId xmlns:a16="http://schemas.microsoft.com/office/drawing/2014/main" id="{1B295881-0EE6-A69C-2F9B-71DA8C743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4816" y="1641020"/>
            <a:ext cx="6860380" cy="391031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699E6DE-0D37-FB3C-4407-82FA03E33501}"/>
              </a:ext>
            </a:extLst>
          </p:cNvPr>
          <p:cNvSpPr/>
          <p:nvPr/>
        </p:nvSpPr>
        <p:spPr>
          <a:xfrm>
            <a:off x="457200" y="1125265"/>
            <a:ext cx="7187184" cy="5157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a:solidFill>
                  <a:schemeClr val="tx1"/>
                </a:solidFill>
                <a:latin typeface="Gill Sans" panose="020B0604020202020204" charset="0"/>
              </a:rPr>
              <a:t>DRL design used in DPAMSA:</a:t>
            </a:r>
          </a:p>
        </p:txBody>
      </p:sp>
    </p:spTree>
    <p:extLst>
      <p:ext uri="{BB962C8B-B14F-4D97-AF65-F5344CB8AC3E}">
        <p14:creationId xmlns:p14="http://schemas.microsoft.com/office/powerpoint/2010/main" val="33722890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6759C6BB-C636-87B1-B5D4-4B62A9C867D6}"/>
            </a:ext>
          </a:extLst>
        </p:cNvPr>
        <p:cNvGrpSpPr/>
        <p:nvPr/>
      </p:nvGrpSpPr>
      <p:grpSpPr>
        <a:xfrm>
          <a:off x="0" y="0"/>
          <a:ext cx="0" cy="0"/>
          <a:chOff x="0" y="0"/>
          <a:chExt cx="0" cy="0"/>
        </a:xfrm>
      </p:grpSpPr>
      <p:sp>
        <p:nvSpPr>
          <p:cNvPr id="135" name="Google Shape;135;p3">
            <a:extLst>
              <a:ext uri="{FF2B5EF4-FFF2-40B4-BE49-F238E27FC236}">
                <a16:creationId xmlns:a16="http://schemas.microsoft.com/office/drawing/2014/main" id="{53418EC6-0474-40D7-B688-3AC58BD941D2}"/>
              </a:ext>
            </a:extLst>
          </p:cNvPr>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Autofit/>
          </a:bodyPr>
          <a:lstStyle/>
          <a:p>
            <a:pPr>
              <a:buSzPts val="3200"/>
            </a:pPr>
            <a:r>
              <a:rPr lang="en-US" sz="2400" dirty="0"/>
              <a:t>Deep reinforcement learning with Positional encoding and self-Attention for MSA (DPAMSA)</a:t>
            </a:r>
            <a:endParaRPr sz="2000" dirty="0"/>
          </a:p>
        </p:txBody>
      </p:sp>
      <p:sp>
        <p:nvSpPr>
          <p:cNvPr id="3" name="Slide Number Placeholder 2">
            <a:extLst>
              <a:ext uri="{FF2B5EF4-FFF2-40B4-BE49-F238E27FC236}">
                <a16:creationId xmlns:a16="http://schemas.microsoft.com/office/drawing/2014/main" id="{D9AB7ACA-8923-E2AA-ED07-D0F0AC89AE31}"/>
              </a:ext>
            </a:extLst>
          </p:cNvPr>
          <p:cNvSpPr>
            <a:spLocks noGrp="1"/>
          </p:cNvSpPr>
          <p:nvPr>
            <p:ph type="sldNum" idx="12"/>
          </p:nvPr>
        </p:nvSpPr>
        <p:spPr/>
        <p:txBody>
          <a:bodyPr/>
          <a:lstStyle/>
          <a:p>
            <a:r>
              <a:rPr lang="en-US" dirty="0"/>
              <a:t>41</a:t>
            </a:r>
          </a:p>
        </p:txBody>
      </p:sp>
      <p:sp>
        <p:nvSpPr>
          <p:cNvPr id="6" name="Rectangle 5">
            <a:extLst>
              <a:ext uri="{FF2B5EF4-FFF2-40B4-BE49-F238E27FC236}">
                <a16:creationId xmlns:a16="http://schemas.microsoft.com/office/drawing/2014/main" id="{D8CC8764-1617-0E0C-15FD-003EFF159AAB}"/>
              </a:ext>
            </a:extLst>
          </p:cNvPr>
          <p:cNvSpPr/>
          <p:nvPr/>
        </p:nvSpPr>
        <p:spPr>
          <a:xfrm>
            <a:off x="457200" y="1125265"/>
            <a:ext cx="7187184" cy="51575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800" b="1" dirty="0">
                <a:solidFill>
                  <a:schemeClr val="tx1"/>
                </a:solidFill>
                <a:latin typeface="Gill Sans" panose="020B0604020202020204" charset="0"/>
              </a:rPr>
              <a:t>Comparisons with traditional methods:</a:t>
            </a:r>
          </a:p>
        </p:txBody>
      </p:sp>
      <p:pic>
        <p:nvPicPr>
          <p:cNvPr id="2050" name="Picture 2" descr="Figure 7.">
            <a:extLst>
              <a:ext uri="{FF2B5EF4-FFF2-40B4-BE49-F238E27FC236}">
                <a16:creationId xmlns:a16="http://schemas.microsoft.com/office/drawing/2014/main" id="{881DB1CA-0684-3752-D3C7-F1B2632679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667" y="1641020"/>
            <a:ext cx="8275577" cy="3546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892309"/>
      </p:ext>
    </p:extLst>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3909</TotalTime>
  <Words>9729</Words>
  <Application>Microsoft Office PowerPoint</Application>
  <PresentationFormat>On-screen Show (4:3)</PresentationFormat>
  <Paragraphs>756</Paragraphs>
  <Slides>42</Slides>
  <Notes>42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Arial</vt:lpstr>
      <vt:lpstr>Courier New</vt:lpstr>
      <vt:lpstr>Gill Sans</vt:lpstr>
      <vt:lpstr>Bookman Old Style</vt:lpstr>
      <vt:lpstr>Cambria Math</vt:lpstr>
      <vt:lpstr>Symbol</vt:lpstr>
      <vt:lpstr>Wingdings</vt:lpstr>
      <vt:lpstr>Noto Sans Symbols</vt:lpstr>
      <vt:lpstr>Calibri</vt:lpstr>
      <vt:lpstr>Cambria</vt:lpstr>
      <vt:lpstr>Origin</vt:lpstr>
      <vt:lpstr>INT 7021- Tin sinh học cho dữ liệu lớn  Nhóm 2 – Sắp hàng trình tự </vt:lpstr>
      <vt:lpstr>Mục lục</vt:lpstr>
      <vt:lpstr>Giới thiệu bài toán</vt:lpstr>
      <vt:lpstr>Sắp hàng trình tự là gì?</vt:lpstr>
      <vt:lpstr>Sắp hàng trình tự là gì?</vt:lpstr>
      <vt:lpstr>Tại sao cần giải quyết bài toán này?</vt:lpstr>
      <vt:lpstr>Các chiến lược cốt lõi</vt:lpstr>
      <vt:lpstr>Phân loại theo quy mô: PSA vs. MSA</vt:lpstr>
      <vt:lpstr>Biểu diễn bài toán</vt:lpstr>
      <vt:lpstr>Sắp hàng hai trình tự</vt:lpstr>
      <vt:lpstr>Phương pháp Dot-Matrix</vt:lpstr>
      <vt:lpstr>Các phương pháp Quy hoạch động</vt:lpstr>
      <vt:lpstr>Thuật toán Needleman-Wunsch (toàn cục)</vt:lpstr>
      <vt:lpstr>Thuật toán Smith-Waterman (cục bộ)</vt:lpstr>
      <vt:lpstr>Thuật toán bán toàn cục &amp; so sánh </vt:lpstr>
      <vt:lpstr>Các cải tiến &amp; tối ưu hóa</vt:lpstr>
      <vt:lpstr>Các phương pháp seed-and-extend</vt:lpstr>
      <vt:lpstr>Các phương pháp seed-and-extend</vt:lpstr>
      <vt:lpstr>Các giai đoạn phát triển: Giai đoạn 1</vt:lpstr>
      <vt:lpstr>Các giai đoạn phát triển: Giai đoạn 1</vt:lpstr>
      <vt:lpstr>Các giai đoạn phát triển: Giai đoạn 2</vt:lpstr>
      <vt:lpstr>Các giai đoạn phát triển: Giai đoạn 2</vt:lpstr>
      <vt:lpstr>Hai hướng phát triển: Tối ưu Hashing</vt:lpstr>
      <vt:lpstr>Hai hướng phát triển: Nén hệ gen với BWT</vt:lpstr>
      <vt:lpstr>Hai hướng phát triển: Nén hệ gen với BWT</vt:lpstr>
      <vt:lpstr>Hai hướng phát triển: Nén hệ gen với BWT</vt:lpstr>
      <vt:lpstr>Hai hướng phát triển: So sánh</vt:lpstr>
      <vt:lpstr>Sắp hàng đa trình tự</vt:lpstr>
      <vt:lpstr>Từ PSA đến bài toán MSA</vt:lpstr>
      <vt:lpstr>Các họ thuật toán MSA</vt:lpstr>
      <vt:lpstr>Progressive Alignment</vt:lpstr>
      <vt:lpstr>Progressive Alignment</vt:lpstr>
      <vt:lpstr>Progressive Alignment</vt:lpstr>
      <vt:lpstr>Progressive Alignment</vt:lpstr>
      <vt:lpstr>Iterative Refinement</vt:lpstr>
      <vt:lpstr>Iterative Alignment</vt:lpstr>
      <vt:lpstr>Giới hạn Toán học trong bối cảnh Big Data</vt:lpstr>
      <vt:lpstr>Truyền thống vs. Học máy</vt:lpstr>
      <vt:lpstr>Ứng dụng Framework Big Data: SPARK-MSNA</vt:lpstr>
      <vt:lpstr>Deep reinforcement learning with Positional encoding and self-Attention for MSA (DPAMSA)</vt:lpstr>
      <vt:lpstr>Deep reinforcement learning with Positional encoding and self-Attention for MSA (DPAMSA)</vt:lpstr>
      <vt:lpstr>Deep reinforcement learning with Positional encoding and self-Attention for MSA (DPAMSA)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Khoi Nguyen Le</dc:creator>
  <cp:lastModifiedBy>Nguyễn Ngọc Đại</cp:lastModifiedBy>
  <cp:revision>135</cp:revision>
  <dcterms:created xsi:type="dcterms:W3CDTF">2012-10-11T13:47:11Z</dcterms:created>
  <dcterms:modified xsi:type="dcterms:W3CDTF">2026-04-21T09:20:57Z</dcterms:modified>
</cp:coreProperties>
</file>